
<file path=[Content_Types].xml><?xml version="1.0" encoding="utf-8"?>
<Types xmlns="http://schemas.openxmlformats.org/package/2006/content-types">
  <Override PartName="/ppt/slides/slide29.xml" ContentType="application/vnd.openxmlformats-officedocument.presentationml.slide+xml"/>
  <Override PartName="/ppt/slides/slide47.xml" ContentType="application/vnd.openxmlformats-officedocument.presentationml.slide+xml"/>
  <Override PartName="/ppt/slides/slide58.xml" ContentType="application/vnd.openxmlformats-officedocument.presentationml.slide+xml"/>
  <Override PartName="/ppt/slides/slide76.xml" ContentType="application/vnd.openxmlformats-officedocument.presentationml.slide+xml"/>
  <Override PartName="/ppt/slides/slide4.xml" ContentType="application/vnd.openxmlformats-officedocument.presentationml.slide+xml"/>
  <Override PartName="/ppt/slides/slide18.xml" ContentType="application/vnd.openxmlformats-officedocument.presentationml.slide+xml"/>
  <Override PartName="/ppt/slides/slide36.xml" ContentType="application/vnd.openxmlformats-officedocument.presentationml.slide+xml"/>
  <Override PartName="/ppt/slides/slide54.xml" ContentType="application/vnd.openxmlformats-officedocument.presentationml.slide+xml"/>
  <Override PartName="/ppt/slides/slide65.xml" ContentType="application/vnd.openxmlformats-officedocument.presentationml.slide+xml"/>
  <Override PartName="/ppt/slideLayouts/slideLayout6.xml" ContentType="application/vnd.openxmlformats-officedocument.presentationml.slideLayout+xml"/>
  <Override PartName="/ppt/slideLayouts/slideLayout17.xml" ContentType="application/vnd.openxmlformats-officedocument.presentationml.slideLayout+xml"/>
  <Override PartName="/ppt/slides/slide25.xml" ContentType="application/vnd.openxmlformats-officedocument.presentationml.slide+xml"/>
  <Override PartName="/ppt/slides/slide43.xml" ContentType="application/vnd.openxmlformats-officedocument.presentationml.slide+xml"/>
  <Override PartName="/ppt/slides/slide7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xml" ContentType="application/xml"/>
  <Override PartName="/ppt/slides/slide14.xml" ContentType="application/vnd.openxmlformats-officedocument.presentationml.slide+xml"/>
  <Override PartName="/ppt/slides/slide32.xml" ContentType="application/vnd.openxmlformats-officedocument.presentationml.slide+xml"/>
  <Override PartName="/ppt/slides/slide5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slideLayouts/slideLayout13.xml" ContentType="application/vnd.openxmlformats-officedocument.presentationml.slideLayout+xml"/>
  <Override PartName="/ppt/slides/slide1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20.xml" ContentType="application/vnd.openxmlformats-officedocument.presentationml.slideLayout+xml"/>
  <Override PartName="/ppt/slides/slide79.xml" ContentType="application/vnd.openxmlformats-officedocument.presentationml.slide+xml"/>
  <Override PartName="/ppt/slides/slide7.xml" ContentType="application/vnd.openxmlformats-officedocument.presentationml.slide+xml"/>
  <Override PartName="/ppt/slides/slide9.xml" ContentType="application/vnd.openxmlformats-officedocument.presentationml.slide+xml"/>
  <Override PartName="/ppt/slides/slide59.xml" ContentType="application/vnd.openxmlformats-officedocument.presentationml.slide+xml"/>
  <Override PartName="/ppt/slides/slide68.xml" ContentType="application/vnd.openxmlformats-officedocument.presentationml.slide+xml"/>
  <Override PartName="/ppt/slides/slide77.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slideMasters/slideMaster2.xml" ContentType="application/vnd.openxmlformats-officedocument.presentationml.slideMaster+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s/slide48.xml" ContentType="application/vnd.openxmlformats-officedocument.presentationml.slide+xml"/>
  <Override PartName="/ppt/slides/slide57.xml" ContentType="application/vnd.openxmlformats-officedocument.presentationml.slide+xml"/>
  <Override PartName="/ppt/slides/slide66.xml" ContentType="application/vnd.openxmlformats-officedocument.presentationml.slide+xml"/>
  <Override PartName="/ppt/slides/slide75.xml" ContentType="application/vnd.openxmlformats-officedocument.presentationml.slide+xml"/>
  <Override PartName="/ppt/slideLayouts/slideLayout7.xml" ContentType="application/vnd.openxmlformats-officedocument.presentationml.slideLayout+xml"/>
  <Default Extension="png" ContentType="image/png"/>
  <Override PartName="/ppt/notesSlides/notesSlide1.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slides/slide55.xml" ContentType="application/vnd.openxmlformats-officedocument.presentationml.slide+xml"/>
  <Override PartName="/ppt/slides/slide64.xml" ContentType="application/vnd.openxmlformats-officedocument.presentationml.slide+xml"/>
  <Override PartName="/ppt/slides/slide73.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s/slide53.xml" ContentType="application/vnd.openxmlformats-officedocument.presentationml.slide+xml"/>
  <Override PartName="/ppt/slides/slide62.xml" ContentType="application/vnd.openxmlformats-officedocument.presentationml.slide+xml"/>
  <Override PartName="/ppt/slides/slide71.xml" ContentType="application/vnd.openxmlformats-officedocument.presentationml.slide+xml"/>
  <Override PartName="/ppt/slides/slide80.xml" ContentType="application/vnd.openxmlformats-officedocument.presentationml.slide+xml"/>
  <Override PartName="/ppt/slideLayouts/slideLayout3.xml" ContentType="application/vnd.openxmlformats-officedocument.presentationml.slideLayout+xml"/>
  <Override PartName="/ppt/slideLayouts/slideLayout16.xml" ContentType="application/vnd.openxmlformats-officedocument.presentationml.slideLayout+xml"/>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51.xml" ContentType="application/vnd.openxmlformats-officedocument.presentationml.slide+xml"/>
  <Override PartName="/ppt/slides/slide60.xml" ContentType="application/vnd.openxmlformats-officedocument.presentationml.slide+xml"/>
  <Override PartName="/ppt/slideLayouts/slideLayout1.xml" ContentType="application/vnd.openxmlformats-officedocument.presentationml.slideLayout+xml"/>
  <Override PartName="/ppt/slideLayouts/slideLayout14.xml" ContentType="application/vnd.openxmlformats-officedocument.presentationml.slideLayout+xml"/>
  <Override PartName="/ppt/slideLayouts/slideLayout23.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slideLayouts/slideLayout12.xml" ContentType="application/vnd.openxmlformats-officedocument.presentationml.slideLayout+xml"/>
  <Override PartName="/ppt/slideLayouts/slideLayout21.xml" ContentType="application/vnd.openxmlformats-officedocument.presentationml.slideLayout+xml"/>
  <Override PartName="/ppt/slideLayouts/slideLayout10.xml" ContentType="application/vnd.openxmlformats-officedocument.presentationml.slideLayout+xml"/>
  <Override PartName="/ppt/slides/slide8.xml" ContentType="application/vnd.openxmlformats-officedocument.presentationml.slide+xml"/>
  <Override PartName="/ppt/slides/slide49.xml" ContentType="application/vnd.openxmlformats-officedocument.presentationml.slide+xml"/>
  <Override PartName="/ppt/slides/slide69.xml" ContentType="application/vnd.openxmlformats-officedocument.presentationml.slide+xml"/>
  <Override PartName="/ppt/slides/slide78.xml" ContentType="application/vnd.openxmlformats-officedocument.presentationml.slide+xml"/>
  <Override PartName="/docProps/core.xml" ContentType="application/vnd.openxmlformats-package.core-properties+xml"/>
  <Override PartName="/ppt/slides/slide6.xml" ContentType="application/vnd.openxmlformats-officedocument.presentationml.slide+xml"/>
  <Override PartName="/ppt/slides/slide38.xml" ContentType="application/vnd.openxmlformats-officedocument.presentationml.slide+xml"/>
  <Override PartName="/ppt/slides/slide56.xml" ContentType="application/vnd.openxmlformats-officedocument.presentationml.slide+xml"/>
  <Override PartName="/ppt/slides/slide67.xml" ContentType="application/vnd.openxmlformats-officedocument.presentationml.slide+xml"/>
  <Override PartName="/ppt/slideLayouts/slideLayout8.xml" ContentType="application/vnd.openxmlformats-officedocument.presentationml.slideLayout+xml"/>
  <Override PartName="/ppt/slideLayouts/slideLayout19.xml" ContentType="application/vnd.openxmlformats-officedocument.presentationml.slideLayout+xml"/>
  <Override PartName="/ppt/slideMasters/slideMaster1.xml" ContentType="application/vnd.openxmlformats-officedocument.presentationml.slideMaster+xml"/>
  <Override PartName="/ppt/slides/slide27.xml" ContentType="application/vnd.openxmlformats-officedocument.presentationml.slide+xml"/>
  <Override PartName="/ppt/slides/slide45.xml" ContentType="application/vnd.openxmlformats-officedocument.presentationml.slide+xml"/>
  <Override PartName="/ppt/slides/slide74.xml" ContentType="application/vnd.openxmlformats-officedocument.presentationml.slide+xml"/>
  <Override PartName="/ppt/slideLayouts/slideLayout4.xml" ContentType="application/vnd.openxmlformats-officedocument.presentationml.slideLayout+xml"/>
  <Override PartName="/ppt/theme/theme3.xml" ContentType="application/vnd.openxmlformats-officedocument.theme+xml"/>
  <Override PartName="/ppt/slides/slide2.xml" ContentType="application/vnd.openxmlformats-officedocument.presentationml.slide+xml"/>
  <Override PartName="/ppt/slides/slide16.xml" ContentType="application/vnd.openxmlformats-officedocument.presentationml.slide+xml"/>
  <Override PartName="/ppt/slides/slide34.xml" ContentType="application/vnd.openxmlformats-officedocument.presentationml.slide+xml"/>
  <Override PartName="/ppt/slides/slide52.xml" ContentType="application/vnd.openxmlformats-officedocument.presentationml.slide+xml"/>
  <Override PartName="/ppt/slides/slide63.xml" ContentType="application/vnd.openxmlformats-officedocument.presentationml.slide+xml"/>
  <Override PartName="/ppt/slides/slide81.xml" ContentType="application/vnd.openxmlformats-officedocument.presentationml.slide+xml"/>
  <Override PartName="/ppt/slideLayouts/slideLayout15.xml" ContentType="application/vnd.openxmlformats-officedocument.presentationml.slideLayout+xml"/>
  <Default Extension="rels" ContentType="application/vnd.openxmlformats-package.relationships+xml"/>
  <Override PartName="/ppt/slides/slide23.xml" ContentType="application/vnd.openxmlformats-officedocument.presentationml.slide+xml"/>
  <Override PartName="/ppt/slides/slide41.xml" ContentType="application/vnd.openxmlformats-officedocument.presentationml.slide+xml"/>
  <Override PartName="/ppt/slides/slide70.xml" ContentType="application/vnd.openxmlformats-officedocument.presentationml.slide+xml"/>
  <Override PartName="/ppt/slideLayouts/slideLayout22.xml" ContentType="application/vnd.openxmlformats-officedocument.presentationml.slideLayout+xml"/>
  <Override PartName="/ppt/slides/slide12.xml" ContentType="application/vnd.openxmlformats-officedocument.presentationml.slide+xml"/>
  <Override PartName="/ppt/slides/slide30.xml" ContentType="application/vnd.openxmlformats-officedocument.presentationml.slide+xml"/>
  <Override PartName="/ppt/slideLayouts/slideLayout11.xml" ContentType="application/vnd.openxmlformats-officedocument.presentationml.slideLayout+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84"/>
  </p:notesMasterIdLst>
  <p:sldIdLst>
    <p:sldId id="764" r:id="rId3"/>
    <p:sldId id="752" r:id="rId4"/>
    <p:sldId id="735" r:id="rId5"/>
    <p:sldId id="736" r:id="rId6"/>
    <p:sldId id="256" r:id="rId7"/>
    <p:sldId id="750" r:id="rId8"/>
    <p:sldId id="740" r:id="rId9"/>
    <p:sldId id="755" r:id="rId10"/>
    <p:sldId id="756" r:id="rId11"/>
    <p:sldId id="757" r:id="rId12"/>
    <p:sldId id="758" r:id="rId13"/>
    <p:sldId id="759" r:id="rId14"/>
    <p:sldId id="760" r:id="rId15"/>
    <p:sldId id="738" r:id="rId16"/>
    <p:sldId id="739" r:id="rId17"/>
    <p:sldId id="257" r:id="rId18"/>
    <p:sldId id="761" r:id="rId19"/>
    <p:sldId id="762" r:id="rId20"/>
    <p:sldId id="741" r:id="rId21"/>
    <p:sldId id="742" r:id="rId22"/>
    <p:sldId id="261" r:id="rId23"/>
    <p:sldId id="262" r:id="rId24"/>
    <p:sldId id="263" r:id="rId25"/>
    <p:sldId id="264" r:id="rId26"/>
    <p:sldId id="265" r:id="rId27"/>
    <p:sldId id="266" r:id="rId28"/>
    <p:sldId id="267" r:id="rId29"/>
    <p:sldId id="268" r:id="rId30"/>
    <p:sldId id="269" r:id="rId31"/>
    <p:sldId id="270" r:id="rId32"/>
    <p:sldId id="271" r:id="rId33"/>
    <p:sldId id="743" r:id="rId34"/>
    <p:sldId id="744" r:id="rId35"/>
    <p:sldId id="745" r:id="rId36"/>
    <p:sldId id="272" r:id="rId37"/>
    <p:sldId id="273" r:id="rId38"/>
    <p:sldId id="748" r:id="rId39"/>
    <p:sldId id="749" r:id="rId40"/>
    <p:sldId id="274" r:id="rId41"/>
    <p:sldId id="275" r:id="rId42"/>
    <p:sldId id="709" r:id="rId43"/>
    <p:sldId id="710" r:id="rId44"/>
    <p:sldId id="711" r:id="rId45"/>
    <p:sldId id="287" r:id="rId46"/>
    <p:sldId id="713" r:id="rId47"/>
    <p:sldId id="753" r:id="rId48"/>
    <p:sldId id="714" r:id="rId49"/>
    <p:sldId id="283" r:id="rId50"/>
    <p:sldId id="715" r:id="rId51"/>
    <p:sldId id="716" r:id="rId52"/>
    <p:sldId id="624" r:id="rId53"/>
    <p:sldId id="635" r:id="rId54"/>
    <p:sldId id="284" r:id="rId55"/>
    <p:sldId id="626" r:id="rId56"/>
    <p:sldId id="730" r:id="rId57"/>
    <p:sldId id="664" r:id="rId58"/>
    <p:sldId id="285" r:id="rId59"/>
    <p:sldId id="733" r:id="rId60"/>
    <p:sldId id="731" r:id="rId61"/>
    <p:sldId id="666" r:id="rId62"/>
    <p:sldId id="729" r:id="rId63"/>
    <p:sldId id="667" r:id="rId64"/>
    <p:sldId id="668" r:id="rId65"/>
    <p:sldId id="669" r:id="rId66"/>
    <p:sldId id="670" r:id="rId67"/>
    <p:sldId id="671" r:id="rId68"/>
    <p:sldId id="734" r:id="rId69"/>
    <p:sldId id="286" r:id="rId70"/>
    <p:sldId id="628" r:id="rId71"/>
    <p:sldId id="754" r:id="rId72"/>
    <p:sldId id="651" r:id="rId73"/>
    <p:sldId id="652" r:id="rId74"/>
    <p:sldId id="653" r:id="rId75"/>
    <p:sldId id="654" r:id="rId76"/>
    <p:sldId id="629" r:id="rId77"/>
    <p:sldId id="655" r:id="rId78"/>
    <p:sldId id="656" r:id="rId79"/>
    <p:sldId id="658" r:id="rId80"/>
    <p:sldId id="657" r:id="rId81"/>
    <p:sldId id="659" r:id="rId82"/>
    <p:sldId id="763" r:id="rId8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620"/>
    <p:restoredTop sz="94660"/>
  </p:normalViewPr>
  <p:slideViewPr>
    <p:cSldViewPr>
      <p:cViewPr varScale="1">
        <p:scale>
          <a:sx n="68" d="100"/>
          <a:sy n="68" d="100"/>
        </p:scale>
        <p:origin x="-1446" y="-96"/>
      </p:cViewPr>
      <p:guideLst>
        <p:guide orient="horz" pos="2160"/>
        <p:guide pos="2880"/>
      </p:guideLst>
    </p:cSldViewPr>
  </p:slideViewPr>
  <p:notesTextViewPr>
    <p:cViewPr>
      <p:scale>
        <a:sx n="1" d="1"/>
        <a:sy n="1" d="1"/>
      </p:scale>
      <p:origin x="0" y="0"/>
    </p:cViewPr>
  </p:notesTextViewPr>
  <p:gridSpacing cx="78028800" cy="780288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slide" Target="slides/slide53.xml"/><Relationship Id="rId63" Type="http://schemas.openxmlformats.org/officeDocument/2006/relationships/slide" Target="slides/slide61.xml"/><Relationship Id="rId68" Type="http://schemas.openxmlformats.org/officeDocument/2006/relationships/slide" Target="slides/slide66.xml"/><Relationship Id="rId76" Type="http://schemas.openxmlformats.org/officeDocument/2006/relationships/slide" Target="slides/slide74.xml"/><Relationship Id="rId84" Type="http://schemas.openxmlformats.org/officeDocument/2006/relationships/notesMaster" Target="notesMasters/notesMaster1.xml"/><Relationship Id="rId7" Type="http://schemas.openxmlformats.org/officeDocument/2006/relationships/slide" Target="slides/slide5.xml"/><Relationship Id="rId71" Type="http://schemas.openxmlformats.org/officeDocument/2006/relationships/slide" Target="slides/slide69.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slide" Target="slides/slide64.xml"/><Relationship Id="rId74" Type="http://schemas.openxmlformats.org/officeDocument/2006/relationships/slide" Target="slides/slide72.xml"/><Relationship Id="rId79" Type="http://schemas.openxmlformats.org/officeDocument/2006/relationships/slide" Target="slides/slide77.xml"/><Relationship Id="rId87" Type="http://schemas.openxmlformats.org/officeDocument/2006/relationships/theme" Target="theme/theme1.xml"/><Relationship Id="rId5" Type="http://schemas.openxmlformats.org/officeDocument/2006/relationships/slide" Target="slides/slide3.xml"/><Relationship Id="rId61" Type="http://schemas.openxmlformats.org/officeDocument/2006/relationships/slide" Target="slides/slide59.xml"/><Relationship Id="rId82" Type="http://schemas.openxmlformats.org/officeDocument/2006/relationships/slide" Target="slides/slide80.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slide" Target="slides/slide67.xml"/><Relationship Id="rId77" Type="http://schemas.openxmlformats.org/officeDocument/2006/relationships/slide" Target="slides/slide75.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80" Type="http://schemas.openxmlformats.org/officeDocument/2006/relationships/slide" Target="slides/slide78.xml"/><Relationship Id="rId85" Type="http://schemas.openxmlformats.org/officeDocument/2006/relationships/presProps" Target="presProps.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slide" Target="slides/slide73.xml"/><Relationship Id="rId83" Type="http://schemas.openxmlformats.org/officeDocument/2006/relationships/slide" Target="slides/slide81.xml"/><Relationship Id="rId88"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slide" Target="slides/slide76.xml"/><Relationship Id="rId81" Type="http://schemas.openxmlformats.org/officeDocument/2006/relationships/slide" Target="slides/slide79.xml"/><Relationship Id="rId86"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4FEB8ED1-48BC-4836-B6C0-6FC2475A1F8F}" type="datetimeFigureOut">
              <a:rPr lang="en-US" smtClean="0"/>
              <a:pPr/>
              <a:t>1/17/2023</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9321463-5CB6-44BF-BC4F-20A32FA76C5A}"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C9321463-5CB6-44BF-BC4F-20A32FA76C5A}" type="slidenum">
              <a:rPr lang="en-US" smtClean="0"/>
              <a:pPr/>
              <a:t>19</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5CEE9B7-FA2C-4184-94B3-9CB66B17A6C8}" type="datetimeFigureOut">
              <a:rPr lang="en-US" smtClean="0"/>
              <a:pPr/>
              <a:t>1/17/2023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64ADEC3-C8B8-4CA5-91A4-1F0CDE518CF4}" type="slidenum">
              <a:rPr lang="en-US" smtClean="0"/>
              <a:pPr/>
              <a:t>‹#›</a:t>
            </a:fld>
            <a:endParaRPr lang="en-US" dirty="0"/>
          </a:p>
        </p:txBody>
      </p:sp>
    </p:spTree>
    <p:extLst>
      <p:ext uri="{BB962C8B-B14F-4D97-AF65-F5344CB8AC3E}">
        <p14:creationId xmlns:p14="http://schemas.microsoft.com/office/powerpoint/2010/main" xmlns="" val="2548403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5CEE9B7-FA2C-4184-94B3-9CB66B17A6C8}" type="datetimeFigureOut">
              <a:rPr lang="en-US" smtClean="0"/>
              <a:pPr/>
              <a:t>1/17/2023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64ADEC3-C8B8-4CA5-91A4-1F0CDE518CF4}" type="slidenum">
              <a:rPr lang="en-US" smtClean="0"/>
              <a:pPr/>
              <a:t>‹#›</a:t>
            </a:fld>
            <a:endParaRPr lang="en-US" dirty="0"/>
          </a:p>
        </p:txBody>
      </p:sp>
    </p:spTree>
    <p:extLst>
      <p:ext uri="{BB962C8B-B14F-4D97-AF65-F5344CB8AC3E}">
        <p14:creationId xmlns:p14="http://schemas.microsoft.com/office/powerpoint/2010/main" xmlns="" val="13685873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5CEE9B7-FA2C-4184-94B3-9CB66B17A6C8}" type="datetimeFigureOut">
              <a:rPr lang="en-US" smtClean="0"/>
              <a:pPr/>
              <a:t>1/17/2023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64ADEC3-C8B8-4CA5-91A4-1F0CDE518CF4}" type="slidenum">
              <a:rPr lang="en-US" smtClean="0"/>
              <a:pPr/>
              <a:t>‹#›</a:t>
            </a:fld>
            <a:endParaRPr lang="en-US" dirty="0"/>
          </a:p>
        </p:txBody>
      </p:sp>
    </p:spTree>
    <p:extLst>
      <p:ext uri="{BB962C8B-B14F-4D97-AF65-F5344CB8AC3E}">
        <p14:creationId xmlns:p14="http://schemas.microsoft.com/office/powerpoint/2010/main" xmlns="" val="41185366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5CEE9B7-FA2C-4184-94B3-9CB66B17A6C8}" type="datetimeFigureOut">
              <a:rPr lang="en-US" smtClean="0"/>
              <a:pPr/>
              <a:t>1/17/2023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64ADEC3-C8B8-4CA5-91A4-1F0CDE518CF4}" type="slidenum">
              <a:rPr lang="en-US" smtClean="0"/>
              <a:pPr/>
              <a:t>‹#›</a:t>
            </a:fld>
            <a:endParaRPr lang="en-US" dirty="0"/>
          </a:p>
        </p:txBody>
      </p:sp>
    </p:spTree>
    <p:extLst>
      <p:ext uri="{BB962C8B-B14F-4D97-AF65-F5344CB8AC3E}">
        <p14:creationId xmlns:p14="http://schemas.microsoft.com/office/powerpoint/2010/main" xmlns="" val="30017867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5CEE9B7-FA2C-4184-94B3-9CB66B17A6C8}" type="datetimeFigureOut">
              <a:rPr lang="en-US" smtClean="0"/>
              <a:pPr/>
              <a:t>1/17/2023</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64ADEC3-C8B8-4CA5-91A4-1F0CDE518CF4}" type="slidenum">
              <a:rPr lang="en-US" smtClean="0"/>
              <a:pPr/>
              <a:t>‹#›</a:t>
            </a:fld>
            <a:endParaRPr lang="en-US" dirty="0"/>
          </a:p>
        </p:txBody>
      </p:sp>
    </p:spTree>
    <p:extLst>
      <p:ext uri="{BB962C8B-B14F-4D97-AF65-F5344CB8AC3E}">
        <p14:creationId xmlns:p14="http://schemas.microsoft.com/office/powerpoint/2010/main" xmlns="" val="8522041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5CEE9B7-FA2C-4184-94B3-9CB66B17A6C8}" type="datetimeFigureOut">
              <a:rPr lang="en-US" smtClean="0"/>
              <a:pPr/>
              <a:t>1/17/2023</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64ADEC3-C8B8-4CA5-91A4-1F0CDE518CF4}" type="slidenum">
              <a:rPr lang="en-US" smtClean="0"/>
              <a:pPr/>
              <a:t>‹#›</a:t>
            </a:fld>
            <a:endParaRPr lang="en-US" dirty="0"/>
          </a:p>
        </p:txBody>
      </p:sp>
    </p:spTree>
    <p:extLst>
      <p:ext uri="{BB962C8B-B14F-4D97-AF65-F5344CB8AC3E}">
        <p14:creationId xmlns:p14="http://schemas.microsoft.com/office/powerpoint/2010/main" xmlns="" val="33219155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5CEE9B7-FA2C-4184-94B3-9CB66B17A6C8}" type="datetimeFigureOut">
              <a:rPr lang="en-US" smtClean="0"/>
              <a:pPr/>
              <a:t>1/17/2023</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64ADEC3-C8B8-4CA5-91A4-1F0CDE518CF4}" type="slidenum">
              <a:rPr lang="en-US" smtClean="0"/>
              <a:pPr/>
              <a:t>‹#›</a:t>
            </a:fld>
            <a:endParaRPr lang="en-US" dirty="0"/>
          </a:p>
        </p:txBody>
      </p:sp>
    </p:spTree>
    <p:extLst>
      <p:ext uri="{BB962C8B-B14F-4D97-AF65-F5344CB8AC3E}">
        <p14:creationId xmlns:p14="http://schemas.microsoft.com/office/powerpoint/2010/main" xmlns="" val="29846253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5CEE9B7-FA2C-4184-94B3-9CB66B17A6C8}" type="datetimeFigureOut">
              <a:rPr lang="en-US" smtClean="0"/>
              <a:pPr/>
              <a:t>1/17/2023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64ADEC3-C8B8-4CA5-91A4-1F0CDE518CF4}" type="slidenum">
              <a:rPr lang="en-US" smtClean="0"/>
              <a:pPr/>
              <a:t>‹#›</a:t>
            </a:fld>
            <a:endParaRPr lang="en-US" dirty="0"/>
          </a:p>
        </p:txBody>
      </p:sp>
    </p:spTree>
    <p:extLst>
      <p:ext uri="{BB962C8B-B14F-4D97-AF65-F5344CB8AC3E}">
        <p14:creationId xmlns:p14="http://schemas.microsoft.com/office/powerpoint/2010/main" xmlns="" val="42859208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5CEE9B7-FA2C-4184-94B3-9CB66B17A6C8}" type="datetimeFigureOut">
              <a:rPr lang="en-US" smtClean="0"/>
              <a:pPr/>
              <a:t>1/17/2023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64ADEC3-C8B8-4CA5-91A4-1F0CDE518CF4}" type="slidenum">
              <a:rPr lang="en-US" smtClean="0"/>
              <a:pPr/>
              <a:t>‹#›</a:t>
            </a:fld>
            <a:endParaRPr lang="en-US" dirty="0"/>
          </a:p>
        </p:txBody>
      </p:sp>
    </p:spTree>
    <p:extLst>
      <p:ext uri="{BB962C8B-B14F-4D97-AF65-F5344CB8AC3E}">
        <p14:creationId xmlns:p14="http://schemas.microsoft.com/office/powerpoint/2010/main" xmlns="" val="38893842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5CEE9B7-FA2C-4184-94B3-9CB66B17A6C8}" type="datetimeFigureOut">
              <a:rPr lang="en-US" smtClean="0"/>
              <a:pPr/>
              <a:t>1/17/2023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64ADEC3-C8B8-4CA5-91A4-1F0CDE518CF4}" type="slidenum">
              <a:rPr lang="en-US" smtClean="0"/>
              <a:pPr/>
              <a:t>‹#›</a:t>
            </a:fld>
            <a:endParaRPr lang="en-US" dirty="0"/>
          </a:p>
        </p:txBody>
      </p:sp>
    </p:spTree>
    <p:extLst>
      <p:ext uri="{BB962C8B-B14F-4D97-AF65-F5344CB8AC3E}">
        <p14:creationId xmlns:p14="http://schemas.microsoft.com/office/powerpoint/2010/main" xmlns="" val="2171577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5CEE9B7-FA2C-4184-94B3-9CB66B17A6C8}" type="datetimeFigureOut">
              <a:rPr lang="en-US" smtClean="0"/>
              <a:pPr/>
              <a:t>1/17/2023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64ADEC3-C8B8-4CA5-91A4-1F0CDE518CF4}" type="slidenum">
              <a:rPr lang="en-US" smtClean="0"/>
              <a:pPr/>
              <a:t>‹#›</a:t>
            </a:fld>
            <a:endParaRPr lang="en-US" dirty="0"/>
          </a:p>
        </p:txBody>
      </p:sp>
    </p:spTree>
    <p:extLst>
      <p:ext uri="{BB962C8B-B14F-4D97-AF65-F5344CB8AC3E}">
        <p14:creationId xmlns:p14="http://schemas.microsoft.com/office/powerpoint/2010/main" xmlns="" val="403795815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4" name="Group 2"/>
          <p:cNvGrpSpPr>
            <a:grpSpLocks/>
          </p:cNvGrpSpPr>
          <p:nvPr/>
        </p:nvGrpSpPr>
        <p:grpSpPr bwMode="auto">
          <a:xfrm>
            <a:off x="0" y="0"/>
            <a:ext cx="9144000" cy="6858000"/>
            <a:chOff x="0" y="0"/>
            <a:chExt cx="5760" cy="4320"/>
          </a:xfrm>
        </p:grpSpPr>
        <p:sp>
          <p:nvSpPr>
            <p:cNvPr id="5" name="Rectangle 3"/>
            <p:cNvSpPr>
              <a:spLocks noChangeArrowheads="1"/>
            </p:cNvSpPr>
            <p:nvPr/>
          </p:nvSpPr>
          <p:spPr bwMode="hidden">
            <a:xfrm>
              <a:off x="0" y="0"/>
              <a:ext cx="2208" cy="4320"/>
            </a:xfrm>
            <a:prstGeom prst="rect">
              <a:avLst/>
            </a:prstGeom>
            <a:gradFill rotWithShape="0">
              <a:gsLst>
                <a:gs pos="0">
                  <a:schemeClr val="folHlink"/>
                </a:gs>
                <a:gs pos="100000">
                  <a:schemeClr val="bg1"/>
                </a:gs>
              </a:gsLst>
              <a:lin ang="0" scaled="1"/>
            </a:gradFill>
            <a:ln w="9525">
              <a:noFill/>
              <a:miter lim="800000"/>
              <a:headEnd/>
              <a:tailEnd/>
            </a:ln>
            <a:effectLst/>
          </p:spPr>
          <p:txBody>
            <a:bodyPr wrap="none" anchor="ctr"/>
            <a:lstStyle/>
            <a:p>
              <a:pPr algn="ctr" eaLnBrk="1" hangingPunct="1">
                <a:defRPr/>
              </a:pPr>
              <a:endParaRPr lang="en-US" sz="2400">
                <a:latin typeface="Times New Roman" pitchFamily="18" charset="0"/>
              </a:endParaRPr>
            </a:p>
          </p:txBody>
        </p:sp>
        <p:sp>
          <p:nvSpPr>
            <p:cNvPr id="6" name="Rectangle 4"/>
            <p:cNvSpPr>
              <a:spLocks noChangeArrowheads="1"/>
            </p:cNvSpPr>
            <p:nvPr/>
          </p:nvSpPr>
          <p:spPr bwMode="hidden">
            <a:xfrm>
              <a:off x="1081" y="1065"/>
              <a:ext cx="4679" cy="1596"/>
            </a:xfrm>
            <a:prstGeom prst="rect">
              <a:avLst/>
            </a:prstGeom>
            <a:solidFill>
              <a:schemeClr val="bg2"/>
            </a:solidFill>
            <a:ln w="9525">
              <a:noFill/>
              <a:miter lim="800000"/>
              <a:headEnd/>
              <a:tailEnd/>
            </a:ln>
          </p:spPr>
          <p:txBody>
            <a:bodyPr/>
            <a:lstStyle/>
            <a:p>
              <a:pPr eaLnBrk="1" hangingPunct="1">
                <a:defRPr/>
              </a:pPr>
              <a:endParaRPr lang="en-US" sz="2400">
                <a:latin typeface="Times New Roman" pitchFamily="18" charset="0"/>
              </a:endParaRPr>
            </a:p>
          </p:txBody>
        </p:sp>
        <p:grpSp>
          <p:nvGrpSpPr>
            <p:cNvPr id="7" name="Group 5"/>
            <p:cNvGrpSpPr>
              <a:grpSpLocks/>
            </p:cNvGrpSpPr>
            <p:nvPr/>
          </p:nvGrpSpPr>
          <p:grpSpPr bwMode="auto">
            <a:xfrm>
              <a:off x="0" y="672"/>
              <a:ext cx="1806" cy="1989"/>
              <a:chOff x="0" y="672"/>
              <a:chExt cx="1806" cy="1989"/>
            </a:xfrm>
          </p:grpSpPr>
          <p:sp>
            <p:nvSpPr>
              <p:cNvPr id="8" name="Rectangle 6"/>
              <p:cNvSpPr>
                <a:spLocks noChangeArrowheads="1"/>
              </p:cNvSpPr>
              <p:nvPr userDrawn="1"/>
            </p:nvSpPr>
            <p:spPr bwMode="auto">
              <a:xfrm>
                <a:off x="361" y="2257"/>
                <a:ext cx="363" cy="404"/>
              </a:xfrm>
              <a:prstGeom prst="rect">
                <a:avLst/>
              </a:prstGeom>
              <a:solidFill>
                <a:schemeClr val="accent2"/>
              </a:solidFill>
              <a:ln w="9525">
                <a:noFill/>
                <a:miter lim="800000"/>
                <a:headEnd/>
                <a:tailEnd/>
              </a:ln>
            </p:spPr>
            <p:txBody>
              <a:bodyPr/>
              <a:lstStyle/>
              <a:p>
                <a:pPr eaLnBrk="1" hangingPunct="1">
                  <a:defRPr/>
                </a:pPr>
                <a:endParaRPr lang="en-US" sz="2400">
                  <a:latin typeface="Times New Roman" pitchFamily="18" charset="0"/>
                </a:endParaRPr>
              </a:p>
            </p:txBody>
          </p:sp>
          <p:sp>
            <p:nvSpPr>
              <p:cNvPr id="9" name="Rectangle 7"/>
              <p:cNvSpPr>
                <a:spLocks noChangeArrowheads="1"/>
              </p:cNvSpPr>
              <p:nvPr userDrawn="1"/>
            </p:nvSpPr>
            <p:spPr bwMode="auto">
              <a:xfrm>
                <a:off x="1081" y="1065"/>
                <a:ext cx="362" cy="405"/>
              </a:xfrm>
              <a:prstGeom prst="rect">
                <a:avLst/>
              </a:prstGeom>
              <a:solidFill>
                <a:schemeClr val="folHlink"/>
              </a:solidFill>
              <a:ln w="9525">
                <a:noFill/>
                <a:miter lim="800000"/>
                <a:headEnd/>
                <a:tailEnd/>
              </a:ln>
            </p:spPr>
            <p:txBody>
              <a:bodyPr/>
              <a:lstStyle/>
              <a:p>
                <a:pPr eaLnBrk="1" hangingPunct="1">
                  <a:defRPr/>
                </a:pPr>
                <a:endParaRPr lang="en-US" sz="2400">
                  <a:latin typeface="Times New Roman" pitchFamily="18" charset="0"/>
                </a:endParaRPr>
              </a:p>
            </p:txBody>
          </p:sp>
          <p:sp>
            <p:nvSpPr>
              <p:cNvPr id="10" name="Rectangle 8"/>
              <p:cNvSpPr>
                <a:spLocks noChangeArrowheads="1"/>
              </p:cNvSpPr>
              <p:nvPr userDrawn="1"/>
            </p:nvSpPr>
            <p:spPr bwMode="auto">
              <a:xfrm>
                <a:off x="1437" y="672"/>
                <a:ext cx="369" cy="400"/>
              </a:xfrm>
              <a:prstGeom prst="rect">
                <a:avLst/>
              </a:prstGeom>
              <a:solidFill>
                <a:schemeClr val="folHlink"/>
              </a:solidFill>
              <a:ln w="9525">
                <a:noFill/>
                <a:miter lim="800000"/>
                <a:headEnd/>
                <a:tailEnd/>
              </a:ln>
            </p:spPr>
            <p:txBody>
              <a:bodyPr/>
              <a:lstStyle/>
              <a:p>
                <a:pPr eaLnBrk="1" hangingPunct="1">
                  <a:defRPr/>
                </a:pPr>
                <a:endParaRPr lang="en-US" sz="2400">
                  <a:latin typeface="Times New Roman" pitchFamily="18" charset="0"/>
                </a:endParaRPr>
              </a:p>
            </p:txBody>
          </p:sp>
          <p:sp>
            <p:nvSpPr>
              <p:cNvPr id="11" name="Rectangle 9"/>
              <p:cNvSpPr>
                <a:spLocks noChangeArrowheads="1"/>
              </p:cNvSpPr>
              <p:nvPr userDrawn="1"/>
            </p:nvSpPr>
            <p:spPr bwMode="auto">
              <a:xfrm>
                <a:off x="719" y="2257"/>
                <a:ext cx="368" cy="404"/>
              </a:xfrm>
              <a:prstGeom prst="rect">
                <a:avLst/>
              </a:prstGeom>
              <a:solidFill>
                <a:schemeClr val="bg2"/>
              </a:solidFill>
              <a:ln w="9525">
                <a:noFill/>
                <a:miter lim="800000"/>
                <a:headEnd/>
                <a:tailEnd/>
              </a:ln>
            </p:spPr>
            <p:txBody>
              <a:bodyPr/>
              <a:lstStyle/>
              <a:p>
                <a:pPr eaLnBrk="1" hangingPunct="1">
                  <a:defRPr/>
                </a:pPr>
                <a:endParaRPr lang="en-US" sz="2400">
                  <a:latin typeface="Times New Roman" pitchFamily="18" charset="0"/>
                </a:endParaRPr>
              </a:p>
            </p:txBody>
          </p:sp>
          <p:sp>
            <p:nvSpPr>
              <p:cNvPr id="12" name="Rectangle 10"/>
              <p:cNvSpPr>
                <a:spLocks noChangeArrowheads="1"/>
              </p:cNvSpPr>
              <p:nvPr userDrawn="1"/>
            </p:nvSpPr>
            <p:spPr bwMode="auto">
              <a:xfrm>
                <a:off x="1437" y="1065"/>
                <a:ext cx="369" cy="405"/>
              </a:xfrm>
              <a:prstGeom prst="rect">
                <a:avLst/>
              </a:prstGeom>
              <a:solidFill>
                <a:schemeClr val="accent2"/>
              </a:solidFill>
              <a:ln w="9525">
                <a:noFill/>
                <a:miter lim="800000"/>
                <a:headEnd/>
                <a:tailEnd/>
              </a:ln>
            </p:spPr>
            <p:txBody>
              <a:bodyPr/>
              <a:lstStyle/>
              <a:p>
                <a:pPr eaLnBrk="1" hangingPunct="1">
                  <a:defRPr/>
                </a:pPr>
                <a:endParaRPr lang="en-US" sz="2400">
                  <a:latin typeface="Times New Roman" pitchFamily="18" charset="0"/>
                </a:endParaRPr>
              </a:p>
            </p:txBody>
          </p:sp>
          <p:sp>
            <p:nvSpPr>
              <p:cNvPr id="13" name="Rectangle 11"/>
              <p:cNvSpPr>
                <a:spLocks noChangeArrowheads="1"/>
              </p:cNvSpPr>
              <p:nvPr userDrawn="1"/>
            </p:nvSpPr>
            <p:spPr bwMode="auto">
              <a:xfrm>
                <a:off x="719" y="1464"/>
                <a:ext cx="368" cy="399"/>
              </a:xfrm>
              <a:prstGeom prst="rect">
                <a:avLst/>
              </a:prstGeom>
              <a:solidFill>
                <a:schemeClr val="folHlink"/>
              </a:solidFill>
              <a:ln w="9525">
                <a:noFill/>
                <a:miter lim="800000"/>
                <a:headEnd/>
                <a:tailEnd/>
              </a:ln>
            </p:spPr>
            <p:txBody>
              <a:bodyPr/>
              <a:lstStyle/>
              <a:p>
                <a:pPr eaLnBrk="1" hangingPunct="1">
                  <a:defRPr/>
                </a:pPr>
                <a:endParaRPr lang="en-US" sz="2400">
                  <a:latin typeface="Times New Roman" pitchFamily="18" charset="0"/>
                </a:endParaRPr>
              </a:p>
            </p:txBody>
          </p:sp>
          <p:sp>
            <p:nvSpPr>
              <p:cNvPr id="14" name="Rectangle 12"/>
              <p:cNvSpPr>
                <a:spLocks noChangeArrowheads="1"/>
              </p:cNvSpPr>
              <p:nvPr userDrawn="1"/>
            </p:nvSpPr>
            <p:spPr bwMode="auto">
              <a:xfrm>
                <a:off x="0" y="1464"/>
                <a:ext cx="367" cy="399"/>
              </a:xfrm>
              <a:prstGeom prst="rect">
                <a:avLst/>
              </a:prstGeom>
              <a:solidFill>
                <a:schemeClr val="bg2"/>
              </a:solidFill>
              <a:ln w="9525">
                <a:noFill/>
                <a:miter lim="800000"/>
                <a:headEnd/>
                <a:tailEnd/>
              </a:ln>
            </p:spPr>
            <p:txBody>
              <a:bodyPr/>
              <a:lstStyle/>
              <a:p>
                <a:pPr eaLnBrk="1" hangingPunct="1">
                  <a:defRPr/>
                </a:pPr>
                <a:endParaRPr lang="en-US" sz="2400">
                  <a:latin typeface="Times New Roman" pitchFamily="18" charset="0"/>
                </a:endParaRPr>
              </a:p>
            </p:txBody>
          </p:sp>
          <p:sp>
            <p:nvSpPr>
              <p:cNvPr id="15" name="Rectangle 13"/>
              <p:cNvSpPr>
                <a:spLocks noChangeArrowheads="1"/>
              </p:cNvSpPr>
              <p:nvPr userDrawn="1"/>
            </p:nvSpPr>
            <p:spPr bwMode="auto">
              <a:xfrm>
                <a:off x="1081" y="1464"/>
                <a:ext cx="362" cy="399"/>
              </a:xfrm>
              <a:prstGeom prst="rect">
                <a:avLst/>
              </a:prstGeom>
              <a:solidFill>
                <a:schemeClr val="accent2"/>
              </a:solidFill>
              <a:ln w="9525">
                <a:noFill/>
                <a:miter lim="800000"/>
                <a:headEnd/>
                <a:tailEnd/>
              </a:ln>
            </p:spPr>
            <p:txBody>
              <a:bodyPr/>
              <a:lstStyle/>
              <a:p>
                <a:pPr eaLnBrk="1" hangingPunct="1">
                  <a:defRPr/>
                </a:pPr>
                <a:endParaRPr lang="en-US" sz="2400">
                  <a:latin typeface="Times New Roman" pitchFamily="18" charset="0"/>
                </a:endParaRPr>
              </a:p>
            </p:txBody>
          </p:sp>
          <p:sp>
            <p:nvSpPr>
              <p:cNvPr id="16" name="Rectangle 14"/>
              <p:cNvSpPr>
                <a:spLocks noChangeArrowheads="1"/>
              </p:cNvSpPr>
              <p:nvPr userDrawn="1"/>
            </p:nvSpPr>
            <p:spPr bwMode="auto">
              <a:xfrm>
                <a:off x="361" y="1857"/>
                <a:ext cx="363" cy="406"/>
              </a:xfrm>
              <a:prstGeom prst="rect">
                <a:avLst/>
              </a:prstGeom>
              <a:solidFill>
                <a:schemeClr val="folHlink"/>
              </a:solidFill>
              <a:ln w="9525">
                <a:noFill/>
                <a:miter lim="800000"/>
                <a:headEnd/>
                <a:tailEnd/>
              </a:ln>
            </p:spPr>
            <p:txBody>
              <a:bodyPr/>
              <a:lstStyle/>
              <a:p>
                <a:pPr eaLnBrk="1" hangingPunct="1">
                  <a:defRPr/>
                </a:pPr>
                <a:endParaRPr lang="en-US" sz="2400">
                  <a:latin typeface="Times New Roman" pitchFamily="18" charset="0"/>
                </a:endParaRPr>
              </a:p>
            </p:txBody>
          </p:sp>
          <p:sp>
            <p:nvSpPr>
              <p:cNvPr id="17" name="Rectangle 15"/>
              <p:cNvSpPr>
                <a:spLocks noChangeArrowheads="1"/>
              </p:cNvSpPr>
              <p:nvPr userDrawn="1"/>
            </p:nvSpPr>
            <p:spPr bwMode="auto">
              <a:xfrm>
                <a:off x="719" y="1857"/>
                <a:ext cx="368" cy="406"/>
              </a:xfrm>
              <a:prstGeom prst="rect">
                <a:avLst/>
              </a:prstGeom>
              <a:solidFill>
                <a:schemeClr val="accent2"/>
              </a:solidFill>
              <a:ln w="9525">
                <a:noFill/>
                <a:miter lim="800000"/>
                <a:headEnd/>
                <a:tailEnd/>
              </a:ln>
            </p:spPr>
            <p:txBody>
              <a:bodyPr/>
              <a:lstStyle/>
              <a:p>
                <a:pPr eaLnBrk="1" hangingPunct="1">
                  <a:defRPr/>
                </a:pPr>
                <a:endParaRPr lang="en-US" sz="2400">
                  <a:latin typeface="Times New Roman" pitchFamily="18" charset="0"/>
                </a:endParaRPr>
              </a:p>
            </p:txBody>
          </p:sp>
        </p:grpSp>
      </p:grpSp>
      <p:sp>
        <p:nvSpPr>
          <p:cNvPr id="60435" name="Rectangle 19"/>
          <p:cNvSpPr>
            <a:spLocks noGrp="1" noChangeArrowheads="1"/>
          </p:cNvSpPr>
          <p:nvPr>
            <p:ph type="ctrTitle"/>
          </p:nvPr>
        </p:nvSpPr>
        <p:spPr>
          <a:xfrm>
            <a:off x="2971800" y="1828800"/>
            <a:ext cx="6019800" cy="2209800"/>
          </a:xfrm>
        </p:spPr>
        <p:txBody>
          <a:bodyPr/>
          <a:lstStyle>
            <a:lvl1pPr>
              <a:defRPr sz="5000">
                <a:solidFill>
                  <a:srgbClr val="FFFFFF"/>
                </a:solidFill>
              </a:defRPr>
            </a:lvl1pPr>
          </a:lstStyle>
          <a:p>
            <a:r>
              <a:rPr lang="en-US"/>
              <a:t>Click to edit Master title style</a:t>
            </a:r>
          </a:p>
        </p:txBody>
      </p:sp>
      <p:sp>
        <p:nvSpPr>
          <p:cNvPr id="60436" name="Rectangle 20"/>
          <p:cNvSpPr>
            <a:spLocks noGrp="1" noChangeArrowheads="1"/>
          </p:cNvSpPr>
          <p:nvPr>
            <p:ph type="subTitle" idx="1"/>
          </p:nvPr>
        </p:nvSpPr>
        <p:spPr>
          <a:xfrm>
            <a:off x="2971800" y="4267200"/>
            <a:ext cx="6019800" cy="1752600"/>
          </a:xfrm>
        </p:spPr>
        <p:txBody>
          <a:bodyPr/>
          <a:lstStyle>
            <a:lvl1pPr marL="0" indent="0">
              <a:buFont typeface="Wingdings" pitchFamily="2" charset="2"/>
              <a:buNone/>
              <a:defRPr sz="3400"/>
            </a:lvl1pPr>
          </a:lstStyle>
          <a:p>
            <a:r>
              <a:rPr lang="en-US"/>
              <a:t>Click to edit Master subtitle style</a:t>
            </a:r>
          </a:p>
        </p:txBody>
      </p:sp>
      <p:sp>
        <p:nvSpPr>
          <p:cNvPr id="18" name="Rectangle 16"/>
          <p:cNvSpPr>
            <a:spLocks noGrp="1" noChangeArrowheads="1"/>
          </p:cNvSpPr>
          <p:nvPr>
            <p:ph type="dt" sz="half" idx="10"/>
          </p:nvPr>
        </p:nvSpPr>
        <p:spPr>
          <a:xfrm>
            <a:off x="457200" y="6248400"/>
            <a:ext cx="2133600" cy="457200"/>
          </a:xfrm>
        </p:spPr>
        <p:txBody>
          <a:bodyPr/>
          <a:lstStyle>
            <a:lvl1pPr>
              <a:defRPr/>
            </a:lvl1pPr>
          </a:lstStyle>
          <a:p>
            <a:pPr>
              <a:defRPr/>
            </a:pPr>
            <a:endParaRPr lang="en-US"/>
          </a:p>
        </p:txBody>
      </p:sp>
      <p:sp>
        <p:nvSpPr>
          <p:cNvPr id="19" name="Rectangle 17"/>
          <p:cNvSpPr>
            <a:spLocks noGrp="1" noChangeArrowheads="1"/>
          </p:cNvSpPr>
          <p:nvPr>
            <p:ph type="ftr" sz="quarter" idx="11"/>
          </p:nvPr>
        </p:nvSpPr>
        <p:spPr/>
        <p:txBody>
          <a:bodyPr/>
          <a:lstStyle>
            <a:lvl1pPr>
              <a:defRPr/>
            </a:lvl1pPr>
          </a:lstStyle>
          <a:p>
            <a:pPr>
              <a:defRPr/>
            </a:pPr>
            <a:endParaRPr lang="en-US"/>
          </a:p>
        </p:txBody>
      </p:sp>
      <p:sp>
        <p:nvSpPr>
          <p:cNvPr id="20" name="Rectangle 18"/>
          <p:cNvSpPr>
            <a:spLocks noGrp="1" noChangeArrowheads="1"/>
          </p:cNvSpPr>
          <p:nvPr>
            <p:ph type="sldNum" sz="quarter" idx="12"/>
          </p:nvPr>
        </p:nvSpPr>
        <p:spPr/>
        <p:txBody>
          <a:bodyPr/>
          <a:lstStyle>
            <a:lvl1pPr>
              <a:defRPr/>
            </a:lvl1pPr>
          </a:lstStyle>
          <a:p>
            <a:pPr>
              <a:defRPr/>
            </a:pPr>
            <a:fld id="{C9F336C3-D12C-41D0-B385-80247E41C20C}" type="slidenum">
              <a:rPr lang="en-US"/>
              <a:pPr>
                <a:defRPr/>
              </a:pPr>
              <a:t>‹#›</a:t>
            </a:fld>
            <a:endParaRPr lang="en-US"/>
          </a:p>
        </p:txBody>
      </p:sp>
    </p:spTree>
    <p:extLst>
      <p:ext uri="{BB962C8B-B14F-4D97-AF65-F5344CB8AC3E}">
        <p14:creationId xmlns:p14="http://schemas.microsoft.com/office/powerpoint/2010/main" xmlns="" val="331312117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2"/>
          <p:cNvSpPr>
            <a:spLocks noGrp="1" noChangeArrowheads="1"/>
          </p:cNvSpPr>
          <p:nvPr>
            <p:ph type="ftr" sz="quarter" idx="10"/>
          </p:nvPr>
        </p:nvSpPr>
        <p:spPr>
          <a:ln/>
        </p:spPr>
        <p:txBody>
          <a:bodyPr/>
          <a:lstStyle>
            <a:lvl1pPr>
              <a:defRPr/>
            </a:lvl1pPr>
          </a:lstStyle>
          <a:p>
            <a:pPr>
              <a:defRPr/>
            </a:pPr>
            <a:endParaRPr lang="en-US"/>
          </a:p>
        </p:txBody>
      </p:sp>
      <p:sp>
        <p:nvSpPr>
          <p:cNvPr id="5" name="Rectangle 3"/>
          <p:cNvSpPr>
            <a:spLocks noGrp="1" noChangeArrowheads="1"/>
          </p:cNvSpPr>
          <p:nvPr>
            <p:ph type="sldNum" sz="quarter" idx="11"/>
          </p:nvPr>
        </p:nvSpPr>
        <p:spPr>
          <a:ln/>
        </p:spPr>
        <p:txBody>
          <a:bodyPr/>
          <a:lstStyle>
            <a:lvl1pPr>
              <a:defRPr/>
            </a:lvl1pPr>
          </a:lstStyle>
          <a:p>
            <a:pPr>
              <a:defRPr/>
            </a:pPr>
            <a:fld id="{FBAC10B9-C6D4-4053-8A11-8477D4FE5DC4}" type="slidenum">
              <a:rPr lang="en-US"/>
              <a:pPr>
                <a:defRPr/>
              </a:pPr>
              <a:t>‹#›</a:t>
            </a:fld>
            <a:endParaRPr lang="en-US"/>
          </a:p>
        </p:txBody>
      </p:sp>
      <p:sp>
        <p:nvSpPr>
          <p:cNvPr id="6" name="Rectangle 16"/>
          <p:cNvSpPr>
            <a:spLocks noGrp="1" noChangeArrowheads="1"/>
          </p:cNvSpPr>
          <p:nvPr>
            <p:ph type="dt" sz="half" idx="12"/>
          </p:nvPr>
        </p:nvSpPr>
        <p:spPr>
          <a:ln/>
        </p:spPr>
        <p:txBody>
          <a:bodyPr/>
          <a:lstStyle>
            <a:lvl1pPr>
              <a:defRPr/>
            </a:lvl1pPr>
          </a:lstStyle>
          <a:p>
            <a:pPr>
              <a:defRPr/>
            </a:pPr>
            <a:endParaRPr lang="en-US"/>
          </a:p>
        </p:txBody>
      </p:sp>
    </p:spTree>
    <p:extLst>
      <p:ext uri="{BB962C8B-B14F-4D97-AF65-F5344CB8AC3E}">
        <p14:creationId xmlns:p14="http://schemas.microsoft.com/office/powerpoint/2010/main" xmlns="" val="121890214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2"/>
          <p:cNvSpPr>
            <a:spLocks noGrp="1" noChangeArrowheads="1"/>
          </p:cNvSpPr>
          <p:nvPr>
            <p:ph type="ftr" sz="quarter" idx="10"/>
          </p:nvPr>
        </p:nvSpPr>
        <p:spPr>
          <a:ln/>
        </p:spPr>
        <p:txBody>
          <a:bodyPr/>
          <a:lstStyle>
            <a:lvl1pPr>
              <a:defRPr/>
            </a:lvl1pPr>
          </a:lstStyle>
          <a:p>
            <a:pPr>
              <a:defRPr/>
            </a:pPr>
            <a:endParaRPr lang="en-US"/>
          </a:p>
        </p:txBody>
      </p:sp>
      <p:sp>
        <p:nvSpPr>
          <p:cNvPr id="5" name="Rectangle 3"/>
          <p:cNvSpPr>
            <a:spLocks noGrp="1" noChangeArrowheads="1"/>
          </p:cNvSpPr>
          <p:nvPr>
            <p:ph type="sldNum" sz="quarter" idx="11"/>
          </p:nvPr>
        </p:nvSpPr>
        <p:spPr>
          <a:ln/>
        </p:spPr>
        <p:txBody>
          <a:bodyPr/>
          <a:lstStyle>
            <a:lvl1pPr>
              <a:defRPr/>
            </a:lvl1pPr>
          </a:lstStyle>
          <a:p>
            <a:pPr>
              <a:defRPr/>
            </a:pPr>
            <a:fld id="{64C8404C-62F1-48E5-9B12-FAED6FAAEA6E}" type="slidenum">
              <a:rPr lang="en-US"/>
              <a:pPr>
                <a:defRPr/>
              </a:pPr>
              <a:t>‹#›</a:t>
            </a:fld>
            <a:endParaRPr lang="en-US"/>
          </a:p>
        </p:txBody>
      </p:sp>
      <p:sp>
        <p:nvSpPr>
          <p:cNvPr id="6" name="Rectangle 16"/>
          <p:cNvSpPr>
            <a:spLocks noGrp="1" noChangeArrowheads="1"/>
          </p:cNvSpPr>
          <p:nvPr>
            <p:ph type="dt" sz="half" idx="12"/>
          </p:nvPr>
        </p:nvSpPr>
        <p:spPr>
          <a:ln/>
        </p:spPr>
        <p:txBody>
          <a:bodyPr/>
          <a:lstStyle>
            <a:lvl1pPr>
              <a:defRPr/>
            </a:lvl1pPr>
          </a:lstStyle>
          <a:p>
            <a:pPr>
              <a:defRPr/>
            </a:pPr>
            <a:endParaRPr lang="en-US"/>
          </a:p>
        </p:txBody>
      </p:sp>
    </p:spTree>
    <p:extLst>
      <p:ext uri="{BB962C8B-B14F-4D97-AF65-F5344CB8AC3E}">
        <p14:creationId xmlns:p14="http://schemas.microsoft.com/office/powerpoint/2010/main" xmlns="" val="182613256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981200"/>
            <a:ext cx="4038600" cy="3886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981200"/>
            <a:ext cx="4038600" cy="3886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2"/>
          <p:cNvSpPr>
            <a:spLocks noGrp="1" noChangeArrowheads="1"/>
          </p:cNvSpPr>
          <p:nvPr>
            <p:ph type="ftr" sz="quarter" idx="10"/>
          </p:nvPr>
        </p:nvSpPr>
        <p:spPr>
          <a:ln/>
        </p:spPr>
        <p:txBody>
          <a:bodyPr/>
          <a:lstStyle>
            <a:lvl1pPr>
              <a:defRPr/>
            </a:lvl1pPr>
          </a:lstStyle>
          <a:p>
            <a:pPr>
              <a:defRPr/>
            </a:pPr>
            <a:endParaRPr lang="en-US"/>
          </a:p>
        </p:txBody>
      </p:sp>
      <p:sp>
        <p:nvSpPr>
          <p:cNvPr id="6" name="Rectangle 3"/>
          <p:cNvSpPr>
            <a:spLocks noGrp="1" noChangeArrowheads="1"/>
          </p:cNvSpPr>
          <p:nvPr>
            <p:ph type="sldNum" sz="quarter" idx="11"/>
          </p:nvPr>
        </p:nvSpPr>
        <p:spPr>
          <a:ln/>
        </p:spPr>
        <p:txBody>
          <a:bodyPr/>
          <a:lstStyle>
            <a:lvl1pPr>
              <a:defRPr/>
            </a:lvl1pPr>
          </a:lstStyle>
          <a:p>
            <a:pPr>
              <a:defRPr/>
            </a:pPr>
            <a:fld id="{406B35CE-31EB-4E20-B2DE-4D51CDD433BF}" type="slidenum">
              <a:rPr lang="en-US"/>
              <a:pPr>
                <a:defRPr/>
              </a:pPr>
              <a:t>‹#›</a:t>
            </a:fld>
            <a:endParaRPr lang="en-US"/>
          </a:p>
        </p:txBody>
      </p:sp>
      <p:sp>
        <p:nvSpPr>
          <p:cNvPr id="7" name="Rectangle 16"/>
          <p:cNvSpPr>
            <a:spLocks noGrp="1" noChangeArrowheads="1"/>
          </p:cNvSpPr>
          <p:nvPr>
            <p:ph type="dt" sz="half" idx="12"/>
          </p:nvPr>
        </p:nvSpPr>
        <p:spPr>
          <a:ln/>
        </p:spPr>
        <p:txBody>
          <a:bodyPr/>
          <a:lstStyle>
            <a:lvl1pPr>
              <a:defRPr/>
            </a:lvl1pPr>
          </a:lstStyle>
          <a:p>
            <a:pPr>
              <a:defRPr/>
            </a:pPr>
            <a:endParaRPr lang="en-US"/>
          </a:p>
        </p:txBody>
      </p:sp>
    </p:spTree>
    <p:extLst>
      <p:ext uri="{BB962C8B-B14F-4D97-AF65-F5344CB8AC3E}">
        <p14:creationId xmlns:p14="http://schemas.microsoft.com/office/powerpoint/2010/main" xmlns="" val="72832668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2"/>
          <p:cNvSpPr>
            <a:spLocks noGrp="1" noChangeArrowheads="1"/>
          </p:cNvSpPr>
          <p:nvPr>
            <p:ph type="ftr" sz="quarter" idx="10"/>
          </p:nvPr>
        </p:nvSpPr>
        <p:spPr>
          <a:ln/>
        </p:spPr>
        <p:txBody>
          <a:bodyPr/>
          <a:lstStyle>
            <a:lvl1pPr>
              <a:defRPr/>
            </a:lvl1pPr>
          </a:lstStyle>
          <a:p>
            <a:pPr>
              <a:defRPr/>
            </a:pPr>
            <a:endParaRPr lang="en-US"/>
          </a:p>
        </p:txBody>
      </p:sp>
      <p:sp>
        <p:nvSpPr>
          <p:cNvPr id="8" name="Rectangle 3"/>
          <p:cNvSpPr>
            <a:spLocks noGrp="1" noChangeArrowheads="1"/>
          </p:cNvSpPr>
          <p:nvPr>
            <p:ph type="sldNum" sz="quarter" idx="11"/>
          </p:nvPr>
        </p:nvSpPr>
        <p:spPr>
          <a:ln/>
        </p:spPr>
        <p:txBody>
          <a:bodyPr/>
          <a:lstStyle>
            <a:lvl1pPr>
              <a:defRPr/>
            </a:lvl1pPr>
          </a:lstStyle>
          <a:p>
            <a:pPr>
              <a:defRPr/>
            </a:pPr>
            <a:fld id="{590CDB4D-AC6A-4534-9E50-315FED349791}" type="slidenum">
              <a:rPr lang="en-US"/>
              <a:pPr>
                <a:defRPr/>
              </a:pPr>
              <a:t>‹#›</a:t>
            </a:fld>
            <a:endParaRPr lang="en-US"/>
          </a:p>
        </p:txBody>
      </p:sp>
      <p:sp>
        <p:nvSpPr>
          <p:cNvPr id="9" name="Rectangle 16"/>
          <p:cNvSpPr>
            <a:spLocks noGrp="1" noChangeArrowheads="1"/>
          </p:cNvSpPr>
          <p:nvPr>
            <p:ph type="dt" sz="half" idx="12"/>
          </p:nvPr>
        </p:nvSpPr>
        <p:spPr>
          <a:ln/>
        </p:spPr>
        <p:txBody>
          <a:bodyPr/>
          <a:lstStyle>
            <a:lvl1pPr>
              <a:defRPr/>
            </a:lvl1pPr>
          </a:lstStyle>
          <a:p>
            <a:pPr>
              <a:defRPr/>
            </a:pPr>
            <a:endParaRPr lang="en-US"/>
          </a:p>
        </p:txBody>
      </p:sp>
    </p:spTree>
    <p:extLst>
      <p:ext uri="{BB962C8B-B14F-4D97-AF65-F5344CB8AC3E}">
        <p14:creationId xmlns:p14="http://schemas.microsoft.com/office/powerpoint/2010/main" xmlns="" val="273384266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2"/>
          <p:cNvSpPr>
            <a:spLocks noGrp="1" noChangeArrowheads="1"/>
          </p:cNvSpPr>
          <p:nvPr>
            <p:ph type="ftr" sz="quarter" idx="10"/>
          </p:nvPr>
        </p:nvSpPr>
        <p:spPr>
          <a:ln/>
        </p:spPr>
        <p:txBody>
          <a:bodyPr/>
          <a:lstStyle>
            <a:lvl1pPr>
              <a:defRPr/>
            </a:lvl1pPr>
          </a:lstStyle>
          <a:p>
            <a:pPr>
              <a:defRPr/>
            </a:pPr>
            <a:endParaRPr lang="en-US"/>
          </a:p>
        </p:txBody>
      </p:sp>
      <p:sp>
        <p:nvSpPr>
          <p:cNvPr id="4" name="Rectangle 3"/>
          <p:cNvSpPr>
            <a:spLocks noGrp="1" noChangeArrowheads="1"/>
          </p:cNvSpPr>
          <p:nvPr>
            <p:ph type="sldNum" sz="quarter" idx="11"/>
          </p:nvPr>
        </p:nvSpPr>
        <p:spPr>
          <a:ln/>
        </p:spPr>
        <p:txBody>
          <a:bodyPr/>
          <a:lstStyle>
            <a:lvl1pPr>
              <a:defRPr/>
            </a:lvl1pPr>
          </a:lstStyle>
          <a:p>
            <a:pPr>
              <a:defRPr/>
            </a:pPr>
            <a:fld id="{C33B1536-EA50-43CA-8216-B008BF442DFB}" type="slidenum">
              <a:rPr lang="en-US"/>
              <a:pPr>
                <a:defRPr/>
              </a:pPr>
              <a:t>‹#›</a:t>
            </a:fld>
            <a:endParaRPr lang="en-US"/>
          </a:p>
        </p:txBody>
      </p:sp>
      <p:sp>
        <p:nvSpPr>
          <p:cNvPr id="5" name="Rectangle 16"/>
          <p:cNvSpPr>
            <a:spLocks noGrp="1" noChangeArrowheads="1"/>
          </p:cNvSpPr>
          <p:nvPr>
            <p:ph type="dt" sz="half" idx="12"/>
          </p:nvPr>
        </p:nvSpPr>
        <p:spPr>
          <a:ln/>
        </p:spPr>
        <p:txBody>
          <a:bodyPr/>
          <a:lstStyle>
            <a:lvl1pPr>
              <a:defRPr/>
            </a:lvl1pPr>
          </a:lstStyle>
          <a:p>
            <a:pPr>
              <a:defRPr/>
            </a:pPr>
            <a:endParaRPr lang="en-US"/>
          </a:p>
        </p:txBody>
      </p:sp>
    </p:spTree>
    <p:extLst>
      <p:ext uri="{BB962C8B-B14F-4D97-AF65-F5344CB8AC3E}">
        <p14:creationId xmlns:p14="http://schemas.microsoft.com/office/powerpoint/2010/main" xmlns="" val="280373346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2"/>
          <p:cNvSpPr>
            <a:spLocks noGrp="1" noChangeArrowheads="1"/>
          </p:cNvSpPr>
          <p:nvPr>
            <p:ph type="ftr" sz="quarter" idx="10"/>
          </p:nvPr>
        </p:nvSpPr>
        <p:spPr>
          <a:ln/>
        </p:spPr>
        <p:txBody>
          <a:bodyPr/>
          <a:lstStyle>
            <a:lvl1pPr>
              <a:defRPr/>
            </a:lvl1pPr>
          </a:lstStyle>
          <a:p>
            <a:pPr>
              <a:defRPr/>
            </a:pPr>
            <a:endParaRPr lang="en-US"/>
          </a:p>
        </p:txBody>
      </p:sp>
      <p:sp>
        <p:nvSpPr>
          <p:cNvPr id="3" name="Rectangle 3"/>
          <p:cNvSpPr>
            <a:spLocks noGrp="1" noChangeArrowheads="1"/>
          </p:cNvSpPr>
          <p:nvPr>
            <p:ph type="sldNum" sz="quarter" idx="11"/>
          </p:nvPr>
        </p:nvSpPr>
        <p:spPr>
          <a:ln/>
        </p:spPr>
        <p:txBody>
          <a:bodyPr/>
          <a:lstStyle>
            <a:lvl1pPr>
              <a:defRPr/>
            </a:lvl1pPr>
          </a:lstStyle>
          <a:p>
            <a:pPr>
              <a:defRPr/>
            </a:pPr>
            <a:fld id="{633E39A1-3C6D-4D0A-949C-E8E9A932A694}" type="slidenum">
              <a:rPr lang="en-US"/>
              <a:pPr>
                <a:defRPr/>
              </a:pPr>
              <a:t>‹#›</a:t>
            </a:fld>
            <a:endParaRPr lang="en-US"/>
          </a:p>
        </p:txBody>
      </p:sp>
      <p:sp>
        <p:nvSpPr>
          <p:cNvPr id="4" name="Rectangle 16"/>
          <p:cNvSpPr>
            <a:spLocks noGrp="1" noChangeArrowheads="1"/>
          </p:cNvSpPr>
          <p:nvPr>
            <p:ph type="dt" sz="half" idx="12"/>
          </p:nvPr>
        </p:nvSpPr>
        <p:spPr>
          <a:ln/>
        </p:spPr>
        <p:txBody>
          <a:bodyPr/>
          <a:lstStyle>
            <a:lvl1pPr>
              <a:defRPr/>
            </a:lvl1pPr>
          </a:lstStyle>
          <a:p>
            <a:pPr>
              <a:defRPr/>
            </a:pPr>
            <a:endParaRPr lang="en-US"/>
          </a:p>
        </p:txBody>
      </p:sp>
    </p:spTree>
    <p:extLst>
      <p:ext uri="{BB962C8B-B14F-4D97-AF65-F5344CB8AC3E}">
        <p14:creationId xmlns:p14="http://schemas.microsoft.com/office/powerpoint/2010/main" xmlns="" val="82792988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2"/>
          <p:cNvSpPr>
            <a:spLocks noGrp="1" noChangeArrowheads="1"/>
          </p:cNvSpPr>
          <p:nvPr>
            <p:ph type="ftr" sz="quarter" idx="10"/>
          </p:nvPr>
        </p:nvSpPr>
        <p:spPr>
          <a:ln/>
        </p:spPr>
        <p:txBody>
          <a:bodyPr/>
          <a:lstStyle>
            <a:lvl1pPr>
              <a:defRPr/>
            </a:lvl1pPr>
          </a:lstStyle>
          <a:p>
            <a:pPr>
              <a:defRPr/>
            </a:pPr>
            <a:endParaRPr lang="en-US"/>
          </a:p>
        </p:txBody>
      </p:sp>
      <p:sp>
        <p:nvSpPr>
          <p:cNvPr id="6" name="Rectangle 3"/>
          <p:cNvSpPr>
            <a:spLocks noGrp="1" noChangeArrowheads="1"/>
          </p:cNvSpPr>
          <p:nvPr>
            <p:ph type="sldNum" sz="quarter" idx="11"/>
          </p:nvPr>
        </p:nvSpPr>
        <p:spPr>
          <a:ln/>
        </p:spPr>
        <p:txBody>
          <a:bodyPr/>
          <a:lstStyle>
            <a:lvl1pPr>
              <a:defRPr/>
            </a:lvl1pPr>
          </a:lstStyle>
          <a:p>
            <a:pPr>
              <a:defRPr/>
            </a:pPr>
            <a:fld id="{74301324-0F2A-4BB2-9618-4C661C49382D}" type="slidenum">
              <a:rPr lang="en-US"/>
              <a:pPr>
                <a:defRPr/>
              </a:pPr>
              <a:t>‹#›</a:t>
            </a:fld>
            <a:endParaRPr lang="en-US"/>
          </a:p>
        </p:txBody>
      </p:sp>
      <p:sp>
        <p:nvSpPr>
          <p:cNvPr id="7" name="Rectangle 16"/>
          <p:cNvSpPr>
            <a:spLocks noGrp="1" noChangeArrowheads="1"/>
          </p:cNvSpPr>
          <p:nvPr>
            <p:ph type="dt" sz="half" idx="12"/>
          </p:nvPr>
        </p:nvSpPr>
        <p:spPr>
          <a:ln/>
        </p:spPr>
        <p:txBody>
          <a:bodyPr/>
          <a:lstStyle>
            <a:lvl1pPr>
              <a:defRPr/>
            </a:lvl1pPr>
          </a:lstStyle>
          <a:p>
            <a:pPr>
              <a:defRPr/>
            </a:pPr>
            <a:endParaRPr lang="en-US"/>
          </a:p>
        </p:txBody>
      </p:sp>
    </p:spTree>
    <p:extLst>
      <p:ext uri="{BB962C8B-B14F-4D97-AF65-F5344CB8AC3E}">
        <p14:creationId xmlns:p14="http://schemas.microsoft.com/office/powerpoint/2010/main" xmlns="" val="345943715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2"/>
          <p:cNvSpPr>
            <a:spLocks noGrp="1" noChangeArrowheads="1"/>
          </p:cNvSpPr>
          <p:nvPr>
            <p:ph type="ftr" sz="quarter" idx="10"/>
          </p:nvPr>
        </p:nvSpPr>
        <p:spPr>
          <a:ln/>
        </p:spPr>
        <p:txBody>
          <a:bodyPr/>
          <a:lstStyle>
            <a:lvl1pPr>
              <a:defRPr/>
            </a:lvl1pPr>
          </a:lstStyle>
          <a:p>
            <a:pPr>
              <a:defRPr/>
            </a:pPr>
            <a:endParaRPr lang="en-US"/>
          </a:p>
        </p:txBody>
      </p:sp>
      <p:sp>
        <p:nvSpPr>
          <p:cNvPr id="6" name="Rectangle 3"/>
          <p:cNvSpPr>
            <a:spLocks noGrp="1" noChangeArrowheads="1"/>
          </p:cNvSpPr>
          <p:nvPr>
            <p:ph type="sldNum" sz="quarter" idx="11"/>
          </p:nvPr>
        </p:nvSpPr>
        <p:spPr>
          <a:ln/>
        </p:spPr>
        <p:txBody>
          <a:bodyPr/>
          <a:lstStyle>
            <a:lvl1pPr>
              <a:defRPr/>
            </a:lvl1pPr>
          </a:lstStyle>
          <a:p>
            <a:pPr>
              <a:defRPr/>
            </a:pPr>
            <a:fld id="{C485C5DB-A778-46FC-8BD4-4A514CD7B20E}" type="slidenum">
              <a:rPr lang="en-US"/>
              <a:pPr>
                <a:defRPr/>
              </a:pPr>
              <a:t>‹#›</a:t>
            </a:fld>
            <a:endParaRPr lang="en-US"/>
          </a:p>
        </p:txBody>
      </p:sp>
      <p:sp>
        <p:nvSpPr>
          <p:cNvPr id="7" name="Rectangle 16"/>
          <p:cNvSpPr>
            <a:spLocks noGrp="1" noChangeArrowheads="1"/>
          </p:cNvSpPr>
          <p:nvPr>
            <p:ph type="dt" sz="half" idx="12"/>
          </p:nvPr>
        </p:nvSpPr>
        <p:spPr>
          <a:ln/>
        </p:spPr>
        <p:txBody>
          <a:bodyPr/>
          <a:lstStyle>
            <a:lvl1pPr>
              <a:defRPr/>
            </a:lvl1pPr>
          </a:lstStyle>
          <a:p>
            <a:pPr>
              <a:defRPr/>
            </a:pPr>
            <a:endParaRPr lang="en-US"/>
          </a:p>
        </p:txBody>
      </p:sp>
    </p:spTree>
    <p:extLst>
      <p:ext uri="{BB962C8B-B14F-4D97-AF65-F5344CB8AC3E}">
        <p14:creationId xmlns:p14="http://schemas.microsoft.com/office/powerpoint/2010/main" xmlns="" val="240939167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2"/>
          <p:cNvSpPr>
            <a:spLocks noGrp="1" noChangeArrowheads="1"/>
          </p:cNvSpPr>
          <p:nvPr>
            <p:ph type="ftr" sz="quarter" idx="10"/>
          </p:nvPr>
        </p:nvSpPr>
        <p:spPr>
          <a:ln/>
        </p:spPr>
        <p:txBody>
          <a:bodyPr/>
          <a:lstStyle>
            <a:lvl1pPr>
              <a:defRPr/>
            </a:lvl1pPr>
          </a:lstStyle>
          <a:p>
            <a:pPr>
              <a:defRPr/>
            </a:pPr>
            <a:endParaRPr lang="en-US"/>
          </a:p>
        </p:txBody>
      </p:sp>
      <p:sp>
        <p:nvSpPr>
          <p:cNvPr id="5" name="Rectangle 3"/>
          <p:cNvSpPr>
            <a:spLocks noGrp="1" noChangeArrowheads="1"/>
          </p:cNvSpPr>
          <p:nvPr>
            <p:ph type="sldNum" sz="quarter" idx="11"/>
          </p:nvPr>
        </p:nvSpPr>
        <p:spPr>
          <a:ln/>
        </p:spPr>
        <p:txBody>
          <a:bodyPr/>
          <a:lstStyle>
            <a:lvl1pPr>
              <a:defRPr/>
            </a:lvl1pPr>
          </a:lstStyle>
          <a:p>
            <a:pPr>
              <a:defRPr/>
            </a:pPr>
            <a:fld id="{971CD8FB-565E-4F44-945B-B7873D629DAB}" type="slidenum">
              <a:rPr lang="en-US"/>
              <a:pPr>
                <a:defRPr/>
              </a:pPr>
              <a:t>‹#›</a:t>
            </a:fld>
            <a:endParaRPr lang="en-US"/>
          </a:p>
        </p:txBody>
      </p:sp>
      <p:sp>
        <p:nvSpPr>
          <p:cNvPr id="6" name="Rectangle 16"/>
          <p:cNvSpPr>
            <a:spLocks noGrp="1" noChangeArrowheads="1"/>
          </p:cNvSpPr>
          <p:nvPr>
            <p:ph type="dt" sz="half" idx="12"/>
          </p:nvPr>
        </p:nvSpPr>
        <p:spPr>
          <a:ln/>
        </p:spPr>
        <p:txBody>
          <a:bodyPr/>
          <a:lstStyle>
            <a:lvl1pPr>
              <a:defRPr/>
            </a:lvl1pPr>
          </a:lstStyle>
          <a:p>
            <a:pPr>
              <a:defRPr/>
            </a:pPr>
            <a:endParaRPr lang="en-US"/>
          </a:p>
        </p:txBody>
      </p:sp>
    </p:spTree>
    <p:extLst>
      <p:ext uri="{BB962C8B-B14F-4D97-AF65-F5344CB8AC3E}">
        <p14:creationId xmlns:p14="http://schemas.microsoft.com/office/powerpoint/2010/main" xmlns="" val="150393517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457200"/>
            <a:ext cx="2057400" cy="54102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457200"/>
            <a:ext cx="6019800" cy="5410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2"/>
          <p:cNvSpPr>
            <a:spLocks noGrp="1" noChangeArrowheads="1"/>
          </p:cNvSpPr>
          <p:nvPr>
            <p:ph type="ftr" sz="quarter" idx="10"/>
          </p:nvPr>
        </p:nvSpPr>
        <p:spPr>
          <a:ln/>
        </p:spPr>
        <p:txBody>
          <a:bodyPr/>
          <a:lstStyle>
            <a:lvl1pPr>
              <a:defRPr/>
            </a:lvl1pPr>
          </a:lstStyle>
          <a:p>
            <a:pPr>
              <a:defRPr/>
            </a:pPr>
            <a:endParaRPr lang="en-US"/>
          </a:p>
        </p:txBody>
      </p:sp>
      <p:sp>
        <p:nvSpPr>
          <p:cNvPr id="5" name="Rectangle 3"/>
          <p:cNvSpPr>
            <a:spLocks noGrp="1" noChangeArrowheads="1"/>
          </p:cNvSpPr>
          <p:nvPr>
            <p:ph type="sldNum" sz="quarter" idx="11"/>
          </p:nvPr>
        </p:nvSpPr>
        <p:spPr>
          <a:ln/>
        </p:spPr>
        <p:txBody>
          <a:bodyPr/>
          <a:lstStyle>
            <a:lvl1pPr>
              <a:defRPr/>
            </a:lvl1pPr>
          </a:lstStyle>
          <a:p>
            <a:pPr>
              <a:defRPr/>
            </a:pPr>
            <a:fld id="{D864017B-4245-4F79-AFB7-DAED0CA757E1}" type="slidenum">
              <a:rPr lang="en-US"/>
              <a:pPr>
                <a:defRPr/>
              </a:pPr>
              <a:t>‹#›</a:t>
            </a:fld>
            <a:endParaRPr lang="en-US"/>
          </a:p>
        </p:txBody>
      </p:sp>
      <p:sp>
        <p:nvSpPr>
          <p:cNvPr id="6" name="Rectangle 16"/>
          <p:cNvSpPr>
            <a:spLocks noGrp="1" noChangeArrowheads="1"/>
          </p:cNvSpPr>
          <p:nvPr>
            <p:ph type="dt" sz="half" idx="12"/>
          </p:nvPr>
        </p:nvSpPr>
        <p:spPr>
          <a:ln/>
        </p:spPr>
        <p:txBody>
          <a:bodyPr/>
          <a:lstStyle>
            <a:lvl1pPr>
              <a:defRPr/>
            </a:lvl1pPr>
          </a:lstStyle>
          <a:p>
            <a:pPr>
              <a:defRPr/>
            </a:pPr>
            <a:endParaRPr lang="en-US"/>
          </a:p>
        </p:txBody>
      </p:sp>
    </p:spTree>
    <p:extLst>
      <p:ext uri="{BB962C8B-B14F-4D97-AF65-F5344CB8AC3E}">
        <p14:creationId xmlns:p14="http://schemas.microsoft.com/office/powerpoint/2010/main" xmlns="" val="272645595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0"/>
            <a:ext cx="8229600" cy="1371600"/>
          </a:xfrm>
        </p:spPr>
        <p:txBody>
          <a:bodyPr/>
          <a:lstStyle/>
          <a:p>
            <a:r>
              <a:rPr lang="en-US"/>
              <a:t>Click to edit Master title style</a:t>
            </a:r>
          </a:p>
        </p:txBody>
      </p:sp>
      <p:sp>
        <p:nvSpPr>
          <p:cNvPr id="3" name="Text Placeholder 2"/>
          <p:cNvSpPr>
            <a:spLocks noGrp="1"/>
          </p:cNvSpPr>
          <p:nvPr>
            <p:ph type="body" sz="half" idx="1"/>
          </p:nvPr>
        </p:nvSpPr>
        <p:spPr>
          <a:xfrm>
            <a:off x="457200" y="1981200"/>
            <a:ext cx="4038600" cy="3886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981200"/>
            <a:ext cx="4038600" cy="3886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2"/>
          <p:cNvSpPr>
            <a:spLocks noGrp="1" noChangeArrowheads="1"/>
          </p:cNvSpPr>
          <p:nvPr>
            <p:ph type="ftr" sz="quarter" idx="10"/>
          </p:nvPr>
        </p:nvSpPr>
        <p:spPr>
          <a:ln/>
        </p:spPr>
        <p:txBody>
          <a:bodyPr/>
          <a:lstStyle>
            <a:lvl1pPr>
              <a:defRPr/>
            </a:lvl1pPr>
          </a:lstStyle>
          <a:p>
            <a:pPr>
              <a:defRPr/>
            </a:pPr>
            <a:endParaRPr lang="en-US"/>
          </a:p>
        </p:txBody>
      </p:sp>
      <p:sp>
        <p:nvSpPr>
          <p:cNvPr id="6" name="Rectangle 3"/>
          <p:cNvSpPr>
            <a:spLocks noGrp="1" noChangeArrowheads="1"/>
          </p:cNvSpPr>
          <p:nvPr>
            <p:ph type="sldNum" sz="quarter" idx="11"/>
          </p:nvPr>
        </p:nvSpPr>
        <p:spPr>
          <a:ln/>
        </p:spPr>
        <p:txBody>
          <a:bodyPr/>
          <a:lstStyle>
            <a:lvl1pPr>
              <a:defRPr/>
            </a:lvl1pPr>
          </a:lstStyle>
          <a:p>
            <a:pPr>
              <a:defRPr/>
            </a:pPr>
            <a:fld id="{6AC66166-3F1D-45B6-801E-0A2E0CA472CA}" type="slidenum">
              <a:rPr lang="en-US"/>
              <a:pPr>
                <a:defRPr/>
              </a:pPr>
              <a:t>‹#›</a:t>
            </a:fld>
            <a:endParaRPr lang="en-US"/>
          </a:p>
        </p:txBody>
      </p:sp>
      <p:sp>
        <p:nvSpPr>
          <p:cNvPr id="7" name="Rectangle 16"/>
          <p:cNvSpPr>
            <a:spLocks noGrp="1" noChangeArrowheads="1"/>
          </p:cNvSpPr>
          <p:nvPr>
            <p:ph type="dt" sz="half" idx="12"/>
          </p:nvPr>
        </p:nvSpPr>
        <p:spPr>
          <a:ln/>
        </p:spPr>
        <p:txBody>
          <a:bodyPr/>
          <a:lstStyle>
            <a:lvl1pPr>
              <a:defRPr/>
            </a:lvl1pPr>
          </a:lstStyle>
          <a:p>
            <a:pPr>
              <a:defRPr/>
            </a:pPr>
            <a:endParaRPr lang="en-US"/>
          </a:p>
        </p:txBody>
      </p:sp>
    </p:spTree>
    <p:extLst>
      <p:ext uri="{BB962C8B-B14F-4D97-AF65-F5344CB8AC3E}">
        <p14:creationId xmlns:p14="http://schemas.microsoft.com/office/powerpoint/2010/main" xmlns="" val="35188712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theme" Target="../theme/theme2.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5CEE9B7-FA2C-4184-94B3-9CB66B17A6C8}" type="datetimeFigureOut">
              <a:rPr lang="en-US" smtClean="0"/>
              <a:pPr/>
              <a:t>1/17/2023</a:t>
            </a:fld>
            <a:endParaRPr 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64ADEC3-C8B8-4CA5-91A4-1F0CDE518CF4}" type="slidenum">
              <a:rPr lang="en-US" smtClean="0"/>
              <a:pPr/>
              <a:t>‹#›</a:t>
            </a:fld>
            <a:endParaRPr lang="en-US" dirty="0"/>
          </a:p>
        </p:txBody>
      </p:sp>
    </p:spTree>
    <p:extLst>
      <p:ext uri="{BB962C8B-B14F-4D97-AF65-F5344CB8AC3E}">
        <p14:creationId xmlns:p14="http://schemas.microsoft.com/office/powerpoint/2010/main" xmlns="" val="411598751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9394" name="Rectangle 2"/>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ctr" eaLnBrk="1" hangingPunct="1">
              <a:defRPr sz="1200">
                <a:latin typeface="Arial" charset="0"/>
              </a:defRPr>
            </a:lvl1pPr>
          </a:lstStyle>
          <a:p>
            <a:pPr>
              <a:defRPr/>
            </a:pPr>
            <a:endParaRPr lang="en-US"/>
          </a:p>
        </p:txBody>
      </p:sp>
      <p:sp>
        <p:nvSpPr>
          <p:cNvPr id="59395" name="Rectangle 3"/>
          <p:cNvSpPr>
            <a:spLocks noGrp="1" noChangeArrowheads="1"/>
          </p:cNvSpPr>
          <p:nvPr>
            <p:ph type="sldNum" sz="quarter" idx="4"/>
          </p:nvPr>
        </p:nvSpPr>
        <p:spPr bwMode="auto">
          <a:xfrm>
            <a:off x="6553200" y="6248400"/>
            <a:ext cx="2133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latin typeface="Arial Black" pitchFamily="34" charset="0"/>
              </a:defRPr>
            </a:lvl1pPr>
          </a:lstStyle>
          <a:p>
            <a:pPr>
              <a:defRPr/>
            </a:pPr>
            <a:fld id="{2ECE6E0E-FF50-4328-A380-3C29986C1ACA}" type="slidenum">
              <a:rPr lang="en-US"/>
              <a:pPr>
                <a:defRPr/>
              </a:pPr>
              <a:t>‹#›</a:t>
            </a:fld>
            <a:endParaRPr lang="en-US"/>
          </a:p>
        </p:txBody>
      </p:sp>
      <p:grpSp>
        <p:nvGrpSpPr>
          <p:cNvPr id="1028" name="Group 4"/>
          <p:cNvGrpSpPr>
            <a:grpSpLocks/>
          </p:cNvGrpSpPr>
          <p:nvPr/>
        </p:nvGrpSpPr>
        <p:grpSpPr bwMode="auto">
          <a:xfrm>
            <a:off x="0" y="0"/>
            <a:ext cx="9144000" cy="546100"/>
            <a:chOff x="0" y="0"/>
            <a:chExt cx="5760" cy="344"/>
          </a:xfrm>
        </p:grpSpPr>
        <p:sp>
          <p:nvSpPr>
            <p:cNvPr id="59397" name="Rectangle 5"/>
            <p:cNvSpPr>
              <a:spLocks noChangeArrowheads="1"/>
            </p:cNvSpPr>
            <p:nvPr/>
          </p:nvSpPr>
          <p:spPr bwMode="auto">
            <a:xfrm>
              <a:off x="0" y="0"/>
              <a:ext cx="180" cy="336"/>
            </a:xfrm>
            <a:prstGeom prst="rect">
              <a:avLst/>
            </a:prstGeom>
            <a:gradFill rotWithShape="0">
              <a:gsLst>
                <a:gs pos="0">
                  <a:schemeClr val="folHlink"/>
                </a:gs>
                <a:gs pos="100000">
                  <a:schemeClr val="bg1"/>
                </a:gs>
              </a:gsLst>
              <a:lin ang="0" scaled="1"/>
            </a:gradFill>
            <a:ln w="9525">
              <a:noFill/>
              <a:miter lim="800000"/>
              <a:headEnd/>
              <a:tailEnd/>
            </a:ln>
            <a:effectLst/>
          </p:spPr>
          <p:txBody>
            <a:bodyPr wrap="none" anchor="ctr"/>
            <a:lstStyle/>
            <a:p>
              <a:pPr algn="ctr" eaLnBrk="1" hangingPunct="1">
                <a:defRPr/>
              </a:pPr>
              <a:endParaRPr lang="en-US" sz="2400">
                <a:latin typeface="Times New Roman" pitchFamily="18" charset="0"/>
              </a:endParaRPr>
            </a:p>
          </p:txBody>
        </p:sp>
        <p:sp>
          <p:nvSpPr>
            <p:cNvPr id="59398" name="Rectangle 6"/>
            <p:cNvSpPr>
              <a:spLocks noChangeArrowheads="1"/>
            </p:cNvSpPr>
            <p:nvPr/>
          </p:nvSpPr>
          <p:spPr bwMode="auto">
            <a:xfrm>
              <a:off x="260" y="85"/>
              <a:ext cx="5500" cy="173"/>
            </a:xfrm>
            <a:prstGeom prst="rect">
              <a:avLst/>
            </a:prstGeom>
            <a:gradFill rotWithShape="0">
              <a:gsLst>
                <a:gs pos="0">
                  <a:schemeClr val="bg2"/>
                </a:gs>
                <a:gs pos="100000">
                  <a:schemeClr val="bg1"/>
                </a:gs>
              </a:gsLst>
              <a:lin ang="0" scaled="1"/>
            </a:gradFill>
            <a:ln w="9525">
              <a:noFill/>
              <a:miter lim="800000"/>
              <a:headEnd/>
              <a:tailEnd/>
            </a:ln>
          </p:spPr>
          <p:txBody>
            <a:bodyPr/>
            <a:lstStyle/>
            <a:p>
              <a:pPr eaLnBrk="1" hangingPunct="1">
                <a:defRPr/>
              </a:pPr>
              <a:endParaRPr lang="en-US" sz="2400">
                <a:latin typeface="Times New Roman" pitchFamily="18" charset="0"/>
              </a:endParaRPr>
            </a:p>
          </p:txBody>
        </p:sp>
        <p:sp>
          <p:nvSpPr>
            <p:cNvPr id="59399" name="Rectangle 7"/>
            <p:cNvSpPr>
              <a:spLocks noChangeArrowheads="1"/>
            </p:cNvSpPr>
            <p:nvPr/>
          </p:nvSpPr>
          <p:spPr bwMode="auto">
            <a:xfrm>
              <a:off x="258" y="85"/>
              <a:ext cx="87" cy="89"/>
            </a:xfrm>
            <a:prstGeom prst="rect">
              <a:avLst/>
            </a:prstGeom>
            <a:solidFill>
              <a:schemeClr val="folHlink"/>
            </a:solidFill>
            <a:ln w="9525">
              <a:noFill/>
              <a:miter lim="800000"/>
              <a:headEnd/>
              <a:tailEnd/>
            </a:ln>
          </p:spPr>
          <p:txBody>
            <a:bodyPr/>
            <a:lstStyle/>
            <a:p>
              <a:pPr eaLnBrk="1" hangingPunct="1">
                <a:defRPr/>
              </a:pPr>
              <a:endParaRPr lang="en-US">
                <a:solidFill>
                  <a:schemeClr val="hlink"/>
                </a:solidFill>
                <a:latin typeface="Arial" charset="0"/>
              </a:endParaRPr>
            </a:p>
          </p:txBody>
        </p:sp>
        <p:sp>
          <p:nvSpPr>
            <p:cNvPr id="59400" name="Rectangle 8"/>
            <p:cNvSpPr>
              <a:spLocks noChangeArrowheads="1"/>
            </p:cNvSpPr>
            <p:nvPr/>
          </p:nvSpPr>
          <p:spPr bwMode="auto">
            <a:xfrm>
              <a:off x="345" y="0"/>
              <a:ext cx="88" cy="87"/>
            </a:xfrm>
            <a:prstGeom prst="rect">
              <a:avLst/>
            </a:prstGeom>
            <a:solidFill>
              <a:schemeClr val="folHlink"/>
            </a:solidFill>
            <a:ln w="9525">
              <a:noFill/>
              <a:miter lim="800000"/>
              <a:headEnd/>
              <a:tailEnd/>
            </a:ln>
          </p:spPr>
          <p:txBody>
            <a:bodyPr/>
            <a:lstStyle/>
            <a:p>
              <a:pPr eaLnBrk="1" hangingPunct="1">
                <a:defRPr/>
              </a:pPr>
              <a:endParaRPr lang="en-US">
                <a:solidFill>
                  <a:schemeClr val="hlink"/>
                </a:solidFill>
                <a:latin typeface="Arial" charset="0"/>
              </a:endParaRPr>
            </a:p>
          </p:txBody>
        </p:sp>
        <p:sp>
          <p:nvSpPr>
            <p:cNvPr id="59401" name="Rectangle 9"/>
            <p:cNvSpPr>
              <a:spLocks noChangeArrowheads="1"/>
            </p:cNvSpPr>
            <p:nvPr/>
          </p:nvSpPr>
          <p:spPr bwMode="auto">
            <a:xfrm>
              <a:off x="345" y="85"/>
              <a:ext cx="88" cy="89"/>
            </a:xfrm>
            <a:prstGeom prst="rect">
              <a:avLst/>
            </a:prstGeom>
            <a:solidFill>
              <a:schemeClr val="accent2"/>
            </a:solidFill>
            <a:ln w="9525">
              <a:noFill/>
              <a:miter lim="800000"/>
              <a:headEnd/>
              <a:tailEnd/>
            </a:ln>
          </p:spPr>
          <p:txBody>
            <a:bodyPr/>
            <a:lstStyle/>
            <a:p>
              <a:pPr eaLnBrk="1" hangingPunct="1">
                <a:defRPr/>
              </a:pPr>
              <a:endParaRPr lang="en-US">
                <a:solidFill>
                  <a:schemeClr val="accent2"/>
                </a:solidFill>
                <a:latin typeface="Arial" charset="0"/>
              </a:endParaRPr>
            </a:p>
          </p:txBody>
        </p:sp>
        <p:sp>
          <p:nvSpPr>
            <p:cNvPr id="59402" name="Rectangle 10"/>
            <p:cNvSpPr>
              <a:spLocks noChangeArrowheads="1"/>
            </p:cNvSpPr>
            <p:nvPr/>
          </p:nvSpPr>
          <p:spPr bwMode="auto">
            <a:xfrm>
              <a:off x="173" y="173"/>
              <a:ext cx="86" cy="87"/>
            </a:xfrm>
            <a:prstGeom prst="rect">
              <a:avLst/>
            </a:prstGeom>
            <a:solidFill>
              <a:schemeClr val="folHlink"/>
            </a:solidFill>
            <a:ln w="9525">
              <a:noFill/>
              <a:miter lim="800000"/>
              <a:headEnd/>
              <a:tailEnd/>
            </a:ln>
          </p:spPr>
          <p:txBody>
            <a:bodyPr/>
            <a:lstStyle/>
            <a:p>
              <a:pPr eaLnBrk="1" hangingPunct="1">
                <a:defRPr/>
              </a:pPr>
              <a:endParaRPr lang="en-US">
                <a:solidFill>
                  <a:schemeClr val="hlink"/>
                </a:solidFill>
                <a:latin typeface="Arial" charset="0"/>
              </a:endParaRPr>
            </a:p>
          </p:txBody>
        </p:sp>
        <p:sp>
          <p:nvSpPr>
            <p:cNvPr id="59403" name="Rectangle 11"/>
            <p:cNvSpPr>
              <a:spLocks noChangeArrowheads="1"/>
            </p:cNvSpPr>
            <p:nvPr/>
          </p:nvSpPr>
          <p:spPr bwMode="auto">
            <a:xfrm>
              <a:off x="83" y="86"/>
              <a:ext cx="89" cy="87"/>
            </a:xfrm>
            <a:prstGeom prst="rect">
              <a:avLst/>
            </a:prstGeom>
            <a:solidFill>
              <a:schemeClr val="bg2"/>
            </a:solidFill>
            <a:ln w="9525">
              <a:noFill/>
              <a:miter lim="800000"/>
              <a:headEnd/>
              <a:tailEnd/>
            </a:ln>
          </p:spPr>
          <p:txBody>
            <a:bodyPr/>
            <a:lstStyle/>
            <a:p>
              <a:pPr eaLnBrk="1" hangingPunct="1">
                <a:defRPr/>
              </a:pPr>
              <a:endParaRPr lang="en-US" sz="2400">
                <a:latin typeface="Times New Roman" pitchFamily="18" charset="0"/>
              </a:endParaRPr>
            </a:p>
          </p:txBody>
        </p:sp>
        <p:sp>
          <p:nvSpPr>
            <p:cNvPr id="59404" name="Rectangle 12"/>
            <p:cNvSpPr>
              <a:spLocks noChangeArrowheads="1"/>
            </p:cNvSpPr>
            <p:nvPr/>
          </p:nvSpPr>
          <p:spPr bwMode="auto">
            <a:xfrm>
              <a:off x="258" y="171"/>
              <a:ext cx="87" cy="87"/>
            </a:xfrm>
            <a:prstGeom prst="rect">
              <a:avLst/>
            </a:prstGeom>
            <a:solidFill>
              <a:schemeClr val="accent2"/>
            </a:solidFill>
            <a:ln w="9525">
              <a:noFill/>
              <a:miter lim="800000"/>
              <a:headEnd/>
              <a:tailEnd/>
            </a:ln>
          </p:spPr>
          <p:txBody>
            <a:bodyPr/>
            <a:lstStyle/>
            <a:p>
              <a:pPr eaLnBrk="1" hangingPunct="1">
                <a:defRPr/>
              </a:pPr>
              <a:endParaRPr lang="en-US">
                <a:solidFill>
                  <a:schemeClr val="accent2"/>
                </a:solidFill>
                <a:latin typeface="Arial" charset="0"/>
              </a:endParaRPr>
            </a:p>
          </p:txBody>
        </p:sp>
        <p:sp>
          <p:nvSpPr>
            <p:cNvPr id="59405" name="Rectangle 13"/>
            <p:cNvSpPr>
              <a:spLocks noChangeArrowheads="1"/>
            </p:cNvSpPr>
            <p:nvPr/>
          </p:nvSpPr>
          <p:spPr bwMode="auto">
            <a:xfrm>
              <a:off x="173" y="258"/>
              <a:ext cx="86" cy="86"/>
            </a:xfrm>
            <a:prstGeom prst="rect">
              <a:avLst/>
            </a:prstGeom>
            <a:solidFill>
              <a:schemeClr val="accent2"/>
            </a:solidFill>
            <a:ln w="9525">
              <a:noFill/>
              <a:miter lim="800000"/>
              <a:headEnd/>
              <a:tailEnd/>
            </a:ln>
          </p:spPr>
          <p:txBody>
            <a:bodyPr/>
            <a:lstStyle/>
            <a:p>
              <a:pPr eaLnBrk="1" hangingPunct="1">
                <a:defRPr/>
              </a:pPr>
              <a:endParaRPr lang="en-US">
                <a:solidFill>
                  <a:schemeClr val="accent2"/>
                </a:solidFill>
                <a:latin typeface="Arial" charset="0"/>
              </a:endParaRPr>
            </a:p>
          </p:txBody>
        </p:sp>
      </p:grpSp>
      <p:sp>
        <p:nvSpPr>
          <p:cNvPr id="1029" name="Rectangle 14"/>
          <p:cNvSpPr>
            <a:spLocks noGrp="1" noChangeArrowheads="1"/>
          </p:cNvSpPr>
          <p:nvPr>
            <p:ph type="title"/>
          </p:nvPr>
        </p:nvSpPr>
        <p:spPr bwMode="auto">
          <a:xfrm>
            <a:off x="457200" y="457200"/>
            <a:ext cx="8229600" cy="13716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30" name="Rectangle 15"/>
          <p:cNvSpPr>
            <a:spLocks noGrp="1" noChangeArrowheads="1"/>
          </p:cNvSpPr>
          <p:nvPr>
            <p:ph type="body" idx="1"/>
          </p:nvPr>
        </p:nvSpPr>
        <p:spPr bwMode="auto">
          <a:xfrm>
            <a:off x="457200" y="1981200"/>
            <a:ext cx="8229600" cy="3886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9408" name="Rectangle 16"/>
          <p:cNvSpPr>
            <a:spLocks noGrp="1" noChangeArrowheads="1"/>
          </p:cNvSpPr>
          <p:nvPr>
            <p:ph type="dt" sz="half" idx="2"/>
          </p:nvPr>
        </p:nvSpPr>
        <p:spPr bwMode="auto">
          <a:xfrm>
            <a:off x="457200" y="6245225"/>
            <a:ext cx="2133600" cy="47625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a:latin typeface="Arial" charset="0"/>
              </a:defRPr>
            </a:lvl1pPr>
          </a:lstStyle>
          <a:p>
            <a:pPr>
              <a:defRPr/>
            </a:pPr>
            <a:endParaRPr lang="en-US"/>
          </a:p>
        </p:txBody>
      </p:sp>
    </p:spTree>
    <p:extLst>
      <p:ext uri="{BB962C8B-B14F-4D97-AF65-F5344CB8AC3E}">
        <p14:creationId xmlns:p14="http://schemas.microsoft.com/office/powerpoint/2010/main" xmlns="" val="406789666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xStyles>
    <p:titleStyle>
      <a:lvl1pPr algn="l" rtl="0" eaLnBrk="0" fontAlgn="base" hangingPunct="0">
        <a:spcBef>
          <a:spcPct val="0"/>
        </a:spcBef>
        <a:spcAft>
          <a:spcPct val="0"/>
        </a:spcAft>
        <a:defRPr sz="4400">
          <a:solidFill>
            <a:schemeClr val="tx1"/>
          </a:solidFill>
          <a:latin typeface="+mj-lt"/>
          <a:ea typeface="+mj-ea"/>
          <a:cs typeface="+mj-cs"/>
        </a:defRPr>
      </a:lvl1pPr>
      <a:lvl2pPr algn="l" rtl="0" eaLnBrk="0" fontAlgn="base" hangingPunct="0">
        <a:spcBef>
          <a:spcPct val="0"/>
        </a:spcBef>
        <a:spcAft>
          <a:spcPct val="0"/>
        </a:spcAft>
        <a:defRPr sz="4400">
          <a:solidFill>
            <a:schemeClr val="tx1"/>
          </a:solidFill>
          <a:latin typeface="Arial" charset="0"/>
        </a:defRPr>
      </a:lvl2pPr>
      <a:lvl3pPr algn="l" rtl="0" eaLnBrk="0" fontAlgn="base" hangingPunct="0">
        <a:spcBef>
          <a:spcPct val="0"/>
        </a:spcBef>
        <a:spcAft>
          <a:spcPct val="0"/>
        </a:spcAft>
        <a:defRPr sz="4400">
          <a:solidFill>
            <a:schemeClr val="tx1"/>
          </a:solidFill>
          <a:latin typeface="Arial" charset="0"/>
        </a:defRPr>
      </a:lvl3pPr>
      <a:lvl4pPr algn="l" rtl="0" eaLnBrk="0" fontAlgn="base" hangingPunct="0">
        <a:spcBef>
          <a:spcPct val="0"/>
        </a:spcBef>
        <a:spcAft>
          <a:spcPct val="0"/>
        </a:spcAft>
        <a:defRPr sz="4400">
          <a:solidFill>
            <a:schemeClr val="tx1"/>
          </a:solidFill>
          <a:latin typeface="Arial" charset="0"/>
        </a:defRPr>
      </a:lvl4pPr>
      <a:lvl5pPr algn="l" rtl="0" eaLnBrk="0" fontAlgn="base" hangingPunct="0">
        <a:spcBef>
          <a:spcPct val="0"/>
        </a:spcBef>
        <a:spcAft>
          <a:spcPct val="0"/>
        </a:spcAft>
        <a:defRPr sz="4400">
          <a:solidFill>
            <a:schemeClr val="tx1"/>
          </a:solidFill>
          <a:latin typeface="Arial" charset="0"/>
        </a:defRPr>
      </a:lvl5pPr>
      <a:lvl6pPr marL="457200" algn="l" rtl="0" fontAlgn="base">
        <a:spcBef>
          <a:spcPct val="0"/>
        </a:spcBef>
        <a:spcAft>
          <a:spcPct val="0"/>
        </a:spcAft>
        <a:defRPr sz="4400">
          <a:solidFill>
            <a:schemeClr val="tx1"/>
          </a:solidFill>
          <a:latin typeface="Arial" charset="0"/>
        </a:defRPr>
      </a:lvl6pPr>
      <a:lvl7pPr marL="914400" algn="l" rtl="0" fontAlgn="base">
        <a:spcBef>
          <a:spcPct val="0"/>
        </a:spcBef>
        <a:spcAft>
          <a:spcPct val="0"/>
        </a:spcAft>
        <a:defRPr sz="4400">
          <a:solidFill>
            <a:schemeClr val="tx1"/>
          </a:solidFill>
          <a:latin typeface="Arial" charset="0"/>
        </a:defRPr>
      </a:lvl7pPr>
      <a:lvl8pPr marL="1371600" algn="l" rtl="0" fontAlgn="base">
        <a:spcBef>
          <a:spcPct val="0"/>
        </a:spcBef>
        <a:spcAft>
          <a:spcPct val="0"/>
        </a:spcAft>
        <a:defRPr sz="4400">
          <a:solidFill>
            <a:schemeClr val="tx1"/>
          </a:solidFill>
          <a:latin typeface="Arial" charset="0"/>
        </a:defRPr>
      </a:lvl8pPr>
      <a:lvl9pPr marL="1828800" algn="l" rtl="0" fontAlgn="base">
        <a:spcBef>
          <a:spcPct val="0"/>
        </a:spcBef>
        <a:spcAft>
          <a:spcPct val="0"/>
        </a:spcAft>
        <a:defRPr sz="4400">
          <a:solidFill>
            <a:schemeClr val="tx1"/>
          </a:solidFill>
          <a:latin typeface="Arial" charset="0"/>
        </a:defRPr>
      </a:lvl9pPr>
    </p:titleStyle>
    <p:bodyStyle>
      <a:lvl1pPr marL="342900" indent="-342900" algn="l" rtl="0" eaLnBrk="0" fontAlgn="base" hangingPunct="0">
        <a:spcBef>
          <a:spcPct val="20000"/>
        </a:spcBef>
        <a:spcAft>
          <a:spcPct val="0"/>
        </a:spcAft>
        <a:buClr>
          <a:schemeClr val="bg2"/>
        </a:buClr>
        <a:buSzPct val="75000"/>
        <a:buFont typeface="Wingdings"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itchFamily="2" charset="2"/>
        <a:buChar char="¨"/>
        <a:defRPr sz="2800">
          <a:solidFill>
            <a:schemeClr val="tx1"/>
          </a:solidFill>
          <a:latin typeface="+mn-lt"/>
        </a:defRPr>
      </a:lvl2pPr>
      <a:lvl3pPr marL="1143000" indent="-228600" algn="l" rtl="0" eaLnBrk="0" fontAlgn="base" hangingPunct="0">
        <a:spcBef>
          <a:spcPct val="20000"/>
        </a:spcBef>
        <a:spcAft>
          <a:spcPct val="0"/>
        </a:spcAft>
        <a:buClr>
          <a:schemeClr val="bg2"/>
        </a:buClr>
        <a:buSzPct val="65000"/>
        <a:buFont typeface="Wingdings"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70000"/>
        <a:buFont typeface="Wingdings" pitchFamily="2" charset="2"/>
        <a:buChar char="¨"/>
        <a:defRPr sz="2000">
          <a:solidFill>
            <a:schemeClr val="tx1"/>
          </a:solidFill>
          <a:latin typeface="+mn-lt"/>
        </a:defRPr>
      </a:lvl4pPr>
      <a:lvl5pPr marL="2057400" indent="-228600" algn="l" rtl="0" eaLnBrk="0" fontAlgn="base" hangingPunct="0">
        <a:spcBef>
          <a:spcPct val="20000"/>
        </a:spcBef>
        <a:spcAft>
          <a:spcPct val="0"/>
        </a:spcAft>
        <a:buClr>
          <a:schemeClr val="bg2"/>
        </a:buClr>
        <a:buFont typeface="Wingdings" pitchFamily="2" charset="2"/>
        <a:buChar char="§"/>
        <a:defRPr sz="2000">
          <a:solidFill>
            <a:schemeClr val="tx1"/>
          </a:solidFill>
          <a:latin typeface="+mn-lt"/>
        </a:defRPr>
      </a:lvl5pPr>
      <a:lvl6pPr marL="2514600" indent="-228600" algn="l" rtl="0" fontAlgn="base">
        <a:spcBef>
          <a:spcPct val="20000"/>
        </a:spcBef>
        <a:spcAft>
          <a:spcPct val="0"/>
        </a:spcAft>
        <a:buClr>
          <a:schemeClr val="bg2"/>
        </a:buClr>
        <a:buFont typeface="Wingdings" pitchFamily="2" charset="2"/>
        <a:buChar char="§"/>
        <a:defRPr sz="2000">
          <a:solidFill>
            <a:schemeClr val="tx1"/>
          </a:solidFill>
          <a:latin typeface="+mn-lt"/>
        </a:defRPr>
      </a:lvl6pPr>
      <a:lvl7pPr marL="2971800" indent="-228600" algn="l" rtl="0" fontAlgn="base">
        <a:spcBef>
          <a:spcPct val="20000"/>
        </a:spcBef>
        <a:spcAft>
          <a:spcPct val="0"/>
        </a:spcAft>
        <a:buClr>
          <a:schemeClr val="bg2"/>
        </a:buClr>
        <a:buFont typeface="Wingdings" pitchFamily="2" charset="2"/>
        <a:buChar char="§"/>
        <a:defRPr sz="2000">
          <a:solidFill>
            <a:schemeClr val="tx1"/>
          </a:solidFill>
          <a:latin typeface="+mn-lt"/>
        </a:defRPr>
      </a:lvl7pPr>
      <a:lvl8pPr marL="3429000" indent="-228600" algn="l" rtl="0" fontAlgn="base">
        <a:spcBef>
          <a:spcPct val="20000"/>
        </a:spcBef>
        <a:spcAft>
          <a:spcPct val="0"/>
        </a:spcAft>
        <a:buClr>
          <a:schemeClr val="bg2"/>
        </a:buClr>
        <a:buFont typeface="Wingdings" pitchFamily="2" charset="2"/>
        <a:buChar char="§"/>
        <a:defRPr sz="2000">
          <a:solidFill>
            <a:schemeClr val="tx1"/>
          </a:solidFill>
          <a:latin typeface="+mn-lt"/>
        </a:defRPr>
      </a:lvl8pPr>
      <a:lvl9pPr marL="3886200" indent="-228600" algn="l" rtl="0" fontAlgn="base">
        <a:spcBef>
          <a:spcPct val="20000"/>
        </a:spcBef>
        <a:spcAft>
          <a:spcPct val="0"/>
        </a:spcAft>
        <a:buClr>
          <a:schemeClr val="bg2"/>
        </a:buClr>
        <a:buFont typeface="Wingdings" pitchFamily="2" charset="2"/>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1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13.xml"/></Relationships>
</file>

<file path=ppt/slides/_rels/slide46.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13.xml"/></Relationships>
</file>

<file path=ppt/slides/_rels/slide47.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13.xml"/></Relationships>
</file>

<file path=ppt/slides/_rels/slide48.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13.xml"/></Relationships>
</file>

<file path=ppt/slides/_rels/slide50.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13.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2.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13.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13.xml"/></Relationships>
</file>

<file path=ppt/slides/_rels/slide55.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13.xml"/><Relationship Id="rId5" Type="http://schemas.openxmlformats.org/officeDocument/2006/relationships/image" Target="../media/image53.png"/><Relationship Id="rId4" Type="http://schemas.openxmlformats.org/officeDocument/2006/relationships/image" Target="../media/image52.png"/></Relationships>
</file>

<file path=ppt/slides/_rels/slide56.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13.xml"/></Relationships>
</file>

<file path=ppt/slides/_rels/slide57.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2.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13.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5.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13.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0.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13.xml"/></Relationships>
</file>

<file path=ppt/slides/_rels/slide71.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13.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9.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13.xml"/></Relationships>
</file>

<file path=ppt/slides/_rels/slide80.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13.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395868" y="678252"/>
            <a:ext cx="8416290" cy="1143000"/>
          </a:xfrm>
        </p:spPr>
        <p:txBody>
          <a:bodyPr>
            <a:normAutofit fontScale="90000"/>
          </a:bodyPr>
          <a:lstStyle/>
          <a:p>
            <a:r>
              <a:rPr lang="en-US" dirty="0"/>
              <a:t/>
            </a:r>
            <a:br>
              <a:rPr lang="en-US" dirty="0"/>
            </a:br>
            <a:r>
              <a:rPr lang="en-US" b="1" dirty="0">
                <a:solidFill>
                  <a:schemeClr val="accent1"/>
                </a:solidFill>
              </a:rPr>
              <a:t>SPPU BE E&amp;TC FDP </a:t>
            </a:r>
            <a:r>
              <a:rPr lang="en-US" dirty="0">
                <a:gradFill>
                  <a:gsLst>
                    <a:gs pos="0">
                      <a:srgbClr val="007BD3"/>
                    </a:gs>
                    <a:gs pos="100000">
                      <a:srgbClr val="034373"/>
                    </a:gs>
                  </a:gsLst>
                  <a:lin scaled="0"/>
                </a:gradFill>
              </a:rPr>
              <a:t/>
            </a:r>
            <a:br>
              <a:rPr lang="en-US" dirty="0">
                <a:gradFill>
                  <a:gsLst>
                    <a:gs pos="0">
                      <a:srgbClr val="007BD3"/>
                    </a:gs>
                    <a:gs pos="100000">
                      <a:srgbClr val="034373"/>
                    </a:gs>
                  </a:gsLst>
                  <a:lin scaled="0"/>
                </a:gradFill>
              </a:rPr>
            </a:br>
            <a:r>
              <a:rPr lang="en-US" dirty="0">
                <a:gradFill>
                  <a:gsLst>
                    <a:gs pos="0">
                      <a:srgbClr val="007BD3"/>
                    </a:gs>
                    <a:gs pos="100000">
                      <a:srgbClr val="034373"/>
                    </a:gs>
                  </a:gsLst>
                  <a:lin scaled="0"/>
                </a:gradFill>
              </a:rPr>
              <a:t/>
            </a:r>
            <a:br>
              <a:rPr lang="en-US" dirty="0">
                <a:gradFill>
                  <a:gsLst>
                    <a:gs pos="0">
                      <a:srgbClr val="007BD3"/>
                    </a:gs>
                    <a:gs pos="100000">
                      <a:srgbClr val="034373"/>
                    </a:gs>
                  </a:gsLst>
                  <a:lin scaled="0"/>
                </a:gradFill>
              </a:rPr>
            </a:br>
            <a:r>
              <a:rPr lang="en-US" dirty="0"/>
              <a:t/>
            </a:r>
            <a:br>
              <a:rPr lang="en-US" dirty="0"/>
            </a:br>
            <a:endParaRPr lang="en-IN" altLang="en-US" dirty="0">
              <a:gradFill>
                <a:gsLst>
                  <a:gs pos="0">
                    <a:srgbClr val="E30000"/>
                  </a:gs>
                  <a:gs pos="100000">
                    <a:srgbClr val="760303"/>
                  </a:gs>
                </a:gsLst>
                <a:lin scaled="0"/>
              </a:gradFill>
            </a:endParaRPr>
          </a:p>
        </p:txBody>
      </p:sp>
      <p:pic>
        <p:nvPicPr>
          <p:cNvPr id="1026" name="Picture 2" descr="C:\Users\Vishal2194\AppData\Local\Microsoft\Windows\INetCache\IE\JY65SNU7\bouquet_by_kmygraphic-d8vp1lf[1].png"/>
          <p:cNvPicPr>
            <a:picLocks noChangeAspect="1" noChangeArrowheads="1"/>
          </p:cNvPicPr>
          <p:nvPr/>
        </p:nvPicPr>
        <p:blipFill>
          <a:blip r:embed="rId2" cstate="print"/>
          <a:srcRect/>
          <a:stretch>
            <a:fillRect/>
          </a:stretch>
        </p:blipFill>
        <p:spPr bwMode="auto">
          <a:xfrm>
            <a:off x="0" y="4585249"/>
            <a:ext cx="2057400" cy="2298771"/>
          </a:xfrm>
          <a:prstGeom prst="rect">
            <a:avLst/>
          </a:prstGeom>
          <a:noFill/>
        </p:spPr>
      </p:pic>
      <p:sp>
        <p:nvSpPr>
          <p:cNvPr id="8" name="Title 1"/>
          <p:cNvSpPr txBox="1"/>
          <p:nvPr/>
        </p:nvSpPr>
        <p:spPr>
          <a:xfrm>
            <a:off x="381000" y="6125336"/>
            <a:ext cx="3124200" cy="411162"/>
          </a:xfrm>
          <a:prstGeom prst="rect">
            <a:avLst/>
          </a:prstGeom>
        </p:spPr>
        <p:txBody>
          <a:bodyPr vert="horz" lIns="91440" tIns="45720" rIns="91440" bIns="45720" rtlCol="0" anchor="ctr">
            <a:normAutofit fontScale="55000" lnSpcReduction="20000"/>
          </a:bodyPr>
          <a:lstStyle/>
          <a:p>
            <a:pPr marL="0" marR="0" lvl="0" indent="0" algn="ctr" defTabSz="914400" rtl="0" eaLnBrk="1" fontAlgn="auto" latinLnBrk="0" hangingPunct="1">
              <a:lnSpc>
                <a:spcPct val="100000"/>
              </a:lnSpc>
              <a:spcBef>
                <a:spcPct val="0"/>
              </a:spcBef>
              <a:spcAft>
                <a:spcPts val="0"/>
              </a:spcAft>
              <a:buClrTx/>
              <a:buSzTx/>
              <a:buFontTx/>
              <a:buNone/>
              <a:defRPr/>
            </a:pPr>
            <a:endParaRPr kumimoji="0" lang="en-US" sz="4400" b="0" i="0" u="none" strike="noStrike" kern="1200" cap="none" spc="0" normalizeH="0" baseline="0" noProof="0" dirty="0">
              <a:ln>
                <a:noFill/>
              </a:ln>
              <a:solidFill>
                <a:srgbClr val="00B0F0"/>
              </a:solidFill>
              <a:effectLst/>
              <a:uLnTx/>
              <a:uFillTx/>
              <a:latin typeface="+mj-lt"/>
              <a:ea typeface="+mj-ea"/>
              <a:cs typeface="+mj-cs"/>
            </a:endParaRPr>
          </a:p>
        </p:txBody>
      </p:sp>
      <p:pic>
        <p:nvPicPr>
          <p:cNvPr id="2050" name="Picture 1" descr="F:\ \prathamesh  DATA\College Logo.jpg"/>
          <p:cNvPicPr>
            <a:picLocks noChangeAspect="1" noChangeArrowheads="1"/>
          </p:cNvPicPr>
          <p:nvPr/>
        </p:nvPicPr>
        <p:blipFill>
          <a:blip r:embed="rId3"/>
          <a:srcRect/>
          <a:stretch>
            <a:fillRect/>
          </a:stretch>
        </p:blipFill>
        <p:spPr bwMode="auto">
          <a:xfrm>
            <a:off x="35312" y="297161"/>
            <a:ext cx="1828800" cy="1656550"/>
          </a:xfrm>
          <a:prstGeom prst="rect">
            <a:avLst/>
          </a:prstGeom>
          <a:noFill/>
          <a:ln w="9525">
            <a:noFill/>
            <a:miter lim="800000"/>
            <a:headEnd/>
            <a:tailEnd/>
          </a:ln>
        </p:spPr>
      </p:pic>
      <p:pic>
        <p:nvPicPr>
          <p:cNvPr id="7" name="Picture 6">
            <a:extLst>
              <a:ext uri="{FF2B5EF4-FFF2-40B4-BE49-F238E27FC236}">
                <a16:creationId xmlns:a16="http://schemas.microsoft.com/office/drawing/2014/main" xmlns="" id="{717C8B35-226B-9BB2-0085-56F680517423}"/>
              </a:ext>
            </a:extLst>
          </p:cNvPr>
          <p:cNvPicPr>
            <a:picLocks noChangeAspect="1"/>
          </p:cNvPicPr>
          <p:nvPr/>
        </p:nvPicPr>
        <p:blipFill>
          <a:blip r:embed="rId4"/>
          <a:stretch>
            <a:fillRect/>
          </a:stretch>
        </p:blipFill>
        <p:spPr>
          <a:xfrm>
            <a:off x="395868" y="2060402"/>
            <a:ext cx="8763000" cy="1858103"/>
          </a:xfrm>
          <a:prstGeom prst="rect">
            <a:avLst/>
          </a:prstGeom>
        </p:spPr>
      </p:pic>
      <p:pic>
        <p:nvPicPr>
          <p:cNvPr id="10" name="Picture 9">
            <a:extLst>
              <a:ext uri="{FF2B5EF4-FFF2-40B4-BE49-F238E27FC236}">
                <a16:creationId xmlns:a16="http://schemas.microsoft.com/office/drawing/2014/main" xmlns="" id="{A804892C-8A35-9EAE-9466-241B2770F695}"/>
              </a:ext>
            </a:extLst>
          </p:cNvPr>
          <p:cNvPicPr>
            <a:picLocks noChangeAspect="1"/>
          </p:cNvPicPr>
          <p:nvPr/>
        </p:nvPicPr>
        <p:blipFill>
          <a:blip r:embed="rId5"/>
          <a:stretch>
            <a:fillRect/>
          </a:stretch>
        </p:blipFill>
        <p:spPr>
          <a:xfrm>
            <a:off x="7181850" y="378214"/>
            <a:ext cx="1962150" cy="1443038"/>
          </a:xfrm>
          <a:prstGeom prst="rect">
            <a:avLst/>
          </a:prstGeom>
        </p:spPr>
      </p:pic>
      <p:sp>
        <p:nvSpPr>
          <p:cNvPr id="15" name="Title 1">
            <a:extLst>
              <a:ext uri="{FF2B5EF4-FFF2-40B4-BE49-F238E27FC236}">
                <a16:creationId xmlns:a16="http://schemas.microsoft.com/office/drawing/2014/main" xmlns="" id="{4A5AA81B-A410-8457-6CAF-D6FA049033D1}"/>
              </a:ext>
            </a:extLst>
          </p:cNvPr>
          <p:cNvSpPr txBox="1">
            <a:spLocks/>
          </p:cNvSpPr>
          <p:nvPr/>
        </p:nvSpPr>
        <p:spPr>
          <a:xfrm>
            <a:off x="61332" y="4887092"/>
            <a:ext cx="8416290" cy="1143000"/>
          </a:xfrm>
          <a:prstGeom prst="rect">
            <a:avLst/>
          </a:prstGeom>
        </p:spPr>
        <p:txBody>
          <a:bodyPr vert="horz" lIns="91440" tIns="45720" rIns="91440" bIns="45720" rtlCol="0" anchor="ctr">
            <a:normAutofit fontScale="250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dirty="0"/>
              <a:t/>
            </a:r>
            <a:br>
              <a:rPr lang="en-US" dirty="0"/>
            </a:br>
            <a:r>
              <a:rPr lang="en-US" sz="9600" b="1" dirty="0">
                <a:solidFill>
                  <a:schemeClr val="accent3">
                    <a:lumMod val="50000"/>
                  </a:schemeClr>
                </a:solidFill>
              </a:rPr>
              <a:t>By Dr Vilas V Deotare</a:t>
            </a:r>
          </a:p>
          <a:p>
            <a:r>
              <a:rPr lang="en-US" sz="9600" b="1" dirty="0">
                <a:solidFill>
                  <a:schemeClr val="accent3">
                    <a:lumMod val="50000"/>
                  </a:schemeClr>
                </a:solidFill>
              </a:rPr>
              <a:t>Prof. and Head E&amp;TC</a:t>
            </a:r>
          </a:p>
          <a:p>
            <a:r>
              <a:rPr lang="en-US" sz="9600" b="1" dirty="0">
                <a:solidFill>
                  <a:schemeClr val="accent3">
                    <a:lumMod val="50000"/>
                  </a:schemeClr>
                </a:solidFill>
              </a:rPr>
              <a:t>                         Nutan Maharashtra Institute of Engineering and Technology (NMIET)</a:t>
            </a:r>
            <a:br>
              <a:rPr lang="en-US" sz="9600" b="1" dirty="0">
                <a:solidFill>
                  <a:schemeClr val="accent3">
                    <a:lumMod val="50000"/>
                  </a:schemeClr>
                </a:solidFill>
              </a:rPr>
            </a:br>
            <a:endParaRPr lang="en-IN" altLang="en-US" sz="9600" b="1" dirty="0">
              <a:solidFill>
                <a:schemeClr val="accent3">
                  <a:lumMod val="50000"/>
                </a:schemeClr>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Unit 2</a:t>
            </a:r>
            <a:endParaRPr lang="en-US" dirty="0"/>
          </a:p>
        </p:txBody>
      </p:sp>
      <p:sp>
        <p:nvSpPr>
          <p:cNvPr id="3" name="Content Placeholder 2"/>
          <p:cNvSpPr>
            <a:spLocks noGrp="1"/>
          </p:cNvSpPr>
          <p:nvPr>
            <p:ph idx="1"/>
          </p:nvPr>
        </p:nvSpPr>
        <p:spPr/>
        <p:txBody>
          <a:bodyPr/>
          <a:lstStyle/>
          <a:p>
            <a:pPr algn="ctr">
              <a:buNone/>
            </a:pPr>
            <a:r>
              <a:rPr lang="en-IN" b="1" dirty="0"/>
              <a:t>Digital Design and Issues</a:t>
            </a:r>
            <a:endParaRPr lang="en-US" b="1" dirty="0"/>
          </a:p>
        </p:txBody>
      </p:sp>
      <p:pic>
        <p:nvPicPr>
          <p:cNvPr id="1026" name="Picture 2"/>
          <p:cNvPicPr>
            <a:picLocks noChangeAspect="1" noChangeArrowheads="1"/>
          </p:cNvPicPr>
          <p:nvPr/>
        </p:nvPicPr>
        <p:blipFill>
          <a:blip r:embed="rId2"/>
          <a:srcRect/>
          <a:stretch>
            <a:fillRect/>
          </a:stretch>
        </p:blipFill>
        <p:spPr bwMode="auto">
          <a:xfrm>
            <a:off x="685800" y="4876800"/>
            <a:ext cx="7829550" cy="1257300"/>
          </a:xfrm>
          <a:prstGeom prst="rect">
            <a:avLst/>
          </a:prstGeom>
          <a:noFill/>
          <a:ln w="9525">
            <a:noFill/>
            <a:miter lim="800000"/>
            <a:headEnd/>
            <a:tailEnd/>
          </a:ln>
          <a:effec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Need of State Machines</a:t>
            </a:r>
          </a:p>
        </p:txBody>
      </p:sp>
      <p:sp>
        <p:nvSpPr>
          <p:cNvPr id="3" name="Content Placeholder 2"/>
          <p:cNvSpPr>
            <a:spLocks noGrp="1"/>
          </p:cNvSpPr>
          <p:nvPr>
            <p:ph idx="1"/>
          </p:nvPr>
        </p:nvSpPr>
        <p:spPr/>
        <p:txBody>
          <a:bodyPr/>
          <a:lstStyle/>
          <a:p>
            <a:pPr marL="514350" indent="-514350">
              <a:buAutoNum type="arabicParenR"/>
            </a:pPr>
            <a:r>
              <a:rPr lang="en-US" dirty="0"/>
              <a:t>In combinational circuits, Kmap is used to minimize no of gates required to implement a logic function.</a:t>
            </a:r>
          </a:p>
          <a:p>
            <a:pPr marL="514350" indent="-514350">
              <a:buAutoNum type="arabicParenR"/>
            </a:pPr>
            <a:r>
              <a:rPr lang="en-US" dirty="0"/>
              <a:t>In sequential Circuits, State machine plays the same role :it minimizes no of flip flops.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State Diagram</a:t>
            </a:r>
          </a:p>
        </p:txBody>
      </p:sp>
      <p:sp>
        <p:nvSpPr>
          <p:cNvPr id="3" name="Content Placeholder 2"/>
          <p:cNvSpPr>
            <a:spLocks noGrp="1"/>
          </p:cNvSpPr>
          <p:nvPr>
            <p:ph idx="1"/>
          </p:nvPr>
        </p:nvSpPr>
        <p:spPr>
          <a:xfrm>
            <a:off x="457200" y="1600200"/>
            <a:ext cx="3962400" cy="4525963"/>
          </a:xfrm>
        </p:spPr>
        <p:txBody>
          <a:bodyPr>
            <a:normAutofit fontScale="55000" lnSpcReduction="20000"/>
          </a:bodyPr>
          <a:lstStyle/>
          <a:p>
            <a:pPr marL="514350" indent="-514350">
              <a:buAutoNum type="arabicParenR"/>
            </a:pPr>
            <a:r>
              <a:rPr lang="en-US" dirty="0"/>
              <a:t>Behavior of a sequential circuits can be described in different ways. The simplest method uses pictorial representation known as state diagram.</a:t>
            </a:r>
          </a:p>
          <a:p>
            <a:pPr marL="514350" indent="-514350">
              <a:buAutoNum type="arabicParenR"/>
            </a:pPr>
            <a:r>
              <a:rPr lang="en-US" dirty="0"/>
              <a:t>In state diagram, the states of the circuits are shown as nodes or circles &amp; the transitions between states are shown as arcs.</a:t>
            </a:r>
          </a:p>
          <a:p>
            <a:pPr marL="514350" indent="-514350">
              <a:buAutoNum type="arabicParenR"/>
            </a:pPr>
            <a:r>
              <a:rPr lang="en-US" dirty="0"/>
              <a:t> e.g. Consider the design of sequential circuit with following conditions</a:t>
            </a:r>
          </a:p>
          <a:p>
            <a:pPr marL="514350" indent="-514350">
              <a:buNone/>
            </a:pPr>
            <a:r>
              <a:rPr lang="en-US" dirty="0"/>
              <a:t>       </a:t>
            </a:r>
            <a:r>
              <a:rPr lang="en-US" dirty="0" err="1"/>
              <a:t>i</a:t>
            </a:r>
            <a:r>
              <a:rPr lang="en-US" dirty="0"/>
              <a:t>) The circuit has single input W and single output Z</a:t>
            </a:r>
          </a:p>
          <a:p>
            <a:pPr marL="514350" indent="-514350">
              <a:buNone/>
            </a:pPr>
            <a:r>
              <a:rPr lang="en-US" dirty="0"/>
              <a:t>      ii) If two successive clock pulses, I/P W is 1 and then the O/P Z is 1. Otherwise it is 0.</a:t>
            </a:r>
          </a:p>
          <a:p>
            <a:pPr marL="514350" indent="-514350">
              <a:buNone/>
            </a:pPr>
            <a:endParaRPr lang="en-US" dirty="0"/>
          </a:p>
        </p:txBody>
      </p:sp>
      <p:pic>
        <p:nvPicPr>
          <p:cNvPr id="1026" name="Picture 2"/>
          <p:cNvPicPr>
            <a:picLocks noChangeAspect="1" noChangeArrowheads="1"/>
          </p:cNvPicPr>
          <p:nvPr/>
        </p:nvPicPr>
        <p:blipFill>
          <a:blip r:embed="rId2"/>
          <a:srcRect/>
          <a:stretch>
            <a:fillRect/>
          </a:stretch>
        </p:blipFill>
        <p:spPr bwMode="auto">
          <a:xfrm>
            <a:off x="5334000" y="1143000"/>
            <a:ext cx="3628290" cy="2052637"/>
          </a:xfrm>
          <a:prstGeom prst="rect">
            <a:avLst/>
          </a:prstGeom>
          <a:noFill/>
          <a:ln w="9525">
            <a:noFill/>
            <a:miter lim="800000"/>
            <a:headEnd/>
            <a:tailEnd/>
          </a:ln>
          <a:effectLst/>
        </p:spPr>
      </p:pic>
      <p:pic>
        <p:nvPicPr>
          <p:cNvPr id="1027" name="Picture 3"/>
          <p:cNvPicPr>
            <a:picLocks noChangeAspect="1" noChangeArrowheads="1"/>
          </p:cNvPicPr>
          <p:nvPr/>
        </p:nvPicPr>
        <p:blipFill>
          <a:blip r:embed="rId3"/>
          <a:srcRect/>
          <a:stretch>
            <a:fillRect/>
          </a:stretch>
        </p:blipFill>
        <p:spPr bwMode="auto">
          <a:xfrm>
            <a:off x="6400800" y="3276600"/>
            <a:ext cx="2114550" cy="2438400"/>
          </a:xfrm>
          <a:prstGeom prst="rect">
            <a:avLst/>
          </a:prstGeom>
          <a:noFill/>
          <a:ln w="9525">
            <a:noFill/>
            <a:miter lim="800000"/>
            <a:headEnd/>
            <a:tailEnd/>
          </a:ln>
          <a:effectLst/>
        </p:spPr>
      </p:pic>
      <p:sp>
        <p:nvSpPr>
          <p:cNvPr id="6" name="TextBox 5"/>
          <p:cNvSpPr txBox="1"/>
          <p:nvPr/>
        </p:nvSpPr>
        <p:spPr>
          <a:xfrm>
            <a:off x="6934200" y="838200"/>
            <a:ext cx="1238672" cy="369332"/>
          </a:xfrm>
          <a:prstGeom prst="rect">
            <a:avLst/>
          </a:prstGeom>
          <a:noFill/>
        </p:spPr>
        <p:txBody>
          <a:bodyPr wrap="none" rtlCol="0">
            <a:spAutoFit/>
          </a:bodyPr>
          <a:lstStyle/>
          <a:p>
            <a:r>
              <a:rPr lang="en-IN" dirty="0">
                <a:solidFill>
                  <a:srgbClr val="FF0000"/>
                </a:solidFill>
              </a:rPr>
              <a:t>Moore m/c</a:t>
            </a:r>
            <a:endParaRPr lang="en-US" dirty="0">
              <a:solidFill>
                <a:srgbClr val="FF0000"/>
              </a:solidFill>
            </a:endParaRPr>
          </a:p>
        </p:txBody>
      </p:sp>
      <p:sp>
        <p:nvSpPr>
          <p:cNvPr id="7" name="TextBox 6"/>
          <p:cNvSpPr txBox="1"/>
          <p:nvPr/>
        </p:nvSpPr>
        <p:spPr>
          <a:xfrm>
            <a:off x="6781800" y="5867400"/>
            <a:ext cx="1185581" cy="369332"/>
          </a:xfrm>
          <a:prstGeom prst="rect">
            <a:avLst/>
          </a:prstGeom>
          <a:noFill/>
        </p:spPr>
        <p:txBody>
          <a:bodyPr wrap="none" rtlCol="0">
            <a:spAutoFit/>
          </a:bodyPr>
          <a:lstStyle/>
          <a:p>
            <a:r>
              <a:rPr lang="en-IN" dirty="0">
                <a:solidFill>
                  <a:srgbClr val="FF0000"/>
                </a:solidFill>
              </a:rPr>
              <a:t>Mealy m/c</a:t>
            </a:r>
            <a:endParaRPr lang="en-US" dirty="0">
              <a:solidFill>
                <a:srgbClr val="FF0000"/>
              </a:solidFill>
            </a:endParaRPr>
          </a:p>
        </p:txBody>
      </p:sp>
      <p:cxnSp>
        <p:nvCxnSpPr>
          <p:cNvPr id="9" name="Straight Arrow Connector 8"/>
          <p:cNvCxnSpPr/>
          <p:nvPr/>
        </p:nvCxnSpPr>
        <p:spPr>
          <a:xfrm rot="5400000" flipH="1" flipV="1">
            <a:off x="5715000" y="3048000"/>
            <a:ext cx="1066800" cy="10668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0" name="TextBox 9"/>
          <p:cNvSpPr txBox="1"/>
          <p:nvPr/>
        </p:nvSpPr>
        <p:spPr>
          <a:xfrm>
            <a:off x="5410200" y="3581400"/>
            <a:ext cx="1106585" cy="369332"/>
          </a:xfrm>
          <a:prstGeom prst="rect">
            <a:avLst/>
          </a:prstGeom>
          <a:noFill/>
        </p:spPr>
        <p:txBody>
          <a:bodyPr wrap="none" rtlCol="0">
            <a:spAutoFit/>
          </a:bodyPr>
          <a:lstStyle/>
          <a:p>
            <a:r>
              <a:rPr lang="en-IN" dirty="0"/>
              <a:t>Traditions</a:t>
            </a:r>
            <a:endParaRPr lang="en-US" dirty="0"/>
          </a:p>
        </p:txBody>
      </p:sp>
      <p:cxnSp>
        <p:nvCxnSpPr>
          <p:cNvPr id="12" name="Straight Arrow Connector 11"/>
          <p:cNvCxnSpPr/>
          <p:nvPr/>
        </p:nvCxnSpPr>
        <p:spPr>
          <a:xfrm flipV="1">
            <a:off x="5105400" y="1752600"/>
            <a:ext cx="1066800" cy="76200"/>
          </a:xfrm>
          <a:prstGeom prst="straightConnector1">
            <a:avLst/>
          </a:prstGeom>
          <a:ln>
            <a:tailEnd type="arrow"/>
          </a:ln>
        </p:spPr>
        <p:style>
          <a:lnRef idx="3">
            <a:schemeClr val="accent2"/>
          </a:lnRef>
          <a:fillRef idx="0">
            <a:schemeClr val="accent2"/>
          </a:fillRef>
          <a:effectRef idx="2">
            <a:schemeClr val="accent2"/>
          </a:effectRef>
          <a:fontRef idx="minor">
            <a:schemeClr val="tx1"/>
          </a:fontRef>
        </p:style>
      </p:cxnSp>
      <p:cxnSp>
        <p:nvCxnSpPr>
          <p:cNvPr id="14" name="Straight Arrow Connector 13"/>
          <p:cNvCxnSpPr/>
          <p:nvPr/>
        </p:nvCxnSpPr>
        <p:spPr>
          <a:xfrm>
            <a:off x="5257800" y="1371600"/>
            <a:ext cx="914400" cy="1588"/>
          </a:xfrm>
          <a:prstGeom prst="straightConnector1">
            <a:avLst/>
          </a:prstGeom>
          <a:ln>
            <a:tailEnd type="arrow"/>
          </a:ln>
        </p:spPr>
        <p:style>
          <a:lnRef idx="3">
            <a:schemeClr val="accent1"/>
          </a:lnRef>
          <a:fillRef idx="0">
            <a:schemeClr val="accent1"/>
          </a:fillRef>
          <a:effectRef idx="2">
            <a:schemeClr val="accent1"/>
          </a:effectRef>
          <a:fontRef idx="minor">
            <a:schemeClr val="tx1"/>
          </a:fontRef>
        </p:style>
      </p:cxnSp>
      <p:sp>
        <p:nvSpPr>
          <p:cNvPr id="16" name="TextBox 15"/>
          <p:cNvSpPr txBox="1"/>
          <p:nvPr/>
        </p:nvSpPr>
        <p:spPr>
          <a:xfrm>
            <a:off x="4419600" y="1066800"/>
            <a:ext cx="1248034" cy="369332"/>
          </a:xfrm>
          <a:prstGeom prst="rect">
            <a:avLst/>
          </a:prstGeom>
          <a:noFill/>
        </p:spPr>
        <p:txBody>
          <a:bodyPr wrap="none" rtlCol="0">
            <a:spAutoFit/>
          </a:bodyPr>
          <a:lstStyle/>
          <a:p>
            <a:r>
              <a:rPr lang="en-IN" dirty="0"/>
              <a:t>State name</a:t>
            </a:r>
            <a:endParaRPr lang="en-US" dirty="0"/>
          </a:p>
        </p:txBody>
      </p:sp>
      <p:sp>
        <p:nvSpPr>
          <p:cNvPr id="17" name="TextBox 16"/>
          <p:cNvSpPr txBox="1"/>
          <p:nvPr/>
        </p:nvSpPr>
        <p:spPr>
          <a:xfrm>
            <a:off x="4495800" y="1828800"/>
            <a:ext cx="856325" cy="369332"/>
          </a:xfrm>
          <a:prstGeom prst="rect">
            <a:avLst/>
          </a:prstGeom>
          <a:noFill/>
        </p:spPr>
        <p:txBody>
          <a:bodyPr wrap="none" rtlCol="0">
            <a:spAutoFit/>
          </a:bodyPr>
          <a:lstStyle/>
          <a:p>
            <a:r>
              <a:rPr lang="en-IN" dirty="0"/>
              <a:t>Output</a:t>
            </a:r>
            <a:endParaRPr lang="en-US" dirty="0"/>
          </a:p>
        </p:txBody>
      </p:sp>
      <p:cxnSp>
        <p:nvCxnSpPr>
          <p:cNvPr id="19" name="Straight Arrow Connector 18"/>
          <p:cNvCxnSpPr/>
          <p:nvPr/>
        </p:nvCxnSpPr>
        <p:spPr>
          <a:xfrm flipV="1">
            <a:off x="6477000" y="4876800"/>
            <a:ext cx="685800" cy="533400"/>
          </a:xfrm>
          <a:prstGeom prst="straightConnector1">
            <a:avLst/>
          </a:prstGeom>
          <a:ln>
            <a:tailEnd type="arrow"/>
          </a:ln>
        </p:spPr>
        <p:style>
          <a:lnRef idx="3">
            <a:schemeClr val="accent1"/>
          </a:lnRef>
          <a:fillRef idx="0">
            <a:schemeClr val="accent1"/>
          </a:fillRef>
          <a:effectRef idx="2">
            <a:schemeClr val="accent1"/>
          </a:effectRef>
          <a:fontRef idx="minor">
            <a:schemeClr val="tx1"/>
          </a:fontRef>
        </p:style>
      </p:cxnSp>
      <p:sp>
        <p:nvSpPr>
          <p:cNvPr id="21" name="TextBox 20"/>
          <p:cNvSpPr txBox="1"/>
          <p:nvPr/>
        </p:nvSpPr>
        <p:spPr>
          <a:xfrm>
            <a:off x="5791200" y="5257800"/>
            <a:ext cx="684803" cy="369332"/>
          </a:xfrm>
          <a:prstGeom prst="rect">
            <a:avLst/>
          </a:prstGeom>
          <a:noFill/>
        </p:spPr>
        <p:txBody>
          <a:bodyPr wrap="none" rtlCol="0">
            <a:spAutoFit/>
          </a:bodyPr>
          <a:lstStyle/>
          <a:p>
            <a:r>
              <a:rPr lang="en-IN" dirty="0"/>
              <a:t>Input</a:t>
            </a:r>
            <a:endParaRPr lang="en-US" dirty="0"/>
          </a:p>
        </p:txBody>
      </p:sp>
      <p:cxnSp>
        <p:nvCxnSpPr>
          <p:cNvPr id="23" name="Straight Arrow Connector 22"/>
          <p:cNvCxnSpPr/>
          <p:nvPr/>
        </p:nvCxnSpPr>
        <p:spPr>
          <a:xfrm rot="5400000">
            <a:off x="6248400" y="5334000"/>
            <a:ext cx="1447800" cy="685800"/>
          </a:xfrm>
          <a:prstGeom prst="straightConnector1">
            <a:avLst/>
          </a:prstGeom>
          <a:ln>
            <a:tailEnd type="arrow"/>
          </a:ln>
        </p:spPr>
        <p:style>
          <a:lnRef idx="3">
            <a:schemeClr val="accent4"/>
          </a:lnRef>
          <a:fillRef idx="0">
            <a:schemeClr val="accent4"/>
          </a:fillRef>
          <a:effectRef idx="2">
            <a:schemeClr val="accent4"/>
          </a:effectRef>
          <a:fontRef idx="minor">
            <a:schemeClr val="tx1"/>
          </a:fontRef>
        </p:style>
      </p:cxnSp>
      <p:sp>
        <p:nvSpPr>
          <p:cNvPr id="24" name="TextBox 23"/>
          <p:cNvSpPr txBox="1"/>
          <p:nvPr/>
        </p:nvSpPr>
        <p:spPr>
          <a:xfrm>
            <a:off x="5638800" y="6172200"/>
            <a:ext cx="856325" cy="369332"/>
          </a:xfrm>
          <a:prstGeom prst="rect">
            <a:avLst/>
          </a:prstGeom>
          <a:noFill/>
        </p:spPr>
        <p:txBody>
          <a:bodyPr wrap="none" rtlCol="0">
            <a:spAutoFit/>
          </a:bodyPr>
          <a:lstStyle/>
          <a:p>
            <a:r>
              <a:rPr lang="en-IN" dirty="0"/>
              <a:t>Output</a:t>
            </a:r>
            <a:endParaRPr lang="en-US" dirty="0"/>
          </a:p>
        </p:txBody>
      </p:sp>
      <p:cxnSp>
        <p:nvCxnSpPr>
          <p:cNvPr id="26" name="Straight Arrow Connector 25"/>
          <p:cNvCxnSpPr/>
          <p:nvPr/>
        </p:nvCxnSpPr>
        <p:spPr>
          <a:xfrm flipV="1">
            <a:off x="5715000" y="4724400"/>
            <a:ext cx="914400" cy="76200"/>
          </a:xfrm>
          <a:prstGeom prst="straightConnector1">
            <a:avLst/>
          </a:prstGeom>
          <a:ln>
            <a:tailEnd type="arrow"/>
          </a:ln>
        </p:spPr>
        <p:style>
          <a:lnRef idx="3">
            <a:schemeClr val="accent2"/>
          </a:lnRef>
          <a:fillRef idx="0">
            <a:schemeClr val="accent2"/>
          </a:fillRef>
          <a:effectRef idx="2">
            <a:schemeClr val="accent2"/>
          </a:effectRef>
          <a:fontRef idx="minor">
            <a:schemeClr val="tx1"/>
          </a:fontRef>
        </p:style>
      </p:cxnSp>
      <p:sp>
        <p:nvSpPr>
          <p:cNvPr id="27" name="TextBox 26"/>
          <p:cNvSpPr txBox="1"/>
          <p:nvPr/>
        </p:nvSpPr>
        <p:spPr>
          <a:xfrm>
            <a:off x="4572000" y="4495800"/>
            <a:ext cx="1248034" cy="369332"/>
          </a:xfrm>
          <a:prstGeom prst="rect">
            <a:avLst/>
          </a:prstGeom>
          <a:noFill/>
        </p:spPr>
        <p:txBody>
          <a:bodyPr wrap="none" rtlCol="0">
            <a:spAutoFit/>
          </a:bodyPr>
          <a:lstStyle/>
          <a:p>
            <a:r>
              <a:rPr lang="en-IN" dirty="0"/>
              <a:t>State name</a:t>
            </a:r>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274638"/>
            <a:ext cx="8229600" cy="639762"/>
          </a:xfrm>
        </p:spPr>
        <p:txBody>
          <a:bodyPr>
            <a:normAutofit fontScale="90000"/>
          </a:bodyPr>
          <a:lstStyle/>
          <a:p>
            <a:r>
              <a:rPr lang="en-US" dirty="0"/>
              <a:t>Finite State Machines </a:t>
            </a:r>
            <a:br>
              <a:rPr lang="en-US" dirty="0"/>
            </a:br>
            <a:endParaRPr lang="en-US" dirty="0"/>
          </a:p>
        </p:txBody>
      </p:sp>
      <p:sp>
        <p:nvSpPr>
          <p:cNvPr id="5" name="Content Placeholder 4"/>
          <p:cNvSpPr>
            <a:spLocks noGrp="1"/>
          </p:cNvSpPr>
          <p:nvPr>
            <p:ph idx="1"/>
          </p:nvPr>
        </p:nvSpPr>
        <p:spPr>
          <a:xfrm>
            <a:off x="457200" y="838200"/>
            <a:ext cx="3962400" cy="5287963"/>
          </a:xfrm>
        </p:spPr>
        <p:txBody>
          <a:bodyPr>
            <a:normAutofit fontScale="70000" lnSpcReduction="20000"/>
          </a:bodyPr>
          <a:lstStyle/>
          <a:p>
            <a:r>
              <a:rPr lang="en-US" dirty="0"/>
              <a:t>Finite State Machines (FSM) are sequential circuit used in many digital systems to control the behavior of systems and dataflow paths. Examples of FSM include control units and sequencers</a:t>
            </a:r>
          </a:p>
          <a:p>
            <a:r>
              <a:rPr lang="en-US" dirty="0"/>
              <a:t>The state machines are modeled using two basic types of sequential networks- Mealy and Moore.  In a Mealy machine, the output depends on both the present (current) state and the present (current) inputs.  In Moore machine, the output depends only on the present state. </a:t>
            </a:r>
          </a:p>
        </p:txBody>
      </p:sp>
      <p:sp>
        <p:nvSpPr>
          <p:cNvPr id="6" name="Rectangle 5"/>
          <p:cNvSpPr/>
          <p:nvPr/>
        </p:nvSpPr>
        <p:spPr>
          <a:xfrm>
            <a:off x="5867400" y="1143000"/>
            <a:ext cx="2133600" cy="10668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t>Moore M/C </a:t>
            </a:r>
            <a:endParaRPr lang="en-US" dirty="0"/>
          </a:p>
        </p:txBody>
      </p:sp>
      <p:cxnSp>
        <p:nvCxnSpPr>
          <p:cNvPr id="8" name="Straight Connector 7"/>
          <p:cNvCxnSpPr>
            <a:stCxn id="6" idx="3"/>
          </p:cNvCxnSpPr>
          <p:nvPr/>
        </p:nvCxnSpPr>
        <p:spPr>
          <a:xfrm>
            <a:off x="8001000" y="1676400"/>
            <a:ext cx="533400"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Straight Connector 9"/>
          <p:cNvCxnSpPr>
            <a:endCxn id="6" idx="1"/>
          </p:cNvCxnSpPr>
          <p:nvPr/>
        </p:nvCxnSpPr>
        <p:spPr>
          <a:xfrm>
            <a:off x="5334000" y="1676400"/>
            <a:ext cx="533400" cy="1588"/>
          </a:xfrm>
          <a:prstGeom prst="line">
            <a:avLst/>
          </a:prstGeom>
        </p:spPr>
        <p:style>
          <a:lnRef idx="1">
            <a:schemeClr val="accent1"/>
          </a:lnRef>
          <a:fillRef idx="0">
            <a:schemeClr val="accent1"/>
          </a:fillRef>
          <a:effectRef idx="0">
            <a:schemeClr val="accent1"/>
          </a:effectRef>
          <a:fontRef idx="minor">
            <a:schemeClr val="tx1"/>
          </a:fontRef>
        </p:style>
      </p:cxnSp>
      <p:sp>
        <p:nvSpPr>
          <p:cNvPr id="11" name="TextBox 10"/>
          <p:cNvSpPr txBox="1"/>
          <p:nvPr/>
        </p:nvSpPr>
        <p:spPr>
          <a:xfrm>
            <a:off x="8077200" y="1295400"/>
            <a:ext cx="856325" cy="369332"/>
          </a:xfrm>
          <a:prstGeom prst="rect">
            <a:avLst/>
          </a:prstGeom>
          <a:noFill/>
        </p:spPr>
        <p:txBody>
          <a:bodyPr wrap="none" rtlCol="0">
            <a:spAutoFit/>
          </a:bodyPr>
          <a:lstStyle/>
          <a:p>
            <a:r>
              <a:rPr lang="en-IN" dirty="0"/>
              <a:t>Output</a:t>
            </a:r>
            <a:endParaRPr lang="en-US" dirty="0"/>
          </a:p>
        </p:txBody>
      </p:sp>
      <p:sp>
        <p:nvSpPr>
          <p:cNvPr id="12" name="TextBox 11"/>
          <p:cNvSpPr txBox="1"/>
          <p:nvPr/>
        </p:nvSpPr>
        <p:spPr>
          <a:xfrm>
            <a:off x="4495800" y="1295400"/>
            <a:ext cx="950581" cy="646331"/>
          </a:xfrm>
          <a:prstGeom prst="rect">
            <a:avLst/>
          </a:prstGeom>
          <a:noFill/>
        </p:spPr>
        <p:txBody>
          <a:bodyPr wrap="none" rtlCol="0">
            <a:spAutoFit/>
          </a:bodyPr>
          <a:lstStyle/>
          <a:p>
            <a:r>
              <a:rPr lang="en-IN" dirty="0"/>
              <a:t>Present </a:t>
            </a:r>
          </a:p>
          <a:p>
            <a:r>
              <a:rPr lang="en-IN" dirty="0"/>
              <a:t>State</a:t>
            </a:r>
            <a:endParaRPr lang="en-US" dirty="0"/>
          </a:p>
        </p:txBody>
      </p:sp>
      <p:sp>
        <p:nvSpPr>
          <p:cNvPr id="13" name="Rectangle 12"/>
          <p:cNvSpPr/>
          <p:nvPr/>
        </p:nvSpPr>
        <p:spPr>
          <a:xfrm>
            <a:off x="5867400" y="2895600"/>
            <a:ext cx="2133600" cy="10668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t>Mealy M/C </a:t>
            </a:r>
            <a:endParaRPr lang="en-US" dirty="0"/>
          </a:p>
        </p:txBody>
      </p:sp>
      <p:cxnSp>
        <p:nvCxnSpPr>
          <p:cNvPr id="14" name="Straight Connector 13"/>
          <p:cNvCxnSpPr>
            <a:endCxn id="13" idx="1"/>
          </p:cNvCxnSpPr>
          <p:nvPr/>
        </p:nvCxnSpPr>
        <p:spPr>
          <a:xfrm>
            <a:off x="5334000" y="3429000"/>
            <a:ext cx="533400" cy="1588"/>
          </a:xfrm>
          <a:prstGeom prst="line">
            <a:avLst/>
          </a:prstGeom>
        </p:spPr>
        <p:style>
          <a:lnRef idx="1">
            <a:schemeClr val="accent1"/>
          </a:lnRef>
          <a:fillRef idx="0">
            <a:schemeClr val="accent1"/>
          </a:fillRef>
          <a:effectRef idx="0">
            <a:schemeClr val="accent1"/>
          </a:effectRef>
          <a:fontRef idx="minor">
            <a:schemeClr val="tx1"/>
          </a:fontRef>
        </p:style>
      </p:cxnSp>
      <p:sp>
        <p:nvSpPr>
          <p:cNvPr id="15" name="TextBox 14"/>
          <p:cNvSpPr txBox="1"/>
          <p:nvPr/>
        </p:nvSpPr>
        <p:spPr>
          <a:xfrm>
            <a:off x="8077200" y="3048000"/>
            <a:ext cx="856325" cy="369332"/>
          </a:xfrm>
          <a:prstGeom prst="rect">
            <a:avLst/>
          </a:prstGeom>
          <a:noFill/>
        </p:spPr>
        <p:txBody>
          <a:bodyPr wrap="none" rtlCol="0">
            <a:spAutoFit/>
          </a:bodyPr>
          <a:lstStyle/>
          <a:p>
            <a:r>
              <a:rPr lang="en-IN" dirty="0"/>
              <a:t>Output</a:t>
            </a:r>
            <a:endParaRPr lang="en-US" dirty="0"/>
          </a:p>
        </p:txBody>
      </p:sp>
      <p:sp>
        <p:nvSpPr>
          <p:cNvPr id="16" name="TextBox 15"/>
          <p:cNvSpPr txBox="1"/>
          <p:nvPr/>
        </p:nvSpPr>
        <p:spPr>
          <a:xfrm>
            <a:off x="4495800" y="2743200"/>
            <a:ext cx="950581" cy="646331"/>
          </a:xfrm>
          <a:prstGeom prst="rect">
            <a:avLst/>
          </a:prstGeom>
          <a:noFill/>
        </p:spPr>
        <p:txBody>
          <a:bodyPr wrap="none" rtlCol="0">
            <a:spAutoFit/>
          </a:bodyPr>
          <a:lstStyle/>
          <a:p>
            <a:r>
              <a:rPr lang="en-IN" dirty="0"/>
              <a:t>Present </a:t>
            </a:r>
          </a:p>
          <a:p>
            <a:r>
              <a:rPr lang="en-IN" dirty="0"/>
              <a:t>State</a:t>
            </a:r>
            <a:endParaRPr lang="en-US" dirty="0"/>
          </a:p>
        </p:txBody>
      </p:sp>
      <p:cxnSp>
        <p:nvCxnSpPr>
          <p:cNvPr id="17" name="Straight Connector 16"/>
          <p:cNvCxnSpPr/>
          <p:nvPr/>
        </p:nvCxnSpPr>
        <p:spPr>
          <a:xfrm>
            <a:off x="8001000" y="3429000"/>
            <a:ext cx="533400"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flipV="1">
            <a:off x="5257800" y="3733800"/>
            <a:ext cx="533400" cy="304800"/>
          </a:xfrm>
          <a:prstGeom prst="line">
            <a:avLst/>
          </a:prstGeom>
        </p:spPr>
        <p:style>
          <a:lnRef idx="1">
            <a:schemeClr val="accent1"/>
          </a:lnRef>
          <a:fillRef idx="0">
            <a:schemeClr val="accent1"/>
          </a:fillRef>
          <a:effectRef idx="0">
            <a:schemeClr val="accent1"/>
          </a:effectRef>
          <a:fontRef idx="minor">
            <a:schemeClr val="tx1"/>
          </a:fontRef>
        </p:style>
      </p:cxnSp>
      <p:sp>
        <p:nvSpPr>
          <p:cNvPr id="20" name="TextBox 19"/>
          <p:cNvSpPr txBox="1"/>
          <p:nvPr/>
        </p:nvSpPr>
        <p:spPr>
          <a:xfrm>
            <a:off x="4495800" y="3886200"/>
            <a:ext cx="684803" cy="369332"/>
          </a:xfrm>
          <a:prstGeom prst="rect">
            <a:avLst/>
          </a:prstGeom>
          <a:noFill/>
        </p:spPr>
        <p:txBody>
          <a:bodyPr wrap="none" rtlCol="0">
            <a:spAutoFit/>
          </a:bodyPr>
          <a:lstStyle/>
          <a:p>
            <a:r>
              <a:rPr lang="en-IN" dirty="0"/>
              <a:t>Input</a:t>
            </a:r>
            <a:endParaRPr lang="en-US" dirty="0"/>
          </a:p>
        </p:txBody>
      </p:sp>
    </p:spTree>
    <p:extLst>
      <p:ext uri="{BB962C8B-B14F-4D97-AF65-F5344CB8AC3E}">
        <p14:creationId xmlns:p14="http://schemas.microsoft.com/office/powerpoint/2010/main" xmlns="" val="21259116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p:spPr>
        <p:txBody>
          <a:bodyPr>
            <a:normAutofit fontScale="90000"/>
          </a:bodyPr>
          <a:lstStyle/>
          <a:p>
            <a:r>
              <a:rPr lang="en-US" dirty="0"/>
              <a:t>Moore and Mealy FSM </a:t>
            </a:r>
          </a:p>
        </p:txBody>
      </p:sp>
      <p:sp>
        <p:nvSpPr>
          <p:cNvPr id="3" name="Content Placeholder 2"/>
          <p:cNvSpPr>
            <a:spLocks noGrp="1"/>
          </p:cNvSpPr>
          <p:nvPr>
            <p:ph idx="1"/>
          </p:nvPr>
        </p:nvSpPr>
        <p:spPr>
          <a:xfrm>
            <a:off x="457200" y="1143000"/>
            <a:ext cx="8229600" cy="4525963"/>
          </a:xfrm>
        </p:spPr>
        <p:txBody>
          <a:bodyPr>
            <a:normAutofit/>
          </a:bodyPr>
          <a:lstStyle/>
          <a:p>
            <a:pPr marL="0" indent="0">
              <a:buNone/>
            </a:pPr>
            <a:endParaRPr lang="en-US" dirty="0"/>
          </a:p>
        </p:txBody>
      </p:sp>
      <p:pic>
        <p:nvPicPr>
          <p:cNvPr id="2050" name="Picture 2"/>
          <p:cNvPicPr>
            <a:picLocks noChangeAspect="1" noChangeArrowheads="1"/>
          </p:cNvPicPr>
          <p:nvPr/>
        </p:nvPicPr>
        <p:blipFill>
          <a:blip r:embed="rId2"/>
          <a:srcRect/>
          <a:stretch>
            <a:fillRect/>
          </a:stretch>
        </p:blipFill>
        <p:spPr bwMode="auto">
          <a:xfrm>
            <a:off x="762000" y="990600"/>
            <a:ext cx="6953250" cy="5638800"/>
          </a:xfrm>
          <a:prstGeom prst="rect">
            <a:avLst/>
          </a:prstGeom>
          <a:noFill/>
          <a:ln w="9525">
            <a:noFill/>
            <a:miter lim="800000"/>
            <a:headEnd/>
            <a:tailEnd/>
          </a:ln>
          <a:effectLst/>
        </p:spPr>
      </p:pic>
    </p:spTree>
    <p:extLst>
      <p:ext uri="{BB962C8B-B14F-4D97-AF65-F5344CB8AC3E}">
        <p14:creationId xmlns:p14="http://schemas.microsoft.com/office/powerpoint/2010/main" xmlns="" val="5511253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endParaRPr lang="en-US"/>
          </a:p>
        </p:txBody>
      </p:sp>
      <p:sp>
        <p:nvSpPr>
          <p:cNvPr id="4" name="TextBox 3"/>
          <p:cNvSpPr txBox="1"/>
          <p:nvPr/>
        </p:nvSpPr>
        <p:spPr>
          <a:xfrm>
            <a:off x="685800" y="4495800"/>
            <a:ext cx="2362200" cy="369332"/>
          </a:xfrm>
          <a:prstGeom prst="rect">
            <a:avLst/>
          </a:prstGeom>
          <a:noFill/>
        </p:spPr>
        <p:txBody>
          <a:bodyPr wrap="square" rtlCol="0">
            <a:spAutoFit/>
          </a:bodyPr>
          <a:lstStyle/>
          <a:p>
            <a:r>
              <a:rPr lang="en-IN" dirty="0">
                <a:solidFill>
                  <a:srgbClr val="FF0000"/>
                </a:solidFill>
              </a:rPr>
              <a:t>Moore state machine</a:t>
            </a:r>
            <a:endParaRPr lang="en-US" dirty="0">
              <a:solidFill>
                <a:srgbClr val="FF0000"/>
              </a:solidFill>
            </a:endParaRPr>
          </a:p>
        </p:txBody>
      </p:sp>
      <p:pic>
        <p:nvPicPr>
          <p:cNvPr id="5" name="Picture 4">
            <a:extLst>
              <a:ext uri="{FF2B5EF4-FFF2-40B4-BE49-F238E27FC236}">
                <a16:creationId xmlns:a16="http://schemas.microsoft.com/office/drawing/2014/main" xmlns="" id="{20BDD5E7-4643-0EE9-C252-95B1C1528CD5}"/>
              </a:ext>
            </a:extLst>
          </p:cNvPr>
          <p:cNvPicPr>
            <a:picLocks noChangeAspect="1"/>
          </p:cNvPicPr>
          <p:nvPr/>
        </p:nvPicPr>
        <p:blipFill>
          <a:blip r:embed="rId2"/>
          <a:stretch>
            <a:fillRect/>
          </a:stretch>
        </p:blipFill>
        <p:spPr>
          <a:xfrm>
            <a:off x="628650" y="623887"/>
            <a:ext cx="6514227" cy="4633913"/>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050B878-9AB3-2507-626F-7F5B0B69635B}"/>
              </a:ext>
            </a:extLst>
          </p:cNvPr>
          <p:cNvSpPr>
            <a:spLocks noGrp="1"/>
          </p:cNvSpPr>
          <p:nvPr>
            <p:ph type="title"/>
          </p:nvPr>
        </p:nvSpPr>
        <p:spPr/>
        <p:txBody>
          <a:bodyPr/>
          <a:lstStyle/>
          <a:p>
            <a:r>
              <a:rPr lang="en-IN" dirty="0"/>
              <a:t>State table</a:t>
            </a:r>
          </a:p>
        </p:txBody>
      </p:sp>
      <p:sp>
        <p:nvSpPr>
          <p:cNvPr id="3" name="Content Placeholder 2">
            <a:extLst>
              <a:ext uri="{FF2B5EF4-FFF2-40B4-BE49-F238E27FC236}">
                <a16:creationId xmlns:a16="http://schemas.microsoft.com/office/drawing/2014/main" xmlns="" id="{59D75289-5D76-69E5-309D-380AF1A4E256}"/>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xmlns="" id="{AA6CE940-218E-D13D-7D4A-2939E1BAC4C1}"/>
              </a:ext>
            </a:extLst>
          </p:cNvPr>
          <p:cNvPicPr>
            <a:picLocks noChangeAspect="1"/>
          </p:cNvPicPr>
          <p:nvPr/>
        </p:nvPicPr>
        <p:blipFill>
          <a:blip r:embed="rId2"/>
          <a:stretch>
            <a:fillRect/>
          </a:stretch>
        </p:blipFill>
        <p:spPr>
          <a:xfrm>
            <a:off x="1833562" y="2076450"/>
            <a:ext cx="5476875" cy="2705100"/>
          </a:xfrm>
          <a:prstGeom prst="rect">
            <a:avLst/>
          </a:prstGeom>
        </p:spPr>
      </p:pic>
    </p:spTree>
    <p:extLst>
      <p:ext uri="{BB962C8B-B14F-4D97-AF65-F5344CB8AC3E}">
        <p14:creationId xmlns:p14="http://schemas.microsoft.com/office/powerpoint/2010/main" xmlns="" val="32586981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DD7167C-6D8D-11A6-F22E-35E378235B7C}"/>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xmlns="" id="{8D158BBC-3904-44A3-AD98-65955908729E}"/>
              </a:ext>
            </a:extLst>
          </p:cNvPr>
          <p:cNvPicPr>
            <a:picLocks noGrp="1" noChangeAspect="1"/>
          </p:cNvPicPr>
          <p:nvPr>
            <p:ph idx="1"/>
          </p:nvPr>
        </p:nvPicPr>
        <p:blipFill>
          <a:blip r:embed="rId2"/>
          <a:stretch>
            <a:fillRect/>
          </a:stretch>
        </p:blipFill>
        <p:spPr>
          <a:xfrm>
            <a:off x="1524000" y="2086769"/>
            <a:ext cx="6096000" cy="3552825"/>
          </a:xfrm>
        </p:spPr>
      </p:pic>
    </p:spTree>
    <p:extLst>
      <p:ext uri="{BB962C8B-B14F-4D97-AF65-F5344CB8AC3E}">
        <p14:creationId xmlns:p14="http://schemas.microsoft.com/office/powerpoint/2010/main" xmlns="" val="150877533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66E0A36-355F-A2B0-E803-3B8CA5C2DD69}"/>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xmlns="" id="{0998CD73-9438-4C9F-E7A5-9B5DC60C9631}"/>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xmlns="" id="{7317DD43-81D3-2B25-2B4A-95446AE189C0}"/>
              </a:ext>
            </a:extLst>
          </p:cNvPr>
          <p:cNvPicPr>
            <a:picLocks noChangeAspect="1"/>
          </p:cNvPicPr>
          <p:nvPr/>
        </p:nvPicPr>
        <p:blipFill>
          <a:blip r:embed="rId2"/>
          <a:stretch>
            <a:fillRect/>
          </a:stretch>
        </p:blipFill>
        <p:spPr>
          <a:xfrm>
            <a:off x="0" y="1265152"/>
            <a:ext cx="9144000" cy="4327695"/>
          </a:xfrm>
          <a:prstGeom prst="rect">
            <a:avLst/>
          </a:prstGeom>
        </p:spPr>
      </p:pic>
    </p:spTree>
    <p:extLst>
      <p:ext uri="{BB962C8B-B14F-4D97-AF65-F5344CB8AC3E}">
        <p14:creationId xmlns:p14="http://schemas.microsoft.com/office/powerpoint/2010/main" xmlns="" val="19305466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D0736E9-5188-BDC6-BD2B-4936D315AFDB}"/>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xmlns="" id="{12904F69-76F8-A5EF-9B82-56B8375BC184}"/>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xmlns="" id="{054C3B2B-C915-5596-7CF3-EC37842898BB}"/>
              </a:ext>
            </a:extLst>
          </p:cNvPr>
          <p:cNvPicPr>
            <a:picLocks noChangeAspect="1"/>
          </p:cNvPicPr>
          <p:nvPr/>
        </p:nvPicPr>
        <p:blipFill>
          <a:blip r:embed="rId2"/>
          <a:stretch>
            <a:fillRect/>
          </a:stretch>
        </p:blipFill>
        <p:spPr>
          <a:xfrm>
            <a:off x="3348037" y="4953000"/>
            <a:ext cx="2447925" cy="1524000"/>
          </a:xfrm>
          <a:prstGeom prst="rect">
            <a:avLst/>
          </a:prstGeom>
        </p:spPr>
      </p:pic>
      <p:pic>
        <p:nvPicPr>
          <p:cNvPr id="7" name="Picture 6">
            <a:extLst>
              <a:ext uri="{FF2B5EF4-FFF2-40B4-BE49-F238E27FC236}">
                <a16:creationId xmlns:a16="http://schemas.microsoft.com/office/drawing/2014/main" xmlns="" id="{992259D6-9DD9-E649-3DA4-5A05DEB44B0E}"/>
              </a:ext>
            </a:extLst>
          </p:cNvPr>
          <p:cNvPicPr>
            <a:picLocks noChangeAspect="1"/>
          </p:cNvPicPr>
          <p:nvPr/>
        </p:nvPicPr>
        <p:blipFill>
          <a:blip r:embed="rId3"/>
          <a:stretch>
            <a:fillRect/>
          </a:stretch>
        </p:blipFill>
        <p:spPr>
          <a:xfrm>
            <a:off x="990600" y="0"/>
            <a:ext cx="7291388" cy="4758156"/>
          </a:xfrm>
          <a:prstGeom prst="rect">
            <a:avLst/>
          </a:prstGeom>
        </p:spPr>
      </p:pic>
    </p:spTree>
    <p:extLst>
      <p:ext uri="{BB962C8B-B14F-4D97-AF65-F5344CB8AC3E}">
        <p14:creationId xmlns:p14="http://schemas.microsoft.com/office/powerpoint/2010/main" xmlns="" val="305953852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01F3834-CE66-A4BF-5F21-5502490CA282}"/>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xmlns="" id="{47415A53-95F1-66BA-DF41-DB34ACFDC53A}"/>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xmlns="" id="{2DAFE1F9-4F30-25E8-ACC4-2C4BCD692356}"/>
              </a:ext>
            </a:extLst>
          </p:cNvPr>
          <p:cNvPicPr>
            <a:picLocks noChangeAspect="1"/>
          </p:cNvPicPr>
          <p:nvPr/>
        </p:nvPicPr>
        <p:blipFill>
          <a:blip r:embed="rId2"/>
          <a:stretch>
            <a:fillRect/>
          </a:stretch>
        </p:blipFill>
        <p:spPr>
          <a:xfrm>
            <a:off x="1752600" y="952500"/>
            <a:ext cx="5638800" cy="4953000"/>
          </a:xfrm>
          <a:prstGeom prst="rect">
            <a:avLst/>
          </a:prstGeom>
        </p:spPr>
      </p:pic>
    </p:spTree>
    <p:extLst>
      <p:ext uri="{BB962C8B-B14F-4D97-AF65-F5344CB8AC3E}">
        <p14:creationId xmlns:p14="http://schemas.microsoft.com/office/powerpoint/2010/main" xmlns="" val="373177262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A085C9B-C987-A057-B790-7F6C02C6217D}"/>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xmlns="" id="{CC8C854C-D54B-5461-FA27-CADE537C92F1}"/>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xmlns="" id="{CAB1F21F-E9B5-2203-4E20-AF7B38196CFD}"/>
              </a:ext>
            </a:extLst>
          </p:cNvPr>
          <p:cNvPicPr>
            <a:picLocks noChangeAspect="1"/>
          </p:cNvPicPr>
          <p:nvPr/>
        </p:nvPicPr>
        <p:blipFill>
          <a:blip r:embed="rId2"/>
          <a:stretch>
            <a:fillRect/>
          </a:stretch>
        </p:blipFill>
        <p:spPr>
          <a:xfrm>
            <a:off x="1146717" y="2133600"/>
            <a:ext cx="6850566" cy="3695700"/>
          </a:xfrm>
          <a:prstGeom prst="rect">
            <a:avLst/>
          </a:prstGeom>
        </p:spPr>
      </p:pic>
    </p:spTree>
    <p:extLst>
      <p:ext uri="{BB962C8B-B14F-4D97-AF65-F5344CB8AC3E}">
        <p14:creationId xmlns:p14="http://schemas.microsoft.com/office/powerpoint/2010/main" xmlns="" val="179809971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VHDL Code for Moore FSM</a:t>
            </a:r>
          </a:p>
        </p:txBody>
      </p:sp>
      <p:sp>
        <p:nvSpPr>
          <p:cNvPr id="3" name="Content Placeholder 2"/>
          <p:cNvSpPr>
            <a:spLocks noGrp="1"/>
          </p:cNvSpPr>
          <p:nvPr>
            <p:ph idx="1"/>
          </p:nvPr>
        </p:nvSpPr>
        <p:spPr/>
        <p:txBody>
          <a:bodyPr>
            <a:normAutofit fontScale="62500" lnSpcReduction="20000"/>
          </a:bodyPr>
          <a:lstStyle/>
          <a:p>
            <a:pPr>
              <a:buNone/>
            </a:pPr>
            <a:r>
              <a:rPr lang="en-US" dirty="0"/>
              <a:t>entity simplefsm is</a:t>
            </a:r>
          </a:p>
          <a:p>
            <a:pPr>
              <a:buNone/>
            </a:pPr>
            <a:r>
              <a:rPr lang="en-US" dirty="0"/>
              <a:t>    port(clock, reset: in std_logic;</a:t>
            </a:r>
          </a:p>
          <a:p>
            <a:pPr>
              <a:buNone/>
            </a:pPr>
            <a:r>
              <a:rPr lang="en-US" dirty="0"/>
              <a:t>              w:in std_logic;</a:t>
            </a:r>
          </a:p>
          <a:p>
            <a:pPr>
              <a:buNone/>
            </a:pPr>
            <a:r>
              <a:rPr lang="en-US" dirty="0"/>
              <a:t>               z:out std_logic);</a:t>
            </a:r>
          </a:p>
          <a:p>
            <a:pPr>
              <a:buNone/>
            </a:pPr>
            <a:r>
              <a:rPr lang="en-US" dirty="0"/>
              <a:t>end simplefsm;</a:t>
            </a:r>
          </a:p>
          <a:p>
            <a:pPr>
              <a:buNone/>
            </a:pPr>
            <a:r>
              <a:rPr lang="en-US" dirty="0"/>
              <a:t>architecture behave of simplefsm is</a:t>
            </a:r>
          </a:p>
          <a:p>
            <a:pPr>
              <a:buNone/>
            </a:pPr>
            <a:r>
              <a:rPr lang="en-US" dirty="0">
                <a:solidFill>
                  <a:srgbClr val="FF0000"/>
                </a:solidFill>
                <a:highlight>
                  <a:srgbClr val="FFFF00"/>
                </a:highlight>
              </a:rPr>
              <a:t>type state_values is(a, b, c);</a:t>
            </a:r>
            <a:r>
              <a:rPr lang="en-US" dirty="0">
                <a:highlight>
                  <a:srgbClr val="FFFF00"/>
                </a:highlight>
              </a:rPr>
              <a:t>-</a:t>
            </a:r>
            <a:r>
              <a:rPr lang="en-US" dirty="0"/>
              <a:t>-define states</a:t>
            </a:r>
          </a:p>
          <a:p>
            <a:pPr>
              <a:buNone/>
            </a:pPr>
            <a:r>
              <a:rPr lang="en-US" dirty="0">
                <a:solidFill>
                  <a:srgbClr val="FF0000"/>
                </a:solidFill>
              </a:rPr>
              <a:t>signal state: state_values;</a:t>
            </a:r>
          </a:p>
          <a:p>
            <a:pPr>
              <a:buNone/>
            </a:pPr>
            <a:r>
              <a:rPr lang="en-US" dirty="0"/>
              <a:t>--create signal that defines different states</a:t>
            </a:r>
          </a:p>
          <a:p>
            <a:pPr>
              <a:buNone/>
            </a:pPr>
            <a:r>
              <a:rPr lang="en-US" dirty="0"/>
              <a:t>begin</a:t>
            </a:r>
          </a:p>
          <a:p>
            <a:pPr>
              <a:buNone/>
            </a:pPr>
            <a:r>
              <a:rPr lang="en-US" dirty="0">
                <a:highlight>
                  <a:srgbClr val="FFFF00"/>
                </a:highlight>
              </a:rPr>
              <a:t>process(clock, reset)</a:t>
            </a:r>
          </a:p>
          <a:p>
            <a:pPr>
              <a:buNone/>
            </a:pPr>
            <a:r>
              <a:rPr lang="en-US" dirty="0"/>
              <a:t>begin</a:t>
            </a:r>
          </a:p>
          <a:p>
            <a:pPr>
              <a:buNone/>
            </a:pPr>
            <a:r>
              <a:rPr lang="en-US" dirty="0"/>
              <a:t>if(reset=‘1’) then state</a:t>
            </a:r>
            <a:r>
              <a:rPr lang="en-US" dirty="0">
                <a:solidFill>
                  <a:srgbClr val="FF0000"/>
                </a:solidFill>
              </a:rPr>
              <a:t>&lt;=</a:t>
            </a:r>
            <a:r>
              <a:rPr lang="en-US" dirty="0"/>
              <a:t>a;      </a:t>
            </a:r>
          </a:p>
          <a:p>
            <a:pPr>
              <a:buNone/>
            </a:pPr>
            <a:r>
              <a:rPr lang="en-US" dirty="0"/>
              <a:t>else rising_edge(clock) then</a:t>
            </a:r>
          </a:p>
          <a:p>
            <a:pPr>
              <a:buNone/>
            </a:pPr>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28600"/>
            <a:ext cx="8229600" cy="5897563"/>
          </a:xfrm>
        </p:spPr>
        <p:txBody>
          <a:bodyPr>
            <a:normAutofit fontScale="70000" lnSpcReduction="20000"/>
          </a:bodyPr>
          <a:lstStyle/>
          <a:p>
            <a:pPr>
              <a:buNone/>
            </a:pPr>
            <a:r>
              <a:rPr lang="en-US" dirty="0"/>
              <a:t>case state is</a:t>
            </a:r>
          </a:p>
          <a:p>
            <a:pPr>
              <a:buNone/>
            </a:pPr>
            <a:r>
              <a:rPr lang="en-US" dirty="0"/>
              <a:t>	</a:t>
            </a:r>
            <a:r>
              <a:rPr lang="en-US" dirty="0">
                <a:highlight>
                  <a:srgbClr val="FFFF00"/>
                </a:highlight>
              </a:rPr>
              <a:t>when a</a:t>
            </a:r>
            <a:r>
              <a:rPr lang="en-US" dirty="0"/>
              <a:t>=&gt;</a:t>
            </a:r>
          </a:p>
          <a:p>
            <a:pPr>
              <a:buNone/>
            </a:pPr>
            <a:r>
              <a:rPr lang="en-US" dirty="0"/>
              <a:t>      if w=‘1’ then state &lt;=b;</a:t>
            </a:r>
          </a:p>
          <a:p>
            <a:pPr>
              <a:buNone/>
            </a:pPr>
            <a:r>
              <a:rPr lang="en-US" dirty="0"/>
              <a:t>      end if;</a:t>
            </a:r>
          </a:p>
          <a:p>
            <a:pPr>
              <a:buNone/>
            </a:pPr>
            <a:r>
              <a:rPr lang="en-US" dirty="0"/>
              <a:t>	</a:t>
            </a:r>
            <a:r>
              <a:rPr lang="en-US" dirty="0">
                <a:highlight>
                  <a:srgbClr val="FFFF00"/>
                </a:highlight>
              </a:rPr>
              <a:t>when b</a:t>
            </a:r>
            <a:r>
              <a:rPr lang="en-US" dirty="0"/>
              <a:t>=&gt;</a:t>
            </a:r>
          </a:p>
          <a:p>
            <a:pPr>
              <a:buNone/>
            </a:pPr>
            <a:r>
              <a:rPr lang="en-US" dirty="0"/>
              <a:t>     if w=‘1’ then state&lt;=c;</a:t>
            </a:r>
          </a:p>
          <a:p>
            <a:pPr>
              <a:buNone/>
            </a:pPr>
            <a:r>
              <a:rPr lang="en-US" dirty="0"/>
              <a:t>     end if;</a:t>
            </a:r>
          </a:p>
          <a:p>
            <a:pPr>
              <a:buNone/>
            </a:pPr>
            <a:r>
              <a:rPr lang="en-US" dirty="0"/>
              <a:t>	</a:t>
            </a:r>
            <a:r>
              <a:rPr lang="en-US" dirty="0">
                <a:highlight>
                  <a:srgbClr val="FFFF00"/>
                </a:highlight>
              </a:rPr>
              <a:t>when c</a:t>
            </a:r>
            <a:r>
              <a:rPr lang="en-US" dirty="0"/>
              <a:t>=&gt;</a:t>
            </a:r>
          </a:p>
          <a:p>
            <a:pPr>
              <a:buNone/>
            </a:pPr>
            <a:r>
              <a:rPr lang="en-US" dirty="0"/>
              <a:t>    if w=1 then state&lt;=c;</a:t>
            </a:r>
          </a:p>
          <a:p>
            <a:pPr>
              <a:buNone/>
            </a:pPr>
            <a:r>
              <a:rPr lang="en-US" dirty="0"/>
              <a:t>    --else state&lt;=a;</a:t>
            </a:r>
          </a:p>
          <a:p>
            <a:pPr>
              <a:buNone/>
            </a:pPr>
            <a:r>
              <a:rPr lang="en-US" dirty="0"/>
              <a:t>    end if;</a:t>
            </a:r>
          </a:p>
          <a:p>
            <a:pPr>
              <a:buNone/>
            </a:pPr>
            <a:r>
              <a:rPr lang="en-US" dirty="0"/>
              <a:t>	when others=&gt; state&lt;=a;</a:t>
            </a:r>
          </a:p>
          <a:p>
            <a:pPr>
              <a:buNone/>
            </a:pPr>
            <a:r>
              <a:rPr lang="en-US" dirty="0"/>
              <a:t>end case; </a:t>
            </a:r>
          </a:p>
          <a:p>
            <a:pPr>
              <a:buNone/>
            </a:pPr>
            <a:r>
              <a:rPr lang="en-US" dirty="0"/>
              <a:t>end if;</a:t>
            </a:r>
          </a:p>
          <a:p>
            <a:pPr>
              <a:buNone/>
            </a:pPr>
            <a:r>
              <a:rPr lang="en-US" dirty="0"/>
              <a:t>end process;</a:t>
            </a:r>
          </a:p>
          <a:p>
            <a:pPr>
              <a:buNone/>
            </a:pPr>
            <a:r>
              <a:rPr lang="en-US" dirty="0">
                <a:solidFill>
                  <a:srgbClr val="FF0000"/>
                </a:solidFill>
              </a:rPr>
              <a:t>z&lt;= ‘1’ when state =c else ‘0’;--output</a:t>
            </a:r>
          </a:p>
          <a:p>
            <a:pPr>
              <a:buNone/>
            </a:pPr>
            <a:r>
              <a:rPr lang="en-US" dirty="0"/>
              <a:t>end behave;</a:t>
            </a:r>
          </a:p>
        </p:txBody>
      </p:sp>
      <p:pic>
        <p:nvPicPr>
          <p:cNvPr id="5" name="Picture 4">
            <a:extLst>
              <a:ext uri="{FF2B5EF4-FFF2-40B4-BE49-F238E27FC236}">
                <a16:creationId xmlns:a16="http://schemas.microsoft.com/office/drawing/2014/main" xmlns="" id="{762CF2F3-DBEB-5D9D-8E90-6B768C80DCCB}"/>
              </a:ext>
            </a:extLst>
          </p:cNvPr>
          <p:cNvPicPr>
            <a:picLocks noChangeAspect="1"/>
          </p:cNvPicPr>
          <p:nvPr/>
        </p:nvPicPr>
        <p:blipFill>
          <a:blip r:embed="rId2"/>
          <a:stretch>
            <a:fillRect/>
          </a:stretch>
        </p:blipFill>
        <p:spPr>
          <a:xfrm>
            <a:off x="4800601" y="304800"/>
            <a:ext cx="4343400" cy="4633913"/>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p:spPr>
        <p:txBody>
          <a:bodyPr>
            <a:normAutofit fontScale="90000"/>
          </a:bodyPr>
          <a:lstStyle/>
          <a:p>
            <a:r>
              <a:rPr lang="en-US" dirty="0"/>
              <a:t>Mealy FSM </a:t>
            </a:r>
          </a:p>
        </p:txBody>
      </p:sp>
      <p:sp>
        <p:nvSpPr>
          <p:cNvPr id="3" name="Content Placeholder 2"/>
          <p:cNvSpPr>
            <a:spLocks noGrp="1"/>
          </p:cNvSpPr>
          <p:nvPr>
            <p:ph idx="1"/>
          </p:nvPr>
        </p:nvSpPr>
        <p:spPr>
          <a:xfrm>
            <a:off x="457200" y="1143000"/>
            <a:ext cx="8229600" cy="4525963"/>
          </a:xfrm>
        </p:spPr>
        <p:txBody>
          <a:bodyPr>
            <a:normAutofit/>
          </a:bodyPr>
          <a:lstStyle/>
          <a:p>
            <a:r>
              <a:rPr lang="en-US" sz="1800" dirty="0"/>
              <a:t>A general model of a Mealy sequential machine consists of a combinatorial network, which generates the outputs and the next state, and a state register which holds the present state as shown below.  The state register is normally modeled as D flip-flops. The state register must be sensitive to a clock edge.  The other block(s) can be modeled either using the always procedural block or a mixture of the always procedural block and dataflow modeling statements; the always procedural block will have to be sensitive to all inputs being read into the block and must have all output defined for every branch in order to model it as a combinatorial block. </a:t>
            </a:r>
          </a:p>
          <a:p>
            <a:r>
              <a:rPr lang="en-US" sz="1800" dirty="0"/>
              <a:t>The two blocks Mealy machine fig 1 The Three block Moore machine fig2</a:t>
            </a:r>
          </a:p>
          <a:p>
            <a:pPr marL="0" indent="0">
              <a:buNone/>
            </a:pPr>
            <a:r>
              <a:rPr lang="en-US" sz="1600" dirty="0"/>
              <a:t>   Fig1.                                                                            Fig2.</a:t>
            </a:r>
          </a:p>
          <a:p>
            <a:pPr marL="0" indent="0">
              <a:buNone/>
            </a:pPr>
            <a:endParaRPr lang="en-US" dirty="0"/>
          </a:p>
        </p:txBody>
      </p:sp>
      <p:pic>
        <p:nvPicPr>
          <p:cNvPr id="1026" name="Picture 2"/>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914400" y="4572000"/>
            <a:ext cx="3105150" cy="111442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1027" name="Picture 3"/>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4800600" y="4572000"/>
            <a:ext cx="3200400" cy="11430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55112537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5670628-1CD9-2F89-5C28-AB8D02411DF7}"/>
              </a:ext>
            </a:extLst>
          </p:cNvPr>
          <p:cNvSpPr>
            <a:spLocks noGrp="1"/>
          </p:cNvSpPr>
          <p:nvPr>
            <p:ph type="title"/>
          </p:nvPr>
        </p:nvSpPr>
        <p:spPr/>
        <p:txBody>
          <a:bodyPr/>
          <a:lstStyle/>
          <a:p>
            <a:endParaRPr lang="en-IN"/>
          </a:p>
        </p:txBody>
      </p:sp>
      <p:pic>
        <p:nvPicPr>
          <p:cNvPr id="7" name="Content Placeholder 6">
            <a:extLst>
              <a:ext uri="{FF2B5EF4-FFF2-40B4-BE49-F238E27FC236}">
                <a16:creationId xmlns:a16="http://schemas.microsoft.com/office/drawing/2014/main" xmlns="" id="{62240A07-B138-5ACA-1310-FC9213C5F691}"/>
              </a:ext>
            </a:extLst>
          </p:cNvPr>
          <p:cNvPicPr>
            <a:picLocks noGrp="1" noChangeAspect="1"/>
          </p:cNvPicPr>
          <p:nvPr>
            <p:ph idx="1"/>
          </p:nvPr>
        </p:nvPicPr>
        <p:blipFill>
          <a:blip r:embed="rId2"/>
          <a:stretch>
            <a:fillRect/>
          </a:stretch>
        </p:blipFill>
        <p:spPr>
          <a:xfrm>
            <a:off x="2393155" y="3554955"/>
            <a:ext cx="3838575" cy="1419225"/>
          </a:xfrm>
        </p:spPr>
      </p:pic>
      <p:pic>
        <p:nvPicPr>
          <p:cNvPr id="5" name="Picture 4">
            <a:extLst>
              <a:ext uri="{FF2B5EF4-FFF2-40B4-BE49-F238E27FC236}">
                <a16:creationId xmlns:a16="http://schemas.microsoft.com/office/drawing/2014/main" xmlns="" id="{885008A0-8123-8D88-5477-A2D25AD482DB}"/>
              </a:ext>
            </a:extLst>
          </p:cNvPr>
          <p:cNvPicPr>
            <a:picLocks noChangeAspect="1"/>
          </p:cNvPicPr>
          <p:nvPr/>
        </p:nvPicPr>
        <p:blipFill>
          <a:blip r:embed="rId3"/>
          <a:stretch>
            <a:fillRect/>
          </a:stretch>
        </p:blipFill>
        <p:spPr>
          <a:xfrm>
            <a:off x="1295400" y="846138"/>
            <a:ext cx="6034087" cy="2133600"/>
          </a:xfrm>
          <a:prstGeom prst="rect">
            <a:avLst/>
          </a:prstGeom>
        </p:spPr>
      </p:pic>
      <p:pic>
        <p:nvPicPr>
          <p:cNvPr id="9" name="Picture 8">
            <a:extLst>
              <a:ext uri="{FF2B5EF4-FFF2-40B4-BE49-F238E27FC236}">
                <a16:creationId xmlns:a16="http://schemas.microsoft.com/office/drawing/2014/main" xmlns="" id="{ABF6E947-4F7C-5A4A-D769-7AC1F1A5A26C}"/>
              </a:ext>
            </a:extLst>
          </p:cNvPr>
          <p:cNvPicPr>
            <a:picLocks noChangeAspect="1"/>
          </p:cNvPicPr>
          <p:nvPr/>
        </p:nvPicPr>
        <p:blipFill>
          <a:blip r:embed="rId4"/>
          <a:stretch>
            <a:fillRect/>
          </a:stretch>
        </p:blipFill>
        <p:spPr>
          <a:xfrm>
            <a:off x="1933167" y="4974180"/>
            <a:ext cx="4333875" cy="1847850"/>
          </a:xfrm>
          <a:prstGeom prst="rect">
            <a:avLst/>
          </a:prstGeom>
        </p:spPr>
      </p:pic>
    </p:spTree>
    <p:extLst>
      <p:ext uri="{BB962C8B-B14F-4D97-AF65-F5344CB8AC3E}">
        <p14:creationId xmlns:p14="http://schemas.microsoft.com/office/powerpoint/2010/main" xmlns="" val="269135018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F785413-CBC3-3EA5-6F8F-39247C3559EE}"/>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xmlns="" id="{F8149A3E-8F43-2084-4AB5-DA558CB69219}"/>
              </a:ext>
            </a:extLst>
          </p:cNvPr>
          <p:cNvPicPr>
            <a:picLocks noGrp="1" noChangeAspect="1"/>
          </p:cNvPicPr>
          <p:nvPr>
            <p:ph idx="1"/>
          </p:nvPr>
        </p:nvPicPr>
        <p:blipFill>
          <a:blip r:embed="rId2"/>
          <a:stretch>
            <a:fillRect/>
          </a:stretch>
        </p:blipFill>
        <p:spPr>
          <a:xfrm>
            <a:off x="1600200" y="1143000"/>
            <a:ext cx="5143500" cy="2000250"/>
          </a:xfrm>
        </p:spPr>
      </p:pic>
      <p:pic>
        <p:nvPicPr>
          <p:cNvPr id="7" name="Picture 6">
            <a:extLst>
              <a:ext uri="{FF2B5EF4-FFF2-40B4-BE49-F238E27FC236}">
                <a16:creationId xmlns:a16="http://schemas.microsoft.com/office/drawing/2014/main" xmlns="" id="{A489123F-D5C1-CCA8-FE6B-D40AF41EF8BB}"/>
              </a:ext>
            </a:extLst>
          </p:cNvPr>
          <p:cNvPicPr>
            <a:picLocks noChangeAspect="1"/>
          </p:cNvPicPr>
          <p:nvPr/>
        </p:nvPicPr>
        <p:blipFill>
          <a:blip r:embed="rId3"/>
          <a:stretch>
            <a:fillRect/>
          </a:stretch>
        </p:blipFill>
        <p:spPr>
          <a:xfrm>
            <a:off x="914400" y="3429000"/>
            <a:ext cx="6810375" cy="2447925"/>
          </a:xfrm>
          <a:prstGeom prst="rect">
            <a:avLst/>
          </a:prstGeom>
        </p:spPr>
      </p:pic>
    </p:spTree>
    <p:extLst>
      <p:ext uri="{BB962C8B-B14F-4D97-AF65-F5344CB8AC3E}">
        <p14:creationId xmlns:p14="http://schemas.microsoft.com/office/powerpoint/2010/main" xmlns="" val="290789956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Mealy Machine</a:t>
            </a:r>
          </a:p>
        </p:txBody>
      </p:sp>
      <p:sp>
        <p:nvSpPr>
          <p:cNvPr id="3" name="Content Placeholder 2"/>
          <p:cNvSpPr>
            <a:spLocks noGrp="1"/>
          </p:cNvSpPr>
          <p:nvPr>
            <p:ph idx="1"/>
          </p:nvPr>
        </p:nvSpPr>
        <p:spPr>
          <a:xfrm>
            <a:off x="457200" y="1295400"/>
            <a:ext cx="8229600" cy="5562600"/>
          </a:xfrm>
        </p:spPr>
        <p:txBody>
          <a:bodyPr>
            <a:noAutofit/>
          </a:bodyPr>
          <a:lstStyle/>
          <a:p>
            <a:pPr>
              <a:buNone/>
            </a:pPr>
            <a:r>
              <a:rPr lang="en-US" sz="1600" dirty="0"/>
              <a:t>VHDL Code for Mealy Machine:</a:t>
            </a:r>
          </a:p>
          <a:p>
            <a:pPr>
              <a:buNone/>
            </a:pPr>
            <a:r>
              <a:rPr lang="en-US" sz="1600" dirty="0"/>
              <a:t>library </a:t>
            </a:r>
            <a:r>
              <a:rPr lang="en-US" sz="1600" dirty="0" err="1"/>
              <a:t>ieee</a:t>
            </a:r>
            <a:r>
              <a:rPr lang="en-US" sz="1600" dirty="0"/>
              <a:t>;</a:t>
            </a:r>
          </a:p>
          <a:p>
            <a:pPr>
              <a:buNone/>
            </a:pPr>
            <a:r>
              <a:rPr lang="en-US" sz="1600" dirty="0"/>
              <a:t>ieee.std_logic_1164.all;</a:t>
            </a:r>
          </a:p>
          <a:p>
            <a:pPr>
              <a:buNone/>
            </a:pPr>
            <a:r>
              <a:rPr lang="en-US" sz="1600" dirty="0"/>
              <a:t>entity mealyfsm is</a:t>
            </a:r>
          </a:p>
          <a:p>
            <a:pPr>
              <a:buNone/>
            </a:pPr>
            <a:r>
              <a:rPr lang="en-US" sz="1600" dirty="0"/>
              <a:t>port( clock, reset, w: in std_logic;</a:t>
            </a:r>
          </a:p>
          <a:p>
            <a:pPr>
              <a:buNone/>
            </a:pPr>
            <a:r>
              <a:rPr lang="en-US" sz="1600" dirty="0"/>
              <a:t>           z:out std_logic);</a:t>
            </a:r>
          </a:p>
          <a:p>
            <a:pPr>
              <a:buNone/>
            </a:pPr>
            <a:r>
              <a:rPr lang="en-US" sz="1600" dirty="0"/>
              <a:t>end mealyfsm;</a:t>
            </a:r>
          </a:p>
          <a:p>
            <a:pPr>
              <a:buNone/>
            </a:pPr>
            <a:r>
              <a:rPr lang="en-US" sz="1600" dirty="0"/>
              <a:t>architecture mealy_arch of mealyfsm is</a:t>
            </a:r>
          </a:p>
          <a:p>
            <a:pPr>
              <a:buNone/>
            </a:pPr>
            <a:r>
              <a:rPr lang="en-US" sz="1600" dirty="0"/>
              <a:t>type state_type is( a , b );</a:t>
            </a:r>
          </a:p>
          <a:p>
            <a:pPr>
              <a:buNone/>
            </a:pPr>
            <a:r>
              <a:rPr lang="en-US" sz="1600" dirty="0"/>
              <a:t>signal state: state_type;</a:t>
            </a:r>
          </a:p>
          <a:p>
            <a:pPr>
              <a:buNone/>
            </a:pPr>
            <a:r>
              <a:rPr lang="en-US" sz="1600" dirty="0"/>
              <a:t>begin</a:t>
            </a:r>
          </a:p>
          <a:p>
            <a:pPr>
              <a:buNone/>
            </a:pPr>
            <a:r>
              <a:rPr lang="en-US" sz="1600" dirty="0"/>
              <a:t>P0:process( reset, clock)</a:t>
            </a:r>
          </a:p>
          <a:p>
            <a:pPr>
              <a:buNone/>
            </a:pPr>
            <a:r>
              <a:rPr lang="en-IN" sz="1600" dirty="0"/>
              <a:t>begin</a:t>
            </a:r>
            <a:endParaRPr lang="en-US" sz="1600" dirty="0"/>
          </a:p>
          <a:p>
            <a:pPr>
              <a:buNone/>
            </a:pPr>
            <a:r>
              <a:rPr lang="en-US" sz="1600" dirty="0"/>
              <a:t>if (reset=1) then</a:t>
            </a:r>
          </a:p>
          <a:p>
            <a:pPr>
              <a:buNone/>
            </a:pPr>
            <a:r>
              <a:rPr lang="en-US" sz="1600" dirty="0"/>
              <a:t>State&lt;=a;</a:t>
            </a:r>
          </a:p>
          <a:p>
            <a:pPr>
              <a:buNone/>
            </a:pPr>
            <a:r>
              <a:rPr lang="en-US" sz="1600" dirty="0"/>
              <a:t>elseif  rising_edge(clock)then</a:t>
            </a:r>
          </a:p>
          <a:p>
            <a:pPr>
              <a:buNone/>
            </a:pPr>
            <a:r>
              <a:rPr lang="en-US" sz="1600" dirty="0"/>
              <a:t>case state is</a:t>
            </a:r>
          </a:p>
          <a:p>
            <a:pPr>
              <a:buNone/>
            </a:pPr>
            <a:r>
              <a:rPr lang="en-US" sz="1600" dirty="0"/>
              <a:t>when  a=&gt;</a:t>
            </a:r>
          </a:p>
          <a:p>
            <a:pPr>
              <a:buNone/>
            </a:pPr>
            <a:r>
              <a:rPr lang="en-US" sz="1600" dirty="0"/>
              <a:t>if w=‘1’ then  state&lt;=b; else state&lt;=</a:t>
            </a:r>
            <a:r>
              <a:rPr lang="en-US" sz="1600" dirty="0" err="1"/>
              <a:t>a;end</a:t>
            </a:r>
            <a:r>
              <a:rPr lang="en-US" sz="1600" dirty="0"/>
              <a:t> if;</a:t>
            </a:r>
          </a:p>
          <a:p>
            <a:pPr>
              <a:buNone/>
            </a:pPr>
            <a:endParaRPr lang="en-US" sz="1600" dirty="0"/>
          </a:p>
          <a:p>
            <a:pPr>
              <a:buNone/>
            </a:pPr>
            <a:endParaRPr lang="en-US" sz="1600" dirty="0"/>
          </a:p>
          <a:p>
            <a:pPr>
              <a:buNone/>
            </a:pPr>
            <a:endParaRPr lang="en-US" sz="1600" dirty="0"/>
          </a:p>
          <a:p>
            <a:pPr>
              <a:buNone/>
            </a:pPr>
            <a:endParaRPr lang="en-US" sz="1600" dirty="0"/>
          </a:p>
          <a:p>
            <a:pPr>
              <a:buNone/>
            </a:pPr>
            <a:endParaRPr lang="en-US" sz="1400" dirty="0"/>
          </a:p>
          <a:p>
            <a:pPr>
              <a:buNone/>
            </a:pPr>
            <a:endParaRPr lang="en-US" sz="1400" dirty="0"/>
          </a:p>
          <a:p>
            <a:pPr>
              <a:buNone/>
            </a:pPr>
            <a:r>
              <a:rPr lang="en-US" sz="1400" dirty="0"/>
              <a:t> </a:t>
            </a:r>
          </a:p>
          <a:p>
            <a:pPr>
              <a:buNone/>
            </a:pPr>
            <a:endParaRPr lang="en-US" sz="1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5821363"/>
          </a:xfrm>
        </p:spPr>
        <p:txBody>
          <a:bodyPr>
            <a:normAutofit fontScale="70000" lnSpcReduction="20000"/>
          </a:bodyPr>
          <a:lstStyle/>
          <a:p>
            <a:pPr>
              <a:buNone/>
            </a:pPr>
            <a:r>
              <a:rPr lang="en-US" dirty="0"/>
              <a:t>when b=&gt;</a:t>
            </a:r>
          </a:p>
          <a:p>
            <a:pPr>
              <a:buNone/>
            </a:pPr>
            <a:r>
              <a:rPr lang="en-US" dirty="0"/>
              <a:t>If w=’0’ then state&lt;=a;</a:t>
            </a:r>
          </a:p>
          <a:p>
            <a:pPr>
              <a:buNone/>
            </a:pPr>
            <a:r>
              <a:rPr lang="en-IN" dirty="0"/>
              <a:t>Else state&lt;=b;</a:t>
            </a:r>
            <a:endParaRPr lang="en-US" dirty="0"/>
          </a:p>
          <a:p>
            <a:pPr>
              <a:buNone/>
            </a:pPr>
            <a:r>
              <a:rPr lang="en-US" dirty="0"/>
              <a:t>end if;</a:t>
            </a:r>
          </a:p>
          <a:p>
            <a:pPr>
              <a:buNone/>
            </a:pPr>
            <a:r>
              <a:rPr lang="en-US" dirty="0"/>
              <a:t>end case;</a:t>
            </a:r>
          </a:p>
          <a:p>
            <a:pPr>
              <a:buNone/>
            </a:pPr>
            <a:r>
              <a:rPr lang="en-US" dirty="0"/>
              <a:t>end process p0;</a:t>
            </a:r>
          </a:p>
          <a:p>
            <a:pPr>
              <a:buNone/>
            </a:pPr>
            <a:r>
              <a:rPr lang="en-US" dirty="0"/>
              <a:t>p1: process(state, input)</a:t>
            </a:r>
          </a:p>
          <a:p>
            <a:pPr>
              <a:buNone/>
            </a:pPr>
            <a:r>
              <a:rPr lang="en-US" dirty="0"/>
              <a:t>begin</a:t>
            </a:r>
          </a:p>
          <a:p>
            <a:pPr>
              <a:buNone/>
            </a:pPr>
            <a:r>
              <a:rPr lang="en-US" dirty="0"/>
              <a:t>case state is</a:t>
            </a:r>
          </a:p>
          <a:p>
            <a:pPr>
              <a:buNone/>
            </a:pPr>
            <a:r>
              <a:rPr lang="en-US" dirty="0"/>
              <a:t>when a=&gt; if w=‘1’then z&lt;=0;</a:t>
            </a:r>
          </a:p>
          <a:p>
            <a:pPr>
              <a:buNone/>
            </a:pPr>
            <a:r>
              <a:rPr lang="en-US" dirty="0"/>
              <a:t>                    end if;</a:t>
            </a:r>
          </a:p>
          <a:p>
            <a:pPr>
              <a:buNone/>
            </a:pPr>
            <a:r>
              <a:rPr lang="en-US" dirty="0"/>
              <a:t>when b=&gt; if w=‘1’ then </a:t>
            </a:r>
            <a:r>
              <a:rPr lang="en-US" dirty="0">
                <a:highlight>
                  <a:srgbClr val="FFFF00"/>
                </a:highlight>
              </a:rPr>
              <a:t>z&lt;= 1</a:t>
            </a:r>
          </a:p>
          <a:p>
            <a:pPr>
              <a:buNone/>
            </a:pPr>
            <a:r>
              <a:rPr lang="en-US" dirty="0"/>
              <a:t>                   else z&lt;=0;</a:t>
            </a:r>
          </a:p>
          <a:p>
            <a:pPr>
              <a:buNone/>
            </a:pPr>
            <a:r>
              <a:rPr lang="en-US" dirty="0"/>
              <a:t>                    end if;</a:t>
            </a:r>
          </a:p>
          <a:p>
            <a:pPr>
              <a:buNone/>
            </a:pPr>
            <a:r>
              <a:rPr lang="en-US" dirty="0"/>
              <a:t>end  case;</a:t>
            </a:r>
          </a:p>
          <a:p>
            <a:pPr>
              <a:buNone/>
            </a:pPr>
            <a:r>
              <a:rPr lang="en-US" dirty="0"/>
              <a:t>end process p1;</a:t>
            </a:r>
          </a:p>
          <a:p>
            <a:pPr>
              <a:buNone/>
            </a:pPr>
            <a:r>
              <a:rPr lang="en-US" dirty="0"/>
              <a:t>end mealy_fsm;</a:t>
            </a:r>
          </a:p>
          <a:p>
            <a:pPr>
              <a:buNone/>
            </a:pPr>
            <a:endParaRPr lang="en-U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2162"/>
          </a:xfrm>
        </p:spPr>
        <p:txBody>
          <a:bodyPr>
            <a:normAutofit/>
          </a:bodyPr>
          <a:lstStyle/>
          <a:p>
            <a:r>
              <a:rPr lang="en-US" sz="2800" dirty="0"/>
              <a:t>Meta-stability</a:t>
            </a:r>
          </a:p>
        </p:txBody>
      </p:sp>
      <p:sp>
        <p:nvSpPr>
          <p:cNvPr id="3" name="Content Placeholder 2"/>
          <p:cNvSpPr>
            <a:spLocks noGrp="1"/>
          </p:cNvSpPr>
          <p:nvPr>
            <p:ph idx="1"/>
          </p:nvPr>
        </p:nvSpPr>
        <p:spPr>
          <a:xfrm>
            <a:off x="457200" y="1066800"/>
            <a:ext cx="8229600" cy="5059363"/>
          </a:xfrm>
        </p:spPr>
        <p:txBody>
          <a:bodyPr>
            <a:normAutofit/>
          </a:bodyPr>
          <a:lstStyle/>
          <a:p>
            <a:r>
              <a:rPr lang="en-US" sz="1600" dirty="0"/>
              <a:t>In General meta-stability is an un-avoidable behavior of the circuit that may cause malfunction.</a:t>
            </a:r>
          </a:p>
          <a:p>
            <a:r>
              <a:rPr lang="en-US" sz="1600" dirty="0"/>
              <a:t>From a specification point of view, synchronous elements such as flip flops specify a setup time and hold time.  (</a:t>
            </a:r>
            <a:r>
              <a:rPr lang="en-US" sz="1600" dirty="0">
                <a:highlight>
                  <a:srgbClr val="FFFF00"/>
                </a:highlight>
              </a:rPr>
              <a:t>setup time</a:t>
            </a:r>
            <a:r>
              <a:rPr lang="en-US" sz="1600" dirty="0"/>
              <a:t>: data should be stable for this time before arrival of clock)</a:t>
            </a:r>
          </a:p>
          <a:p>
            <a:pPr marL="0" indent="0">
              <a:buNone/>
            </a:pPr>
            <a:r>
              <a:rPr lang="en-US" sz="1600" dirty="0"/>
              <a:t>        (</a:t>
            </a:r>
            <a:r>
              <a:rPr lang="en-US" sz="1600" dirty="0">
                <a:highlight>
                  <a:srgbClr val="FFFF00"/>
                </a:highlight>
              </a:rPr>
              <a:t>Hold time</a:t>
            </a:r>
            <a:r>
              <a:rPr lang="en-US" sz="1600" dirty="0"/>
              <a:t>: data should be hold stable for this time after arrival of clock).</a:t>
            </a:r>
          </a:p>
          <a:p>
            <a:r>
              <a:rPr lang="en-US" sz="1600" dirty="0"/>
              <a:t> Clock calculation  depends upon setup time hold time and propagation delay</a:t>
            </a:r>
          </a:p>
          <a:p>
            <a:r>
              <a:rPr lang="en-US" sz="1600" dirty="0"/>
              <a:t>If setup and hold time is violated then meta-stability will occur.</a:t>
            </a:r>
          </a:p>
          <a:p>
            <a:endParaRPr lang="en-US" sz="1600" dirty="0"/>
          </a:p>
        </p:txBody>
      </p:sp>
      <p:pic>
        <p:nvPicPr>
          <p:cNvPr id="3074" name="Picture 2"/>
          <p:cNvPicPr>
            <a:picLocks noChangeAspect="1" noChangeArrowheads="1"/>
          </p:cNvPicPr>
          <p:nvPr/>
        </p:nvPicPr>
        <p:blipFill>
          <a:blip r:embed="rId2"/>
          <a:srcRect/>
          <a:stretch>
            <a:fillRect/>
          </a:stretch>
        </p:blipFill>
        <p:spPr bwMode="auto">
          <a:xfrm>
            <a:off x="381000" y="3276600"/>
            <a:ext cx="3771900" cy="3581400"/>
          </a:xfrm>
          <a:prstGeom prst="rect">
            <a:avLst/>
          </a:prstGeom>
          <a:noFill/>
          <a:ln w="9525">
            <a:noFill/>
            <a:miter lim="800000"/>
            <a:headEnd/>
            <a:tailEnd/>
          </a:ln>
          <a:effectLst/>
        </p:spPr>
      </p:pic>
      <p:pic>
        <p:nvPicPr>
          <p:cNvPr id="3075" name="Picture 3"/>
          <p:cNvPicPr>
            <a:picLocks noChangeAspect="1" noChangeArrowheads="1"/>
          </p:cNvPicPr>
          <p:nvPr/>
        </p:nvPicPr>
        <p:blipFill>
          <a:blip r:embed="rId3"/>
          <a:srcRect/>
          <a:stretch>
            <a:fillRect/>
          </a:stretch>
        </p:blipFill>
        <p:spPr bwMode="auto">
          <a:xfrm>
            <a:off x="4495800" y="3352800"/>
            <a:ext cx="4419600" cy="2981325"/>
          </a:xfrm>
          <a:prstGeom prst="rect">
            <a:avLst/>
          </a:prstGeom>
          <a:noFill/>
          <a:ln w="9525">
            <a:noFill/>
            <a:miter lim="800000"/>
            <a:headEnd/>
            <a:tailEnd/>
          </a:ln>
          <a:effectLst/>
        </p:spPr>
      </p:pic>
    </p:spTree>
    <p:extLst>
      <p:ext uri="{BB962C8B-B14F-4D97-AF65-F5344CB8AC3E}">
        <p14:creationId xmlns:p14="http://schemas.microsoft.com/office/powerpoint/2010/main" xmlns="" val="372017113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a:t>WHAT IS METASTABILITY? </a:t>
            </a:r>
          </a:p>
        </p:txBody>
      </p:sp>
      <p:sp>
        <p:nvSpPr>
          <p:cNvPr id="3" name="Content Placeholder 2"/>
          <p:cNvSpPr>
            <a:spLocks noGrp="1"/>
          </p:cNvSpPr>
          <p:nvPr>
            <p:ph idx="1"/>
          </p:nvPr>
        </p:nvSpPr>
        <p:spPr>
          <a:xfrm>
            <a:off x="457200" y="1143000"/>
            <a:ext cx="4114800" cy="4983163"/>
          </a:xfrm>
        </p:spPr>
        <p:txBody>
          <a:bodyPr>
            <a:normAutofit/>
          </a:bodyPr>
          <a:lstStyle/>
          <a:p>
            <a:pPr algn="just"/>
            <a:r>
              <a:rPr lang="en-US" sz="1600" dirty="0"/>
              <a:t>Meta-stability in digital systems occurs when two asynchronous signals combine in such a way that their resulting output goes to an indeterminate state. A common example is the case of data violating the setup and hold specifications of a latch or a flip-flop. In an ideal world, where all logic designs are synchronous and all inputs are tied to the system clock, meta-stability would not be a concern because all timing conditions for the flip-flops would be met. However, in most of the design, the data is asynchronous w.r.t. the clock making the flop a potential candidate for meta-stability as there’s no reasonable way to insure that the changing asynchronous data will meet the flop’s setup time. Occasionally – not often - the latched data will be corrupt. So the designer has to take care of these violations</a:t>
            </a:r>
          </a:p>
        </p:txBody>
      </p:sp>
      <p:pic>
        <p:nvPicPr>
          <p:cNvPr id="4098" name="Picture 2"/>
          <p:cNvPicPr>
            <a:picLocks noChangeAspect="1" noChangeArrowheads="1"/>
          </p:cNvPicPr>
          <p:nvPr/>
        </p:nvPicPr>
        <p:blipFill>
          <a:blip r:embed="rId2"/>
          <a:srcRect/>
          <a:stretch>
            <a:fillRect/>
          </a:stretch>
        </p:blipFill>
        <p:spPr bwMode="auto">
          <a:xfrm>
            <a:off x="4953000" y="1219201"/>
            <a:ext cx="3990975" cy="3048000"/>
          </a:xfrm>
          <a:prstGeom prst="rect">
            <a:avLst/>
          </a:prstGeom>
          <a:noFill/>
          <a:ln w="9525">
            <a:noFill/>
            <a:miter lim="800000"/>
            <a:headEnd/>
            <a:tailEnd/>
          </a:ln>
          <a:effectLst/>
        </p:spPr>
      </p:pic>
      <p:pic>
        <p:nvPicPr>
          <p:cNvPr id="4099" name="Picture 3"/>
          <p:cNvPicPr>
            <a:picLocks noChangeAspect="1" noChangeArrowheads="1"/>
          </p:cNvPicPr>
          <p:nvPr/>
        </p:nvPicPr>
        <p:blipFill>
          <a:blip r:embed="rId3"/>
          <a:srcRect/>
          <a:stretch>
            <a:fillRect/>
          </a:stretch>
        </p:blipFill>
        <p:spPr bwMode="auto">
          <a:xfrm>
            <a:off x="5105400" y="4419600"/>
            <a:ext cx="3657600" cy="1933575"/>
          </a:xfrm>
          <a:prstGeom prst="rect">
            <a:avLst/>
          </a:prstGeom>
          <a:noFill/>
          <a:ln w="9525">
            <a:noFill/>
            <a:miter lim="800000"/>
            <a:headEnd/>
            <a:tailEnd/>
          </a:ln>
          <a:effectLst/>
        </p:spPr>
      </p:pic>
    </p:spTree>
    <p:extLst>
      <p:ext uri="{BB962C8B-B14F-4D97-AF65-F5344CB8AC3E}">
        <p14:creationId xmlns:p14="http://schemas.microsoft.com/office/powerpoint/2010/main" xmlns="" val="96263175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200" dirty="0"/>
              <a:t>WHAT ARE THE CASES, WHEN METASTABILITY OCCURS?</a:t>
            </a:r>
            <a:br>
              <a:rPr lang="en-US" sz="3200" dirty="0"/>
            </a:br>
            <a:endParaRPr lang="en-US" sz="3200" dirty="0"/>
          </a:p>
        </p:txBody>
      </p:sp>
      <p:sp>
        <p:nvSpPr>
          <p:cNvPr id="3" name="Content Placeholder 2"/>
          <p:cNvSpPr>
            <a:spLocks noGrp="1"/>
          </p:cNvSpPr>
          <p:nvPr>
            <p:ph idx="1"/>
          </p:nvPr>
        </p:nvSpPr>
        <p:spPr/>
        <p:txBody>
          <a:bodyPr>
            <a:normAutofit fontScale="77500" lnSpcReduction="20000"/>
          </a:bodyPr>
          <a:lstStyle/>
          <a:p>
            <a:r>
              <a:rPr lang="en-US" dirty="0"/>
              <a:t>As we have seen that whenever setup and hold violation time occurs, meta-stability occurs, so it is to be seen when does this signal violate this timing requirement. </a:t>
            </a:r>
          </a:p>
          <a:p>
            <a:pPr marL="0" indent="0">
              <a:buNone/>
            </a:pPr>
            <a:r>
              <a:rPr lang="en-US" dirty="0"/>
              <a:t>• When the input signal is a asynchronous signal</a:t>
            </a:r>
          </a:p>
          <a:p>
            <a:pPr marL="0" indent="0">
              <a:buNone/>
            </a:pPr>
            <a:r>
              <a:rPr lang="en-US" dirty="0"/>
              <a:t>• When the clock skew is more (rise time and fall time is </a:t>
            </a:r>
          </a:p>
          <a:p>
            <a:pPr marL="0" indent="0">
              <a:buNone/>
            </a:pPr>
            <a:r>
              <a:rPr lang="en-US" dirty="0"/>
              <a:t>    more then the tolerable values).</a:t>
            </a:r>
          </a:p>
          <a:p>
            <a:pPr marL="0" indent="0">
              <a:buNone/>
            </a:pPr>
            <a:r>
              <a:rPr lang="en-US" dirty="0"/>
              <a:t>• When interfacing two domains operating at two different </a:t>
            </a:r>
          </a:p>
          <a:p>
            <a:pPr marL="0" indent="0">
              <a:buNone/>
            </a:pPr>
            <a:r>
              <a:rPr lang="en-US" dirty="0"/>
              <a:t>    frequency.</a:t>
            </a:r>
          </a:p>
          <a:p>
            <a:pPr marL="0" indent="0">
              <a:buNone/>
            </a:pPr>
            <a:r>
              <a:rPr lang="en-US" dirty="0"/>
              <a:t>• When the combinational delay is such way that, it changes </a:t>
            </a:r>
          </a:p>
          <a:p>
            <a:pPr marL="0" indent="0">
              <a:buNone/>
            </a:pPr>
            <a:r>
              <a:rPr lang="en-US" dirty="0"/>
              <a:t>    flip-flop’s input in the required window (setup + hold </a:t>
            </a:r>
          </a:p>
          <a:p>
            <a:pPr marL="0" indent="0">
              <a:buNone/>
            </a:pPr>
            <a:r>
              <a:rPr lang="en-US" dirty="0"/>
              <a:t>     window) </a:t>
            </a:r>
          </a:p>
        </p:txBody>
      </p:sp>
    </p:spTree>
    <p:extLst>
      <p:ext uri="{BB962C8B-B14F-4D97-AF65-F5344CB8AC3E}">
        <p14:creationId xmlns:p14="http://schemas.microsoft.com/office/powerpoint/2010/main" xmlns="" val="148555673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100" dirty="0"/>
              <a:t>HOW TO MINIMIZE METASTABILITY</a:t>
            </a:r>
            <a:r>
              <a:rPr lang="en-US" dirty="0"/>
              <a:t>? </a:t>
            </a:r>
          </a:p>
        </p:txBody>
      </p:sp>
      <p:sp>
        <p:nvSpPr>
          <p:cNvPr id="3" name="Content Placeholder 2"/>
          <p:cNvSpPr>
            <a:spLocks noGrp="1"/>
          </p:cNvSpPr>
          <p:nvPr>
            <p:ph idx="1"/>
          </p:nvPr>
        </p:nvSpPr>
        <p:spPr/>
        <p:txBody>
          <a:bodyPr>
            <a:normAutofit/>
          </a:bodyPr>
          <a:lstStyle/>
          <a:p>
            <a:r>
              <a:rPr lang="en-US" sz="1800" dirty="0"/>
              <a:t>Synchronize any asynchronous input through one path that has at least one and </a:t>
            </a:r>
            <a:r>
              <a:rPr lang="en-US" sz="1800" dirty="0">
                <a:solidFill>
                  <a:srgbClr val="FF0000"/>
                </a:solidFill>
              </a:rPr>
              <a:t>preferably two flip-flops in series.</a:t>
            </a:r>
            <a:r>
              <a:rPr lang="en-US" sz="1800" dirty="0"/>
              <a:t> The flip-flops should be running on the same edge of your system clock as the rest of the circuit.</a:t>
            </a:r>
          </a:p>
          <a:p>
            <a:r>
              <a:rPr lang="en-US" sz="1800" dirty="0"/>
              <a:t>Design any state machines whose operation is affected by these “synchronized” signals to follow </a:t>
            </a:r>
            <a:r>
              <a:rPr lang="en-US" sz="1800" dirty="0">
                <a:solidFill>
                  <a:srgbClr val="FF0000"/>
                </a:solidFill>
              </a:rPr>
              <a:t>a gray code pattern </a:t>
            </a:r>
            <a:r>
              <a:rPr lang="en-US" sz="1800" dirty="0"/>
              <a:t>between states controlled by these signals. Gray Code is a counting scheme where only a single bit changes between numbers</a:t>
            </a:r>
          </a:p>
          <a:p>
            <a:r>
              <a:rPr lang="en-US" sz="1800" dirty="0"/>
              <a:t> Ensure that setup time of the destination flip-flop is met. This will avoid the creation of metastable conditions inside the circuit and minimize the propagation of any should they occur. </a:t>
            </a:r>
          </a:p>
          <a:p>
            <a:r>
              <a:rPr lang="en-US" sz="1800" dirty="0"/>
              <a:t>Compute a parity or checksum of the input data before the capture register. Latch that into the register as well. Have the code compute parity and compare it to that read. If there's an error, do another read. </a:t>
            </a:r>
          </a:p>
          <a:p>
            <a:r>
              <a:rPr lang="en-US" sz="1800" dirty="0"/>
              <a:t>Use </a:t>
            </a:r>
            <a:r>
              <a:rPr lang="en-US" sz="1800" dirty="0" err="1"/>
              <a:t>metastability</a:t>
            </a:r>
            <a:r>
              <a:rPr lang="en-US" sz="1800" dirty="0"/>
              <a:t> hardened Flip-flops.</a:t>
            </a:r>
          </a:p>
        </p:txBody>
      </p:sp>
    </p:spTree>
    <p:extLst>
      <p:ext uri="{BB962C8B-B14F-4D97-AF65-F5344CB8AC3E}">
        <p14:creationId xmlns:p14="http://schemas.microsoft.com/office/powerpoint/2010/main" xmlns="" val="315299796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dirty="0"/>
              <a:t>Noise margin</a:t>
            </a:r>
          </a:p>
        </p:txBody>
      </p:sp>
      <p:sp>
        <p:nvSpPr>
          <p:cNvPr id="3" name="Content Placeholder 2"/>
          <p:cNvSpPr>
            <a:spLocks noGrp="1"/>
          </p:cNvSpPr>
          <p:nvPr>
            <p:ph idx="1"/>
          </p:nvPr>
        </p:nvSpPr>
        <p:spPr>
          <a:xfrm>
            <a:off x="457200" y="1295400"/>
            <a:ext cx="8229600" cy="4830763"/>
          </a:xfrm>
        </p:spPr>
        <p:txBody>
          <a:bodyPr>
            <a:normAutofit/>
          </a:bodyPr>
          <a:lstStyle/>
          <a:p>
            <a:r>
              <a:rPr lang="en-US" sz="2000" dirty="0"/>
              <a:t>Noise margin is a parameter closely related to the input-output voltage characteristics. This parameter allows us to determine the allowable noise voltage on the input of gate so that the output will not be affected.</a:t>
            </a:r>
          </a:p>
          <a:p>
            <a:r>
              <a:rPr lang="en-US" sz="2000" dirty="0"/>
              <a:t>The specification most commonly used to specify noise margin in terms of two parameters. LOW noise Margin NM</a:t>
            </a:r>
            <a:r>
              <a:rPr lang="en-US" sz="2000" baseline="-25000" dirty="0"/>
              <a:t>L</a:t>
            </a:r>
            <a:r>
              <a:rPr lang="en-US" sz="2000" dirty="0"/>
              <a:t> and  High noise Margin NM</a:t>
            </a:r>
            <a:r>
              <a:rPr lang="en-US" sz="2000" baseline="-25000" dirty="0"/>
              <a:t>H</a:t>
            </a:r>
          </a:p>
          <a:p>
            <a:pPr marL="0" indent="0">
              <a:buNone/>
            </a:pPr>
            <a:endParaRPr lang="en-US" sz="2000" dirty="0"/>
          </a:p>
          <a:p>
            <a:endParaRPr lang="en-US" sz="2000" baseline="-25000" dirty="0"/>
          </a:p>
          <a:p>
            <a:endParaRPr lang="en-US" sz="2000" baseline="-25000" dirty="0"/>
          </a:p>
          <a:p>
            <a:endParaRPr lang="en-US" sz="2000" baseline="-25000" dirty="0"/>
          </a:p>
          <a:p>
            <a:endParaRPr lang="en-US" sz="2000" baseline="-25000" dirty="0"/>
          </a:p>
          <a:p>
            <a:endParaRPr lang="en-US" sz="2000" baseline="-25000" dirty="0"/>
          </a:p>
          <a:p>
            <a:endParaRPr lang="en-US" sz="2000" baseline="-25000" dirty="0"/>
          </a:p>
          <a:p>
            <a:endParaRPr lang="en-US" sz="2000" baseline="-25000" dirty="0"/>
          </a:p>
          <a:p>
            <a:endParaRPr lang="en-US" sz="2000" baseline="-25000" dirty="0"/>
          </a:p>
          <a:p>
            <a:endParaRPr lang="en-US" sz="2000" baseline="-25000" dirty="0"/>
          </a:p>
        </p:txBody>
      </p:sp>
      <p:pic>
        <p:nvPicPr>
          <p:cNvPr id="5122" name="Picture 2"/>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1066800" y="3276600"/>
            <a:ext cx="6219825" cy="309562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362245568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a:t>Noise Margin</a:t>
            </a:r>
          </a:p>
        </p:txBody>
      </p:sp>
      <p:sp>
        <p:nvSpPr>
          <p:cNvPr id="3" name="Content Placeholder 2"/>
          <p:cNvSpPr>
            <a:spLocks noGrp="1"/>
          </p:cNvSpPr>
          <p:nvPr>
            <p:ph idx="1"/>
          </p:nvPr>
        </p:nvSpPr>
        <p:spPr/>
        <p:txBody>
          <a:bodyPr>
            <a:normAutofit/>
          </a:bodyPr>
          <a:lstStyle/>
          <a:p>
            <a:r>
              <a:rPr lang="en-US" sz="2400" dirty="0"/>
              <a:t>Note that if either NML or NMH for gate are reduced below 0.1*</a:t>
            </a:r>
            <a:r>
              <a:rPr lang="en-US" sz="2400" dirty="0" err="1"/>
              <a:t>Vdd</a:t>
            </a:r>
            <a:r>
              <a:rPr lang="en-US" sz="2400" dirty="0"/>
              <a:t>, then the gate may be susceptible to switching noise that may be present on the inputs. Apart from considering a single gate , one must consider the net effect of noise sources and noise margins on cascaded gates in assessing the overall noise immunity of a particular system.</a:t>
            </a:r>
          </a:p>
          <a:p>
            <a:endParaRPr lang="en-US" sz="2400" dirty="0"/>
          </a:p>
          <a:p>
            <a:r>
              <a:rPr lang="en-US" sz="2400" dirty="0"/>
              <a:t>Quite often noise margins are compromised to improve speed of the circuit.</a:t>
            </a:r>
          </a:p>
        </p:txBody>
      </p:sp>
    </p:spTree>
    <p:extLst>
      <p:ext uri="{BB962C8B-B14F-4D97-AF65-F5344CB8AC3E}">
        <p14:creationId xmlns:p14="http://schemas.microsoft.com/office/powerpoint/2010/main" xmlns="" val="14854026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Noise Margin------</a:t>
            </a:r>
          </a:p>
        </p:txBody>
      </p:sp>
      <p:pic>
        <p:nvPicPr>
          <p:cNvPr id="7170" name="Picture 2"/>
          <p:cNvPicPr>
            <a:picLocks noGrp="1" noChangeAspect="1" noChangeArrowheads="1"/>
          </p:cNvPicPr>
          <p:nvPr>
            <p:ph idx="1"/>
          </p:nvPr>
        </p:nvPicPr>
        <p:blipFill>
          <a:blip r:embed="rId2" cstate="print">
            <a:extLst>
              <a:ext uri="{28A0092B-C50C-407E-A947-70E740481C1C}">
                <a14:useLocalDpi xmlns:a14="http://schemas.microsoft.com/office/drawing/2010/main" xmlns="" val="0"/>
              </a:ext>
            </a:extLst>
          </a:blip>
          <a:srcRect/>
          <a:stretch>
            <a:fillRect/>
          </a:stretch>
        </p:blipFill>
        <p:spPr bwMode="auto">
          <a:xfrm>
            <a:off x="723900" y="1862931"/>
            <a:ext cx="7696200" cy="40005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209109590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2"/>
          <p:cNvPicPr>
            <a:picLocks noGrp="1" noChangeAspect="1" noChangeArrowheads="1"/>
          </p:cNvPicPr>
          <p:nvPr>
            <p:ph idx="1"/>
          </p:nvPr>
        </p:nvPicPr>
        <p:blipFill>
          <a:blip r:embed="rId2" cstate="print">
            <a:extLst>
              <a:ext uri="{28A0092B-C50C-407E-A947-70E740481C1C}">
                <a14:useLocalDpi xmlns:a14="http://schemas.microsoft.com/office/drawing/2010/main" xmlns="" val="0"/>
              </a:ext>
            </a:extLst>
          </a:blip>
          <a:srcRect/>
          <a:stretch>
            <a:fillRect/>
          </a:stretch>
        </p:blipFill>
        <p:spPr bwMode="auto">
          <a:xfrm>
            <a:off x="737724" y="990600"/>
            <a:ext cx="8025276" cy="50673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4" name="Title 3"/>
          <p:cNvSpPr>
            <a:spLocks noGrp="1"/>
          </p:cNvSpPr>
          <p:nvPr>
            <p:ph type="title"/>
          </p:nvPr>
        </p:nvSpPr>
        <p:spPr/>
        <p:txBody>
          <a:bodyPr/>
          <a:lstStyle/>
          <a:p>
            <a:endParaRPr lang="en-US"/>
          </a:p>
        </p:txBody>
      </p:sp>
    </p:spTree>
    <p:extLst>
      <p:ext uri="{BB962C8B-B14F-4D97-AF65-F5344CB8AC3E}">
        <p14:creationId xmlns:p14="http://schemas.microsoft.com/office/powerpoint/2010/main" xmlns="" val="126223379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2162"/>
          </a:xfrm>
        </p:spPr>
        <p:txBody>
          <a:bodyPr>
            <a:normAutofit/>
          </a:bodyPr>
          <a:lstStyle/>
          <a:p>
            <a:r>
              <a:rPr lang="en-US" sz="2800" dirty="0"/>
              <a:t>Speed Performance</a:t>
            </a:r>
          </a:p>
        </p:txBody>
      </p:sp>
      <p:sp>
        <p:nvSpPr>
          <p:cNvPr id="3" name="Content Placeholder 2"/>
          <p:cNvSpPr>
            <a:spLocks noGrp="1"/>
          </p:cNvSpPr>
          <p:nvPr>
            <p:ph idx="1"/>
          </p:nvPr>
        </p:nvSpPr>
        <p:spPr>
          <a:xfrm>
            <a:off x="457200" y="990600"/>
            <a:ext cx="8229600" cy="5135563"/>
          </a:xfrm>
        </p:spPr>
        <p:txBody>
          <a:bodyPr>
            <a:normAutofit lnSpcReduction="10000"/>
          </a:bodyPr>
          <a:lstStyle/>
          <a:p>
            <a:endParaRPr lang="en-US" sz="2400" dirty="0"/>
          </a:p>
          <a:p>
            <a:r>
              <a:rPr lang="en-US" sz="2400" dirty="0"/>
              <a:t>Worst case rise delay= (</a:t>
            </a:r>
            <a:r>
              <a:rPr lang="en-US" sz="2400" dirty="0" err="1"/>
              <a:t>Rp</a:t>
            </a:r>
            <a:r>
              <a:rPr lang="en-US" sz="2400" dirty="0"/>
              <a:t>/n)*(m*n*</a:t>
            </a:r>
            <a:r>
              <a:rPr lang="en-US" sz="2400" dirty="0" err="1"/>
              <a:t>Cd+Cr+kCg</a:t>
            </a:r>
            <a:r>
              <a:rPr lang="en-US" sz="2400" dirty="0"/>
              <a:t>)</a:t>
            </a:r>
          </a:p>
          <a:p>
            <a:pPr marL="0" indent="0">
              <a:buNone/>
            </a:pPr>
            <a:r>
              <a:rPr lang="en-US" sz="2400" dirty="0"/>
              <a:t>gate ,drain, routing capacitance, effective resistance of p device in this gate, m-fan-in of </a:t>
            </a:r>
            <a:r>
              <a:rPr lang="en-US" sz="2400" dirty="0" err="1"/>
              <a:t>gate,k-fanout,n</a:t>
            </a:r>
            <a:r>
              <a:rPr lang="en-US" sz="2400" dirty="0"/>
              <a:t> width multiplier of p-device.</a:t>
            </a:r>
          </a:p>
          <a:p>
            <a:endParaRPr lang="en-US" sz="2400" dirty="0"/>
          </a:p>
          <a:p>
            <a:r>
              <a:rPr lang="en-US" sz="2400" dirty="0"/>
              <a:t>Fall delay time = (</a:t>
            </a:r>
            <a:r>
              <a:rPr lang="en-US" sz="2400" dirty="0" err="1"/>
              <a:t>Rn</a:t>
            </a:r>
            <a:r>
              <a:rPr lang="en-US" sz="2400" dirty="0"/>
              <a:t>/n)*(m*n*r*</a:t>
            </a:r>
            <a:r>
              <a:rPr lang="en-US" sz="2400" dirty="0" err="1"/>
              <a:t>Cg+q</a:t>
            </a:r>
            <a:r>
              <a:rPr lang="en-US" sz="2400" dirty="0"/>
              <a:t>(k)*</a:t>
            </a:r>
            <a:r>
              <a:rPr lang="en-US" sz="2400" dirty="0" err="1"/>
              <a:t>Cg+k</a:t>
            </a:r>
            <a:r>
              <a:rPr lang="en-US" sz="2400" dirty="0"/>
              <a:t>*Cg))</a:t>
            </a:r>
          </a:p>
          <a:p>
            <a:endParaRPr lang="en-US" sz="2400" dirty="0"/>
          </a:p>
          <a:p>
            <a:r>
              <a:rPr lang="en-US" sz="2400" dirty="0" err="1"/>
              <a:t>Rp</a:t>
            </a:r>
            <a:r>
              <a:rPr lang="en-US" sz="2400" dirty="0"/>
              <a:t>=</a:t>
            </a:r>
            <a:r>
              <a:rPr lang="en-US" sz="2400" dirty="0" err="1"/>
              <a:t>mRn</a:t>
            </a:r>
            <a:endParaRPr lang="en-US" sz="2400" dirty="0"/>
          </a:p>
          <a:p>
            <a:endParaRPr lang="en-US" sz="2400" dirty="0"/>
          </a:p>
          <a:p>
            <a:r>
              <a:rPr lang="en-US" sz="2400" dirty="0" err="1"/>
              <a:t>BpWp</a:t>
            </a:r>
            <a:r>
              <a:rPr lang="en-US" sz="2400" dirty="0"/>
              <a:t>=</a:t>
            </a:r>
            <a:r>
              <a:rPr lang="en-US" sz="2400" dirty="0" err="1"/>
              <a:t>BnWn</a:t>
            </a:r>
            <a:r>
              <a:rPr lang="en-US" sz="2400" dirty="0"/>
              <a:t>/m</a:t>
            </a:r>
          </a:p>
          <a:p>
            <a:r>
              <a:rPr lang="en-US" sz="2400" dirty="0"/>
              <a:t>*q(k) function of routing capacitance</a:t>
            </a:r>
          </a:p>
          <a:p>
            <a:pPr marL="0" indent="0">
              <a:buNone/>
            </a:pPr>
            <a:r>
              <a:rPr lang="en-US" sz="2400" dirty="0"/>
              <a:t> </a:t>
            </a:r>
          </a:p>
        </p:txBody>
      </p:sp>
    </p:spTree>
    <p:extLst>
      <p:ext uri="{BB962C8B-B14F-4D97-AF65-F5344CB8AC3E}">
        <p14:creationId xmlns:p14="http://schemas.microsoft.com/office/powerpoint/2010/main" xmlns="" val="222633202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dirty="0"/>
              <a:t>Clock skew</a:t>
            </a:r>
          </a:p>
        </p:txBody>
      </p:sp>
      <p:sp>
        <p:nvSpPr>
          <p:cNvPr id="3" name="Content Placeholder 2"/>
          <p:cNvSpPr>
            <a:spLocks noGrp="1"/>
          </p:cNvSpPr>
          <p:nvPr>
            <p:ph idx="1"/>
          </p:nvPr>
        </p:nvSpPr>
        <p:spPr>
          <a:xfrm>
            <a:off x="457200" y="1143000"/>
            <a:ext cx="8229600" cy="4983163"/>
          </a:xfrm>
        </p:spPr>
        <p:txBody>
          <a:bodyPr>
            <a:normAutofit fontScale="85000" lnSpcReduction="10000"/>
          </a:bodyPr>
          <a:lstStyle/>
          <a:p>
            <a:r>
              <a:rPr lang="en-US" b="1" u="sng" dirty="0"/>
              <a:t>Clock skew</a:t>
            </a:r>
            <a:r>
              <a:rPr lang="en-US" dirty="0"/>
              <a:t> is a phenomenon in synchronous circuits in which the clock signal (sent from the clock circuit or source or clock definition point) arrives at different components at different times.</a:t>
            </a:r>
            <a:br>
              <a:rPr lang="en-US" dirty="0"/>
            </a:br>
            <a:r>
              <a:rPr lang="en-US" dirty="0"/>
              <a:t>due to</a:t>
            </a:r>
          </a:p>
          <a:p>
            <a:r>
              <a:rPr lang="en-US" dirty="0"/>
              <a:t>wire-interconnect length</a:t>
            </a:r>
          </a:p>
          <a:p>
            <a:r>
              <a:rPr lang="en-US" dirty="0"/>
              <a:t>temperature variations</a:t>
            </a:r>
          </a:p>
          <a:p>
            <a:r>
              <a:rPr lang="en-US" dirty="0"/>
              <a:t>capacitive coupling</a:t>
            </a:r>
          </a:p>
          <a:p>
            <a:r>
              <a:rPr lang="en-US" dirty="0"/>
              <a:t>material imperfections and</a:t>
            </a:r>
          </a:p>
          <a:p>
            <a:r>
              <a:rPr lang="en-US" dirty="0"/>
              <a:t>differences in input capacitance on the clock inputs </a:t>
            </a:r>
          </a:p>
          <a:p>
            <a:r>
              <a:rPr lang="en-US" dirty="0"/>
              <a:t>these factor became more critical for high frequency</a:t>
            </a:r>
          </a:p>
        </p:txBody>
      </p:sp>
    </p:spTree>
    <p:extLst>
      <p:ext uri="{BB962C8B-B14F-4D97-AF65-F5344CB8AC3E}">
        <p14:creationId xmlns:p14="http://schemas.microsoft.com/office/powerpoint/2010/main" xmlns="" val="319832456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Clock Skew--</a:t>
            </a:r>
          </a:p>
        </p:txBody>
      </p:sp>
      <p:sp>
        <p:nvSpPr>
          <p:cNvPr id="3" name="Content Placeholder 2"/>
          <p:cNvSpPr>
            <a:spLocks noGrp="1"/>
          </p:cNvSpPr>
          <p:nvPr>
            <p:ph idx="1"/>
          </p:nvPr>
        </p:nvSpPr>
        <p:spPr/>
        <p:txBody>
          <a:bodyPr>
            <a:normAutofit fontScale="70000" lnSpcReduction="20000"/>
          </a:bodyPr>
          <a:lstStyle/>
          <a:p>
            <a:r>
              <a:rPr lang="en-US" b="1" dirty="0"/>
              <a:t>Negative skew</a:t>
            </a:r>
            <a:endParaRPr lang="en-US" dirty="0"/>
          </a:p>
          <a:p>
            <a:r>
              <a:rPr lang="en-US" b="1" dirty="0"/>
              <a:t>positive skew</a:t>
            </a:r>
            <a:endParaRPr lang="en-US" dirty="0"/>
          </a:p>
          <a:p>
            <a:r>
              <a:rPr lang="en-US" dirty="0"/>
              <a:t>Positive skew occurs when the transmitting register receives the clock tick earlier than the receiving register.</a:t>
            </a:r>
            <a:br>
              <a:rPr lang="en-US" dirty="0"/>
            </a:br>
            <a:r>
              <a:rPr lang="en-US" dirty="0"/>
              <a:t>Negative skew is occurs when the receiving register gets the clock tick earlier than the sending </a:t>
            </a:r>
            <a:r>
              <a:rPr lang="en-US" dirty="0" err="1"/>
              <a:t>reg</a:t>
            </a:r>
            <a:endParaRPr lang="en-US" dirty="0"/>
          </a:p>
          <a:p>
            <a:r>
              <a:rPr lang="en-US" b="1" dirty="0"/>
              <a:t>Zero clock skew </a:t>
            </a:r>
            <a:r>
              <a:rPr lang="en-US" dirty="0"/>
              <a:t>refers to the arrival of the clock tick simultaneously at transmitting and receiving </a:t>
            </a:r>
            <a:r>
              <a:rPr lang="en-US" dirty="0" err="1"/>
              <a:t>reg</a:t>
            </a:r>
            <a:endParaRPr lang="en-US" dirty="0"/>
          </a:p>
          <a:p>
            <a:r>
              <a:rPr lang="en-US" b="1" u="sng" dirty="0"/>
              <a:t>Useful Skew</a:t>
            </a:r>
            <a:r>
              <a:rPr lang="en-US" dirty="0"/>
              <a:t/>
            </a:r>
            <a:br>
              <a:rPr lang="en-US" dirty="0"/>
            </a:br>
            <a:r>
              <a:rPr lang="en-US" dirty="0"/>
              <a:t>clock skew can also benefit a circuit by decreasing the clock period locally at which the circuit will operate correctly, it means skew add more margin to meet setup. that is called useful skew</a:t>
            </a:r>
            <a:br>
              <a:rPr lang="en-US" dirty="0"/>
            </a:br>
            <a:endParaRPr lang="en-US" dirty="0"/>
          </a:p>
        </p:txBody>
      </p:sp>
    </p:spTree>
    <p:extLst>
      <p:ext uri="{BB962C8B-B14F-4D97-AF65-F5344CB8AC3E}">
        <p14:creationId xmlns:p14="http://schemas.microsoft.com/office/powerpoint/2010/main" xmlns="" val="11077757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lang="en-US" sz="2800" dirty="0"/>
              <a:t>Positive Clock Skew:-Clock and data flow in the same direction</a:t>
            </a:r>
          </a:p>
        </p:txBody>
      </p:sp>
      <p:pic>
        <p:nvPicPr>
          <p:cNvPr id="1026" name="Picture 2"/>
          <p:cNvPicPr>
            <a:picLocks noGrp="1" noChangeAspect="1" noChangeArrowheads="1"/>
          </p:cNvPicPr>
          <p:nvPr>
            <p:ph idx="1"/>
          </p:nvPr>
        </p:nvPicPr>
        <p:blipFill>
          <a:blip r:embed="rId2" cstate="print"/>
          <a:srcRect/>
          <a:stretch>
            <a:fillRect/>
          </a:stretch>
        </p:blipFill>
        <p:spPr bwMode="auto">
          <a:xfrm>
            <a:off x="1524000" y="1219200"/>
            <a:ext cx="7286625" cy="4724399"/>
          </a:xfrm>
          <a:prstGeom prst="rect">
            <a:avLst/>
          </a:prstGeom>
          <a:noFill/>
          <a:ln w="9525">
            <a:noFill/>
            <a:miter lim="800000"/>
            <a:headEnd/>
            <a:tailEnd/>
          </a:ln>
          <a:effectLst/>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lang="en-US" sz="2800" dirty="0"/>
              <a:t>Negative Clock Skew-Clock and data flow in opposite directions</a:t>
            </a:r>
          </a:p>
        </p:txBody>
      </p:sp>
      <p:pic>
        <p:nvPicPr>
          <p:cNvPr id="2050" name="Picture 2"/>
          <p:cNvPicPr>
            <a:picLocks noGrp="1" noChangeAspect="1" noChangeArrowheads="1"/>
          </p:cNvPicPr>
          <p:nvPr>
            <p:ph idx="1"/>
          </p:nvPr>
        </p:nvPicPr>
        <p:blipFill>
          <a:blip r:embed="rId2" cstate="print"/>
          <a:srcRect/>
          <a:stretch>
            <a:fillRect/>
          </a:stretch>
        </p:blipFill>
        <p:spPr bwMode="auto">
          <a:xfrm>
            <a:off x="1200150" y="1752600"/>
            <a:ext cx="7258050" cy="4495800"/>
          </a:xfrm>
          <a:prstGeom prst="rect">
            <a:avLst/>
          </a:prstGeom>
          <a:noFill/>
          <a:ln w="9525">
            <a:noFill/>
            <a:miter lim="800000"/>
            <a:headEnd/>
            <a:tailEnd/>
          </a:ln>
          <a:effectLst/>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0"/>
            <a:ext cx="8229600" cy="2316162"/>
          </a:xfrm>
        </p:spPr>
        <p:txBody>
          <a:bodyPr>
            <a:normAutofit fontScale="90000"/>
          </a:bodyPr>
          <a:lstStyle/>
          <a:p>
            <a:pPr algn="l"/>
            <a:r>
              <a:rPr lang="en-US" sz="2800" b="1" dirty="0"/>
              <a:t>Clock Jitter</a:t>
            </a:r>
            <a:r>
              <a:rPr lang="en-US" sz="2800" dirty="0"/>
              <a:t>- Deviation of clock edge from its ideal location in time.</a:t>
            </a:r>
            <a:br>
              <a:rPr lang="en-US" sz="2800" dirty="0"/>
            </a:br>
            <a:r>
              <a:rPr lang="en-US" sz="2800" dirty="0"/>
              <a:t>Misalignment of significant edges of a digital signal from their ideal positions in time. Clock jitter is typically caused by clock generator circuitry, noise, power supply variations, interference from nearby circuitry etc.</a:t>
            </a:r>
          </a:p>
        </p:txBody>
      </p:sp>
      <p:pic>
        <p:nvPicPr>
          <p:cNvPr id="3074" name="Picture 2"/>
          <p:cNvPicPr>
            <a:picLocks noGrp="1" noChangeAspect="1" noChangeArrowheads="1"/>
          </p:cNvPicPr>
          <p:nvPr>
            <p:ph idx="1"/>
          </p:nvPr>
        </p:nvPicPr>
        <p:blipFill>
          <a:blip r:embed="rId2" cstate="print"/>
          <a:srcRect/>
          <a:stretch>
            <a:fillRect/>
          </a:stretch>
        </p:blipFill>
        <p:spPr bwMode="auto">
          <a:xfrm>
            <a:off x="228600" y="2743200"/>
            <a:ext cx="8610600" cy="3810000"/>
          </a:xfrm>
          <a:prstGeom prst="rect">
            <a:avLst/>
          </a:prstGeom>
          <a:noFill/>
          <a:ln w="9525">
            <a:noFill/>
            <a:miter lim="800000"/>
            <a:headEnd/>
            <a:tailEnd/>
          </a:ln>
          <a:effectLst/>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dirty="0"/>
              <a:t>Clock distribution tree</a:t>
            </a:r>
          </a:p>
        </p:txBody>
      </p:sp>
      <p:sp>
        <p:nvSpPr>
          <p:cNvPr id="3" name="Content Placeholder 2"/>
          <p:cNvSpPr>
            <a:spLocks noGrp="1"/>
          </p:cNvSpPr>
          <p:nvPr>
            <p:ph idx="1"/>
          </p:nvPr>
        </p:nvSpPr>
        <p:spPr/>
        <p:txBody>
          <a:bodyPr>
            <a:normAutofit/>
          </a:bodyPr>
          <a:lstStyle/>
          <a:p>
            <a:r>
              <a:rPr lang="en-US" sz="2400" dirty="0"/>
              <a:t>Need to reduce the skew on distributing the clock • This requires us to reduce the wire delay, and the buffer delay - But we can’t reduce the delay to the required levels (sub 100ps) so</a:t>
            </a:r>
          </a:p>
          <a:p>
            <a:pPr marL="0" indent="0">
              <a:buNone/>
            </a:pPr>
            <a:r>
              <a:rPr lang="en-US" sz="2400" dirty="0"/>
              <a:t> • Make the effective delay small, by balancing the delays of all the paths - Change a total delay problem to a matching problem - Make ∆T much smaller than </a:t>
            </a:r>
            <a:r>
              <a:rPr lang="en-US" sz="2400" dirty="0" err="1"/>
              <a:t>Tdrive</a:t>
            </a:r>
            <a:r>
              <a:rPr lang="en-US" sz="2400" dirty="0"/>
              <a:t> Use a clock trees </a:t>
            </a:r>
          </a:p>
          <a:p>
            <a:pPr marL="0" indent="0">
              <a:buNone/>
            </a:pPr>
            <a:r>
              <a:rPr lang="en-US" sz="2400" dirty="0"/>
              <a:t>• Match the delay on different branches of tree - If the buffer delay matches - If the wire delay matches - Skew will be zero </a:t>
            </a:r>
          </a:p>
          <a:p>
            <a:pPr marL="0" indent="0">
              <a:buNone/>
            </a:pPr>
            <a:r>
              <a:rPr lang="en-US" sz="2400" dirty="0"/>
              <a:t>• Obvious question: - How well can you match delays?</a:t>
            </a:r>
          </a:p>
        </p:txBody>
      </p:sp>
    </p:spTree>
    <p:extLst>
      <p:ext uri="{BB962C8B-B14F-4D97-AF65-F5344CB8AC3E}">
        <p14:creationId xmlns:p14="http://schemas.microsoft.com/office/powerpoint/2010/main" xmlns="" val="422077313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Clock distribution</a:t>
            </a:r>
          </a:p>
        </p:txBody>
      </p:sp>
      <p:sp>
        <p:nvSpPr>
          <p:cNvPr id="3" name="Content Placeholder 2"/>
          <p:cNvSpPr>
            <a:spLocks noGrp="1"/>
          </p:cNvSpPr>
          <p:nvPr>
            <p:ph idx="1"/>
          </p:nvPr>
        </p:nvSpPr>
        <p:spPr/>
        <p:txBody>
          <a:bodyPr/>
          <a:lstStyle/>
          <a:p>
            <a:r>
              <a:rPr lang="en-US" dirty="0"/>
              <a:t>Clock distribution tree.</a:t>
            </a:r>
          </a:p>
          <a:p>
            <a:r>
              <a:rPr lang="en-US" dirty="0"/>
              <a:t>H-Tree.</a:t>
            </a:r>
          </a:p>
          <a:p>
            <a:r>
              <a:rPr lang="en-US" dirty="0"/>
              <a:t>Balance tree network.</a:t>
            </a:r>
          </a:p>
        </p:txBody>
      </p:sp>
    </p:spTree>
    <p:extLst>
      <p:ext uri="{BB962C8B-B14F-4D97-AF65-F5344CB8AC3E}">
        <p14:creationId xmlns:p14="http://schemas.microsoft.com/office/powerpoint/2010/main" xmlns="" val="278259973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 Tree</a:t>
            </a:r>
          </a:p>
        </p:txBody>
      </p:sp>
      <p:pic>
        <p:nvPicPr>
          <p:cNvPr id="1026" name="Picture 2"/>
          <p:cNvPicPr>
            <a:picLocks noGrp="1" noChangeAspect="1" noChangeArrowheads="1"/>
          </p:cNvPicPr>
          <p:nvPr>
            <p:ph idx="1"/>
          </p:nvPr>
        </p:nvPicPr>
        <p:blipFill>
          <a:blip r:embed="rId2" cstate="print"/>
          <a:srcRect/>
          <a:stretch>
            <a:fillRect/>
          </a:stretch>
        </p:blipFill>
        <p:spPr bwMode="auto">
          <a:xfrm>
            <a:off x="1981200" y="1676400"/>
            <a:ext cx="5029200" cy="4343400"/>
          </a:xfrm>
          <a:prstGeom prst="rect">
            <a:avLst/>
          </a:prstGeom>
          <a:noFill/>
          <a:ln w="9525">
            <a:noFill/>
            <a:miter lim="800000"/>
            <a:headEnd/>
            <a:tailEnd/>
          </a:ln>
          <a:effectLst/>
        </p:spPr>
      </p:pic>
      <p:cxnSp>
        <p:nvCxnSpPr>
          <p:cNvPr id="5" name="Straight Arrow Connector 4"/>
          <p:cNvCxnSpPr/>
          <p:nvPr/>
        </p:nvCxnSpPr>
        <p:spPr>
          <a:xfrm flipH="1">
            <a:off x="2133600" y="990600"/>
            <a:ext cx="304800" cy="8382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7" name="Straight Arrow Connector 6"/>
          <p:cNvCxnSpPr/>
          <p:nvPr/>
        </p:nvCxnSpPr>
        <p:spPr>
          <a:xfrm flipH="1">
            <a:off x="2743200" y="838200"/>
            <a:ext cx="685800" cy="10668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9" name="Straight Arrow Connector 8"/>
          <p:cNvCxnSpPr/>
          <p:nvPr/>
        </p:nvCxnSpPr>
        <p:spPr>
          <a:xfrm flipH="1">
            <a:off x="838200" y="2438400"/>
            <a:ext cx="1295400" cy="2286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p:nvPr/>
        </p:nvCxnSpPr>
        <p:spPr>
          <a:xfrm>
            <a:off x="3276600" y="2133600"/>
            <a:ext cx="0"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p:nvPr/>
        </p:nvCxnSpPr>
        <p:spPr>
          <a:xfrm flipV="1">
            <a:off x="2895600" y="1219200"/>
            <a:ext cx="685800" cy="11430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p:nvPr/>
        </p:nvCxnSpPr>
        <p:spPr>
          <a:xfrm flipV="1">
            <a:off x="4495800" y="990600"/>
            <a:ext cx="533400" cy="28956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p:nvPr/>
        </p:nvCxnSpPr>
        <p:spPr>
          <a:xfrm flipV="1">
            <a:off x="3810000" y="1143000"/>
            <a:ext cx="609600" cy="12192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8" name="TextBox 17"/>
          <p:cNvSpPr txBox="1"/>
          <p:nvPr/>
        </p:nvSpPr>
        <p:spPr>
          <a:xfrm>
            <a:off x="4495800" y="1143000"/>
            <a:ext cx="2438400" cy="369332"/>
          </a:xfrm>
          <a:prstGeom prst="rect">
            <a:avLst/>
          </a:prstGeom>
          <a:noFill/>
        </p:spPr>
        <p:txBody>
          <a:bodyPr wrap="square" rtlCol="0">
            <a:spAutoFit/>
          </a:bodyPr>
          <a:lstStyle/>
          <a:p>
            <a:r>
              <a:rPr lang="en-IN" dirty="0"/>
              <a:t>Buffer/delay element</a:t>
            </a:r>
            <a:endParaRPr lang="en-US" dirty="0"/>
          </a:p>
        </p:txBody>
      </p:sp>
      <p:sp>
        <p:nvSpPr>
          <p:cNvPr id="19" name="TextBox 18"/>
          <p:cNvSpPr txBox="1"/>
          <p:nvPr/>
        </p:nvSpPr>
        <p:spPr>
          <a:xfrm>
            <a:off x="2438400" y="914400"/>
            <a:ext cx="533400" cy="369332"/>
          </a:xfrm>
          <a:prstGeom prst="rect">
            <a:avLst/>
          </a:prstGeom>
          <a:noFill/>
        </p:spPr>
        <p:txBody>
          <a:bodyPr wrap="square" rtlCol="0">
            <a:spAutoFit/>
          </a:bodyPr>
          <a:lstStyle/>
          <a:p>
            <a:r>
              <a:rPr lang="en-IN" dirty="0"/>
              <a:t>D1</a:t>
            </a:r>
            <a:endParaRPr lang="en-US" dirty="0"/>
          </a:p>
        </p:txBody>
      </p:sp>
      <p:sp>
        <p:nvSpPr>
          <p:cNvPr id="20" name="TextBox 19"/>
          <p:cNvSpPr txBox="1"/>
          <p:nvPr/>
        </p:nvSpPr>
        <p:spPr>
          <a:xfrm>
            <a:off x="381000" y="2667000"/>
            <a:ext cx="533400" cy="381000"/>
          </a:xfrm>
          <a:prstGeom prst="rect">
            <a:avLst/>
          </a:prstGeom>
          <a:noFill/>
        </p:spPr>
        <p:txBody>
          <a:bodyPr wrap="square" rtlCol="0">
            <a:spAutoFit/>
          </a:bodyPr>
          <a:lstStyle/>
          <a:p>
            <a:r>
              <a:rPr lang="en-IN" dirty="0"/>
              <a:t>D2</a:t>
            </a:r>
            <a:endParaRPr lang="en-US" dirty="0"/>
          </a:p>
        </p:txBody>
      </p:sp>
      <p:sp>
        <p:nvSpPr>
          <p:cNvPr id="21" name="TextBox 20"/>
          <p:cNvSpPr txBox="1"/>
          <p:nvPr/>
        </p:nvSpPr>
        <p:spPr>
          <a:xfrm>
            <a:off x="3505200" y="838200"/>
            <a:ext cx="444352" cy="369332"/>
          </a:xfrm>
          <a:prstGeom prst="rect">
            <a:avLst/>
          </a:prstGeom>
          <a:noFill/>
        </p:spPr>
        <p:txBody>
          <a:bodyPr wrap="none" rtlCol="0">
            <a:spAutoFit/>
          </a:bodyPr>
          <a:lstStyle/>
          <a:p>
            <a:r>
              <a:rPr lang="en-IN" dirty="0"/>
              <a:t>D3</a:t>
            </a:r>
            <a:endParaRPr lang="en-US" dirty="0"/>
          </a:p>
        </p:txBody>
      </p:sp>
      <p:sp>
        <p:nvSpPr>
          <p:cNvPr id="22" name="TextBox 21"/>
          <p:cNvSpPr txBox="1"/>
          <p:nvPr/>
        </p:nvSpPr>
        <p:spPr>
          <a:xfrm>
            <a:off x="3657600" y="1295400"/>
            <a:ext cx="533400" cy="369332"/>
          </a:xfrm>
          <a:prstGeom prst="rect">
            <a:avLst/>
          </a:prstGeom>
          <a:noFill/>
        </p:spPr>
        <p:txBody>
          <a:bodyPr wrap="square" rtlCol="0">
            <a:spAutoFit/>
          </a:bodyPr>
          <a:lstStyle/>
          <a:p>
            <a:r>
              <a:rPr lang="en-IN" dirty="0"/>
              <a:t>D4</a:t>
            </a:r>
            <a:endParaRPr lang="en-US"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85800"/>
            <a:ext cx="8229600" cy="5440363"/>
          </a:xfrm>
        </p:spPr>
        <p:txBody>
          <a:bodyPr/>
          <a:lstStyle/>
          <a:p>
            <a:r>
              <a:rPr lang="en-US" dirty="0"/>
              <a:t>H tree provides equal delay to all terminals</a:t>
            </a:r>
          </a:p>
          <a:p>
            <a:r>
              <a:rPr lang="en-US" dirty="0"/>
              <a:t>Widths are adjusted in such a way that the skew throughout the H tree is equal.</a:t>
            </a:r>
          </a:p>
          <a:p>
            <a:r>
              <a:rPr lang="en-US" dirty="0"/>
              <a:t>Buffers are added to amplify the degraded clock( to increase driving capability).</a:t>
            </a:r>
          </a:p>
          <a:p>
            <a:r>
              <a:rPr lang="en-US" dirty="0"/>
              <a:t>H tree can distribute a clock from the center to within short distance on chip and maintains an equal length.</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Clock Jitter</a:t>
            </a:r>
          </a:p>
        </p:txBody>
      </p:sp>
      <p:sp>
        <p:nvSpPr>
          <p:cNvPr id="3" name="Content Placeholder 2"/>
          <p:cNvSpPr>
            <a:spLocks noGrp="1"/>
          </p:cNvSpPr>
          <p:nvPr>
            <p:ph idx="1"/>
          </p:nvPr>
        </p:nvSpPr>
        <p:spPr/>
        <p:txBody>
          <a:bodyPr>
            <a:normAutofit/>
          </a:bodyPr>
          <a:lstStyle/>
          <a:p>
            <a:r>
              <a:rPr lang="en-US" dirty="0"/>
              <a:t>Jitter is the timing variations of a set of signal edges from their ideal values. Jitters in clock signals are typically caused by noise or other disturbances in the system. Contributing factors include thermal noise, power supply variations, loading conditions, device noise, and interference coupled from nearby circuits. </a:t>
            </a:r>
          </a:p>
        </p:txBody>
      </p:sp>
    </p:spTree>
    <p:extLst>
      <p:ext uri="{BB962C8B-B14F-4D97-AF65-F5344CB8AC3E}">
        <p14:creationId xmlns:p14="http://schemas.microsoft.com/office/powerpoint/2010/main" xmlns="" val="415510905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Types of Jitter</a:t>
            </a:r>
          </a:p>
        </p:txBody>
      </p:sp>
      <p:sp>
        <p:nvSpPr>
          <p:cNvPr id="3" name="Content Placeholder 2"/>
          <p:cNvSpPr>
            <a:spLocks noGrp="1"/>
          </p:cNvSpPr>
          <p:nvPr>
            <p:ph idx="1"/>
          </p:nvPr>
        </p:nvSpPr>
        <p:spPr/>
        <p:txBody>
          <a:bodyPr/>
          <a:lstStyle/>
          <a:p>
            <a:pPr>
              <a:buNone/>
            </a:pPr>
            <a:r>
              <a:rPr lang="en-US" dirty="0"/>
              <a:t>• Period Jitter</a:t>
            </a:r>
          </a:p>
          <a:p>
            <a:pPr>
              <a:buNone/>
            </a:pPr>
            <a:r>
              <a:rPr lang="en-US" dirty="0"/>
              <a:t>• Cycle to Cycle Period Jitter</a:t>
            </a:r>
          </a:p>
          <a:p>
            <a:pPr>
              <a:buNone/>
            </a:pPr>
            <a:r>
              <a:rPr lang="en-US" dirty="0"/>
              <a:t>• Long Term Jitter</a:t>
            </a:r>
          </a:p>
          <a:p>
            <a:pPr>
              <a:buNone/>
            </a:pPr>
            <a:r>
              <a:rPr lang="en-US" dirty="0"/>
              <a:t>• Phase Jitter</a:t>
            </a:r>
          </a:p>
          <a:p>
            <a:pPr>
              <a:buNone/>
            </a:pPr>
            <a:r>
              <a:rPr lang="en-US" dirty="0"/>
              <a:t>• Time Interval Error (TIE) </a:t>
            </a:r>
          </a:p>
        </p:txBody>
      </p:sp>
    </p:spTree>
    <p:extLst>
      <p:ext uri="{BB962C8B-B14F-4D97-AF65-F5344CB8AC3E}">
        <p14:creationId xmlns:p14="http://schemas.microsoft.com/office/powerpoint/2010/main" xmlns="" val="50743651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a:xfrm>
            <a:off x="457200" y="457200"/>
            <a:ext cx="8229600" cy="1143000"/>
          </a:xfrm>
        </p:spPr>
        <p:txBody>
          <a:bodyPr/>
          <a:lstStyle/>
          <a:p>
            <a:pPr eaLnBrk="1" hangingPunct="1"/>
            <a:r>
              <a:rPr lang="en-US" sz="3200">
                <a:solidFill>
                  <a:srgbClr val="3366FF"/>
                </a:solidFill>
              </a:rPr>
              <a:t/>
            </a:r>
            <a:br>
              <a:rPr lang="en-US" sz="3200">
                <a:solidFill>
                  <a:srgbClr val="3366FF"/>
                </a:solidFill>
              </a:rPr>
            </a:br>
            <a:r>
              <a:rPr lang="en-US" sz="3200">
                <a:solidFill>
                  <a:srgbClr val="3366FF"/>
                </a:solidFill>
              </a:rPr>
              <a:t>Supply and Ground Bounce</a:t>
            </a:r>
            <a:br>
              <a:rPr lang="en-US" sz="3200">
                <a:solidFill>
                  <a:srgbClr val="3366FF"/>
                </a:solidFill>
              </a:rPr>
            </a:br>
            <a:r>
              <a:rPr lang="en-US" sz="3200">
                <a:solidFill>
                  <a:srgbClr val="3366FF"/>
                </a:solidFill>
              </a:rPr>
              <a:t>___________________________________</a:t>
            </a:r>
          </a:p>
        </p:txBody>
      </p:sp>
      <p:sp>
        <p:nvSpPr>
          <p:cNvPr id="36867" name="Rectangle 3"/>
          <p:cNvSpPr>
            <a:spLocks noGrp="1" noChangeArrowheads="1"/>
          </p:cNvSpPr>
          <p:nvPr>
            <p:ph type="body" idx="1"/>
          </p:nvPr>
        </p:nvSpPr>
        <p:spPr>
          <a:xfrm>
            <a:off x="457200" y="1524000"/>
            <a:ext cx="8229600" cy="5334000"/>
          </a:xfrm>
        </p:spPr>
        <p:txBody>
          <a:bodyPr/>
          <a:lstStyle/>
          <a:p>
            <a:pPr>
              <a:defRPr/>
            </a:pPr>
            <a:endParaRPr lang="en-US" sz="2000" dirty="0"/>
          </a:p>
          <a:p>
            <a:pPr algn="just">
              <a:buFont typeface="Wingdings" pitchFamily="2" charset="2"/>
              <a:buChar char="q"/>
              <a:defRPr/>
            </a:pPr>
            <a:r>
              <a:rPr lang="en-US" sz="2000" dirty="0"/>
              <a:t>It can be defined as </a:t>
            </a:r>
            <a:r>
              <a:rPr lang="en-US" sz="2000" dirty="0">
                <a:solidFill>
                  <a:srgbClr val="FF5050"/>
                </a:solidFill>
              </a:rPr>
              <a:t>variations in ground voltage due to impedance </a:t>
            </a:r>
            <a:r>
              <a:rPr lang="en-US" sz="2000" dirty="0"/>
              <a:t>on the ground wires</a:t>
            </a:r>
          </a:p>
          <a:p>
            <a:pPr algn="just">
              <a:buFont typeface="Wingdings" pitchFamily="2" charset="2"/>
              <a:buChar char="q"/>
              <a:defRPr/>
            </a:pPr>
            <a:r>
              <a:rPr lang="en-US" sz="2000" dirty="0"/>
              <a:t>Example : A and B are control inputs and turn on the NMOS transistor at high logic (more than 0.7V).</a:t>
            </a:r>
          </a:p>
          <a:p>
            <a:pPr algn="just">
              <a:buFont typeface="Wingdings" pitchFamily="2" charset="2"/>
              <a:buChar char="q"/>
              <a:defRPr/>
            </a:pPr>
            <a:r>
              <a:rPr lang="en-US" sz="2000" dirty="0"/>
              <a:t>The output is high when Q2 turns off and Q1 turns on. Similarly, the output is low when Q2 turns on and Q1 turns off. When the signal transitions from </a:t>
            </a:r>
            <a:r>
              <a:rPr lang="en-US" sz="2000" dirty="0">
                <a:solidFill>
                  <a:srgbClr val="FF5050"/>
                </a:solidFill>
              </a:rPr>
              <a:t>high to low, </a:t>
            </a:r>
            <a:r>
              <a:rPr lang="en-US" sz="2000" dirty="0">
                <a:solidFill>
                  <a:schemeClr val="bg2">
                    <a:lumMod val="60000"/>
                    <a:lumOff val="40000"/>
                  </a:schemeClr>
                </a:solidFill>
              </a:rPr>
              <a:t>Q2 provides a path for the current to flow from the output to ground.</a:t>
            </a:r>
          </a:p>
        </p:txBody>
      </p:sp>
      <p:pic>
        <p:nvPicPr>
          <p:cNvPr id="36868" name="Picture 4"/>
          <p:cNvPicPr>
            <a:picLocks noChangeAspect="1" noChangeArrowheads="1"/>
          </p:cNvPicPr>
          <p:nvPr/>
        </p:nvPicPr>
        <p:blipFill>
          <a:blip r:embed="rId2" cstate="print"/>
          <a:srcRect b="20000"/>
          <a:stretch>
            <a:fillRect/>
          </a:stretch>
        </p:blipFill>
        <p:spPr bwMode="auto">
          <a:xfrm>
            <a:off x="0" y="4648200"/>
            <a:ext cx="3657600" cy="1524000"/>
          </a:xfrm>
          <a:prstGeom prst="rect">
            <a:avLst/>
          </a:prstGeom>
          <a:noFill/>
          <a:ln w="9525">
            <a:noFill/>
            <a:miter lim="800000"/>
            <a:headEnd/>
            <a:tailEnd/>
          </a:ln>
        </p:spPr>
      </p:pic>
      <p:sp>
        <p:nvSpPr>
          <p:cNvPr id="36869" name="TextBox 4"/>
          <p:cNvSpPr txBox="1">
            <a:spLocks noChangeArrowheads="1"/>
          </p:cNvSpPr>
          <p:nvPr/>
        </p:nvSpPr>
        <p:spPr bwMode="auto">
          <a:xfrm>
            <a:off x="1066800" y="6324600"/>
            <a:ext cx="2579688" cy="338138"/>
          </a:xfrm>
          <a:prstGeom prst="rect">
            <a:avLst/>
          </a:prstGeom>
          <a:noFill/>
          <a:ln w="9525">
            <a:noFill/>
            <a:miter lim="800000"/>
            <a:headEnd/>
            <a:tailEnd/>
          </a:ln>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srgbClr val="000000"/>
                </a:solidFill>
                <a:effectLst/>
                <a:uLnTx/>
                <a:uFillTx/>
                <a:latin typeface="Arial" pitchFamily="34" charset="0"/>
                <a:ea typeface="+mn-ea"/>
                <a:cs typeface="+mn-cs"/>
              </a:rPr>
              <a:t>  A typical Output Circuit</a:t>
            </a:r>
          </a:p>
        </p:txBody>
      </p:sp>
      <p:pic>
        <p:nvPicPr>
          <p:cNvPr id="4098" name="Picture 2"/>
          <p:cNvPicPr>
            <a:picLocks noChangeAspect="1" noChangeArrowheads="1"/>
          </p:cNvPicPr>
          <p:nvPr/>
        </p:nvPicPr>
        <p:blipFill>
          <a:blip r:embed="rId3"/>
          <a:srcRect/>
          <a:stretch>
            <a:fillRect/>
          </a:stretch>
        </p:blipFill>
        <p:spPr bwMode="auto">
          <a:xfrm>
            <a:off x="4114800" y="4495800"/>
            <a:ext cx="4579862" cy="1871661"/>
          </a:xfrm>
          <a:prstGeom prst="rect">
            <a:avLst/>
          </a:prstGeom>
          <a:noFill/>
          <a:ln w="9525">
            <a:noFill/>
            <a:miter lim="800000"/>
            <a:headEnd/>
            <a:tailEnd/>
          </a:ln>
          <a:effectLst/>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1" name="Rectangle 3"/>
          <p:cNvSpPr>
            <a:spLocks noGrp="1" noChangeArrowheads="1"/>
          </p:cNvSpPr>
          <p:nvPr>
            <p:ph type="body" idx="1"/>
          </p:nvPr>
        </p:nvSpPr>
        <p:spPr>
          <a:xfrm>
            <a:off x="457200" y="533400"/>
            <a:ext cx="8229600" cy="6324600"/>
          </a:xfrm>
        </p:spPr>
        <p:txBody>
          <a:bodyPr/>
          <a:lstStyle/>
          <a:p>
            <a:pPr>
              <a:defRPr/>
            </a:pPr>
            <a:endParaRPr lang="en-US" sz="2000" dirty="0"/>
          </a:p>
          <a:p>
            <a:pPr>
              <a:buFont typeface="Wingdings" pitchFamily="2" charset="2"/>
              <a:buChar char="q"/>
              <a:defRPr/>
            </a:pPr>
            <a:r>
              <a:rPr lang="en-US" sz="1800" dirty="0"/>
              <a:t>There is some inductance in the very small lead wires between the chip itself and the lead carrier of the package.</a:t>
            </a:r>
          </a:p>
          <a:p>
            <a:pPr>
              <a:buFont typeface="Wingdings" pitchFamily="2" charset="2"/>
              <a:buChar char="q"/>
              <a:defRPr/>
            </a:pPr>
            <a:endParaRPr lang="en-US" sz="1800" dirty="0"/>
          </a:p>
          <a:p>
            <a:pPr>
              <a:buFont typeface="Wingdings" pitchFamily="2" charset="2"/>
              <a:buChar char="q"/>
              <a:defRPr/>
            </a:pPr>
            <a:r>
              <a:rPr lang="en-US" sz="1800" dirty="0"/>
              <a:t>This inductance is very small, but it is significant. Consider what happens the moment Q2 turns on and Q1 turns off. </a:t>
            </a:r>
          </a:p>
          <a:p>
            <a:pPr>
              <a:buFont typeface="Wingdings" pitchFamily="2" charset="2"/>
              <a:buChar char="q"/>
              <a:defRPr/>
            </a:pPr>
            <a:endParaRPr lang="en-US" sz="1800" dirty="0"/>
          </a:p>
          <a:p>
            <a:pPr>
              <a:buFont typeface="Wingdings" pitchFamily="2" charset="2"/>
              <a:buChar char="q"/>
              <a:defRPr/>
            </a:pPr>
            <a:r>
              <a:rPr lang="en-US" sz="1800" dirty="0">
                <a:solidFill>
                  <a:schemeClr val="bg2">
                    <a:lumMod val="60000"/>
                    <a:lumOff val="40000"/>
                  </a:schemeClr>
                </a:solidFill>
              </a:rPr>
              <a:t>A spike of current flows from the output through Q2 to ground</a:t>
            </a:r>
            <a:r>
              <a:rPr lang="en-US" sz="1800" dirty="0"/>
              <a:t>. This current flows through the inductance in the lead. The voltage across this inductance (V Ref B) is directly related to the change in current as:</a:t>
            </a:r>
          </a:p>
          <a:p>
            <a:pPr>
              <a:defRPr/>
            </a:pPr>
            <a:endParaRPr lang="en-US" sz="1600" dirty="0"/>
          </a:p>
          <a:p>
            <a:pPr>
              <a:defRPr/>
            </a:pPr>
            <a:endParaRPr lang="en-US" sz="1600" dirty="0"/>
          </a:p>
          <a:p>
            <a:pPr>
              <a:defRPr/>
            </a:pPr>
            <a:endParaRPr lang="en-US" sz="1600" dirty="0"/>
          </a:p>
          <a:p>
            <a:pPr>
              <a:defRPr/>
            </a:pPr>
            <a:endParaRPr lang="en-US" sz="1600" dirty="0"/>
          </a:p>
        </p:txBody>
      </p:sp>
      <p:pic>
        <p:nvPicPr>
          <p:cNvPr id="2" name="Picture 2"/>
          <p:cNvPicPr>
            <a:picLocks noChangeAspect="1" noChangeArrowheads="1"/>
          </p:cNvPicPr>
          <p:nvPr/>
        </p:nvPicPr>
        <p:blipFill>
          <a:blip r:embed="rId2" cstate="print"/>
          <a:srcRect/>
          <a:stretch>
            <a:fillRect/>
          </a:stretch>
        </p:blipFill>
        <p:spPr bwMode="auto">
          <a:xfrm>
            <a:off x="6858000" y="4648200"/>
            <a:ext cx="1295400" cy="685800"/>
          </a:xfrm>
          <a:prstGeom prst="rect">
            <a:avLst/>
          </a:prstGeom>
          <a:noFill/>
          <a:ln w="9525">
            <a:noFill/>
            <a:miter lim="800000"/>
            <a:headEnd/>
            <a:tailEnd/>
          </a:ln>
        </p:spPr>
      </p:pic>
      <p:pic>
        <p:nvPicPr>
          <p:cNvPr id="37892" name="Picture 3"/>
          <p:cNvPicPr>
            <a:picLocks noChangeAspect="1" noChangeArrowheads="1"/>
          </p:cNvPicPr>
          <p:nvPr/>
        </p:nvPicPr>
        <p:blipFill>
          <a:blip r:embed="rId3" cstate="print"/>
          <a:srcRect b="16129"/>
          <a:stretch>
            <a:fillRect/>
          </a:stretch>
        </p:blipFill>
        <p:spPr bwMode="auto">
          <a:xfrm>
            <a:off x="1143000" y="3810000"/>
            <a:ext cx="3962400" cy="2286000"/>
          </a:xfrm>
          <a:prstGeom prst="rect">
            <a:avLst/>
          </a:prstGeom>
          <a:noFill/>
          <a:ln w="9525">
            <a:noFill/>
            <a:miter lim="800000"/>
            <a:headEnd/>
            <a:tailEnd/>
          </a:ln>
        </p:spPr>
      </p:pic>
      <p:sp>
        <p:nvSpPr>
          <p:cNvPr id="7" name="TextBox 6"/>
          <p:cNvSpPr txBox="1"/>
          <p:nvPr/>
        </p:nvSpPr>
        <p:spPr>
          <a:xfrm>
            <a:off x="1066800" y="6172200"/>
            <a:ext cx="3352800" cy="369888"/>
          </a:xfrm>
          <a:prstGeom prst="rect">
            <a:avLst/>
          </a:prstGeom>
          <a:noFill/>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1" i="0" u="none" strike="noStrike" kern="1200" cap="none" spc="0" normalizeH="0" baseline="0" noProof="0" dirty="0">
                <a:ln>
                  <a:noFill/>
                </a:ln>
                <a:solidFill>
                  <a:srgbClr val="000000"/>
                </a:solidFill>
                <a:effectLst/>
                <a:uLnTx/>
                <a:uFillTx/>
                <a:latin typeface="Arial"/>
                <a:ea typeface="+mn-ea"/>
                <a:cs typeface="+mn-cs"/>
              </a:rPr>
              <a:t> Effect of internal Inductance</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a:xfrm>
            <a:off x="457200" y="457200"/>
            <a:ext cx="8229600" cy="1143000"/>
          </a:xfrm>
        </p:spPr>
        <p:txBody>
          <a:bodyPr/>
          <a:lstStyle/>
          <a:p>
            <a:pPr eaLnBrk="1" hangingPunct="1"/>
            <a:r>
              <a:rPr lang="en-US" sz="3200">
                <a:solidFill>
                  <a:srgbClr val="3366FF"/>
                </a:solidFill>
              </a:rPr>
              <a:t/>
            </a:r>
            <a:br>
              <a:rPr lang="en-US" sz="3200">
                <a:solidFill>
                  <a:srgbClr val="3366FF"/>
                </a:solidFill>
              </a:rPr>
            </a:br>
            <a:r>
              <a:rPr lang="en-US" sz="3200">
                <a:solidFill>
                  <a:srgbClr val="3366FF"/>
                </a:solidFill>
              </a:rPr>
              <a:t>Supply and Ground Bounce</a:t>
            </a:r>
            <a:br>
              <a:rPr lang="en-US" sz="3200">
                <a:solidFill>
                  <a:srgbClr val="3366FF"/>
                </a:solidFill>
              </a:rPr>
            </a:br>
            <a:r>
              <a:rPr lang="en-US" sz="3200">
                <a:solidFill>
                  <a:srgbClr val="3366FF"/>
                </a:solidFill>
              </a:rPr>
              <a:t>___________________________________</a:t>
            </a:r>
          </a:p>
        </p:txBody>
      </p:sp>
      <p:sp>
        <p:nvSpPr>
          <p:cNvPr id="38915" name="Rectangle 3"/>
          <p:cNvSpPr>
            <a:spLocks noGrp="1" noChangeArrowheads="1"/>
          </p:cNvSpPr>
          <p:nvPr>
            <p:ph type="body" idx="1"/>
          </p:nvPr>
        </p:nvSpPr>
        <p:spPr>
          <a:xfrm>
            <a:off x="457200" y="1524000"/>
            <a:ext cx="8229600" cy="5334000"/>
          </a:xfrm>
        </p:spPr>
        <p:txBody>
          <a:bodyPr/>
          <a:lstStyle/>
          <a:p>
            <a:endParaRPr lang="en-US" sz="2000"/>
          </a:p>
          <a:p>
            <a:pPr>
              <a:buFont typeface="Wingdings" pitchFamily="2" charset="2"/>
              <a:buChar char="q"/>
            </a:pPr>
            <a:r>
              <a:rPr lang="en-US" sz="2000"/>
              <a:t>di/dt is related to the rise (and/or fall) time of the device. The faster the rise and fall times, the smaller dt is, the greater di/dt (the change in current per unit time) is, and the higher the voltage drop is across any inductance. </a:t>
            </a:r>
          </a:p>
          <a:p>
            <a:pPr>
              <a:buFont typeface="Wingdings" pitchFamily="2" charset="2"/>
              <a:buChar char="q"/>
            </a:pPr>
            <a:r>
              <a:rPr lang="en-US" sz="2000"/>
              <a:t>As Q2 turns on and the output voltage starts to fall, the voltage between the output and Ref B falls just as before. The voltage at Ref is relative to ground rises because of the current spike through the lead inductance.</a:t>
            </a:r>
          </a:p>
          <a:p>
            <a:pPr>
              <a:buFont typeface="Wingdings" pitchFamily="2" charset="2"/>
              <a:buChar char="q"/>
            </a:pPr>
            <a:r>
              <a:rPr lang="en-US" sz="2000"/>
              <a:t> Thus, V does not fall all the way, but "bounces" above ground because of this inductive drop. This is the phenomenon called ground bounce.</a:t>
            </a:r>
          </a:p>
          <a:p>
            <a:endParaRPr lang="en-US" sz="1600"/>
          </a:p>
          <a:p>
            <a:endParaRPr lang="en-US" sz="1600"/>
          </a:p>
          <a:p>
            <a:endParaRPr lang="en-US" sz="160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a:t>Power distribution Techniques</a:t>
            </a:r>
          </a:p>
        </p:txBody>
      </p:sp>
      <p:sp>
        <p:nvSpPr>
          <p:cNvPr id="3" name="Content Placeholder 2"/>
          <p:cNvSpPr>
            <a:spLocks noGrp="1"/>
          </p:cNvSpPr>
          <p:nvPr>
            <p:ph idx="1"/>
          </p:nvPr>
        </p:nvSpPr>
        <p:spPr/>
        <p:txBody>
          <a:bodyPr>
            <a:normAutofit/>
          </a:bodyPr>
          <a:lstStyle/>
          <a:p>
            <a:pPr algn="just"/>
            <a:r>
              <a:rPr lang="en-US" sz="2400" dirty="0"/>
              <a:t>Power distribution presents several significant problems.</a:t>
            </a:r>
          </a:p>
          <a:p>
            <a:pPr algn="just"/>
            <a:r>
              <a:rPr lang="en-US" sz="2400" dirty="0"/>
              <a:t>First we must design a global power distribution network that runs both VDD and </a:t>
            </a:r>
            <a:r>
              <a:rPr lang="en-US" sz="2400" dirty="0" err="1"/>
              <a:t>Vss</a:t>
            </a:r>
            <a:r>
              <a:rPr lang="en-US" sz="2400" dirty="0"/>
              <a:t> entirely in metal.</a:t>
            </a:r>
          </a:p>
          <a:p>
            <a:pPr algn="just"/>
            <a:r>
              <a:rPr lang="en-US" sz="2400" dirty="0"/>
              <a:t>We must size wire properly so that they can handle require current.</a:t>
            </a:r>
          </a:p>
          <a:p>
            <a:pPr algn="just"/>
            <a:r>
              <a:rPr lang="en-US" sz="2400" dirty="0"/>
              <a:t>We must ensure that the transient behavior of the distribution N/W does not cause a problem for logic to which it supplies current.</a:t>
            </a:r>
          </a:p>
          <a:p>
            <a:pPr algn="just"/>
            <a:r>
              <a:rPr lang="en-US" sz="2400" dirty="0"/>
              <a:t>Tackle power supply loss (IR loss)</a:t>
            </a:r>
          </a:p>
          <a:p>
            <a:pPr algn="just"/>
            <a:r>
              <a:rPr lang="en-US" sz="2400" dirty="0"/>
              <a:t>Tackle power supply loss (I*di/</a:t>
            </a:r>
            <a:r>
              <a:rPr lang="en-US" sz="2400" dirty="0" err="1"/>
              <a:t>dt</a:t>
            </a:r>
            <a:r>
              <a:rPr lang="en-US" sz="2400" dirty="0"/>
              <a:t> loss).</a:t>
            </a:r>
          </a:p>
        </p:txBody>
      </p:sp>
    </p:spTree>
    <p:extLst>
      <p:ext uri="{BB962C8B-B14F-4D97-AF65-F5344CB8AC3E}">
        <p14:creationId xmlns:p14="http://schemas.microsoft.com/office/powerpoint/2010/main" xmlns="" val="49341033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a:xfrm>
            <a:off x="457200" y="457200"/>
            <a:ext cx="8229600" cy="1143000"/>
          </a:xfrm>
        </p:spPr>
        <p:txBody>
          <a:bodyPr/>
          <a:lstStyle/>
          <a:p>
            <a:pPr eaLnBrk="1" hangingPunct="1"/>
            <a:r>
              <a:rPr lang="en-US" sz="3200" dirty="0">
                <a:solidFill>
                  <a:srgbClr val="3366FF"/>
                </a:solidFill>
              </a:rPr>
              <a:t/>
            </a:r>
            <a:br>
              <a:rPr lang="en-US" sz="3200" dirty="0">
                <a:solidFill>
                  <a:srgbClr val="3366FF"/>
                </a:solidFill>
              </a:rPr>
            </a:br>
            <a:r>
              <a:rPr lang="en-US" sz="3200" dirty="0">
                <a:solidFill>
                  <a:srgbClr val="3366FF"/>
                </a:solidFill>
              </a:rPr>
              <a:t> Power Distribution Techniques </a:t>
            </a:r>
            <a:br>
              <a:rPr lang="en-US" sz="3200" dirty="0">
                <a:solidFill>
                  <a:srgbClr val="3366FF"/>
                </a:solidFill>
              </a:rPr>
            </a:br>
            <a:r>
              <a:rPr lang="en-US" sz="3200" dirty="0">
                <a:solidFill>
                  <a:srgbClr val="3366FF"/>
                </a:solidFill>
              </a:rPr>
              <a:t>___________________________________</a:t>
            </a:r>
          </a:p>
        </p:txBody>
      </p:sp>
      <p:sp>
        <p:nvSpPr>
          <p:cNvPr id="40963" name="Content Placeholder 3"/>
          <p:cNvSpPr>
            <a:spLocks noGrp="1"/>
          </p:cNvSpPr>
          <p:nvPr>
            <p:ph idx="1"/>
          </p:nvPr>
        </p:nvSpPr>
        <p:spPr>
          <a:xfrm>
            <a:off x="457200" y="1981200"/>
            <a:ext cx="4267200" cy="2514600"/>
          </a:xfrm>
        </p:spPr>
        <p:txBody>
          <a:bodyPr/>
          <a:lstStyle/>
          <a:p>
            <a:pPr>
              <a:buFont typeface="Wingdings" pitchFamily="2" charset="2"/>
              <a:buNone/>
            </a:pPr>
            <a:r>
              <a:rPr lang="en-US" sz="2000" b="1">
                <a:solidFill>
                  <a:srgbClr val="000000"/>
                </a:solidFill>
              </a:rPr>
              <a:t>Power network planarity</a:t>
            </a:r>
          </a:p>
          <a:p>
            <a:pPr algn="just">
              <a:buFont typeface="Wingdings" pitchFamily="2" charset="2"/>
              <a:buChar char="q"/>
            </a:pPr>
            <a:r>
              <a:rPr lang="en-US" sz="2000"/>
              <a:t>Orient all the cells so that their VDD pins are all on the same side of a dividing line through the cell, are guaranteed that a planar routing exists.</a:t>
            </a:r>
            <a:endParaRPr lang="en-US" sz="2000">
              <a:solidFill>
                <a:srgbClr val="000000"/>
              </a:solidFill>
            </a:endParaRPr>
          </a:p>
        </p:txBody>
      </p:sp>
      <p:pic>
        <p:nvPicPr>
          <p:cNvPr id="40964" name="Picture 2"/>
          <p:cNvPicPr>
            <a:picLocks noChangeAspect="1" noChangeArrowheads="1"/>
          </p:cNvPicPr>
          <p:nvPr/>
        </p:nvPicPr>
        <p:blipFill>
          <a:blip r:embed="rId2" cstate="print"/>
          <a:srcRect/>
          <a:stretch>
            <a:fillRect/>
          </a:stretch>
        </p:blipFill>
        <p:spPr bwMode="auto">
          <a:xfrm>
            <a:off x="4800600" y="1828800"/>
            <a:ext cx="4038600" cy="2286000"/>
          </a:xfrm>
          <a:prstGeom prst="rect">
            <a:avLst/>
          </a:prstGeom>
          <a:noFill/>
          <a:ln w="9525">
            <a:noFill/>
            <a:miter lim="800000"/>
            <a:headEnd/>
            <a:tailEnd/>
          </a:ln>
        </p:spPr>
      </p:pic>
      <p:sp>
        <p:nvSpPr>
          <p:cNvPr id="40965" name="TextBox 5"/>
          <p:cNvSpPr txBox="1">
            <a:spLocks noChangeArrowheads="1"/>
          </p:cNvSpPr>
          <p:nvPr/>
        </p:nvSpPr>
        <p:spPr bwMode="auto">
          <a:xfrm>
            <a:off x="5029200" y="4191000"/>
            <a:ext cx="3467100" cy="307975"/>
          </a:xfrm>
          <a:prstGeom prst="rect">
            <a:avLst/>
          </a:prstGeom>
          <a:noFill/>
          <a:ln w="9525">
            <a:noFill/>
            <a:miter lim="800000"/>
            <a:headEnd/>
            <a:tailEnd/>
          </a:ln>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Arial" pitchFamily="34" charset="0"/>
                <a:ea typeface="+mn-ea"/>
                <a:cs typeface="+mn-cs"/>
              </a:rPr>
              <a:t>Fig. A floor plan that isolates a ground pin</a:t>
            </a:r>
          </a:p>
        </p:txBody>
      </p:sp>
      <p:sp>
        <p:nvSpPr>
          <p:cNvPr id="7" name="TextBox 6"/>
          <p:cNvSpPr txBox="1"/>
          <p:nvPr/>
        </p:nvSpPr>
        <p:spPr>
          <a:xfrm>
            <a:off x="4267200" y="4495800"/>
            <a:ext cx="4876800" cy="2492375"/>
          </a:xfrm>
          <a:prstGeom prst="rect">
            <a:avLst/>
          </a:prstGeom>
          <a:noFill/>
        </p:spPr>
        <p:txBody>
          <a:bodyPr>
            <a:spAutoFit/>
          </a:bodyPr>
          <a:lstStyle/>
          <a:p>
            <a:pPr marL="0" marR="0" lvl="0" indent="0" algn="just" defTabSz="914400" rtl="0" eaLnBrk="0" fontAlgn="base" latinLnBrk="0" hangingPunct="0">
              <a:lnSpc>
                <a:spcPct val="100000"/>
              </a:lnSpc>
              <a:spcBef>
                <a:spcPct val="0"/>
              </a:spcBef>
              <a:spcAft>
                <a:spcPct val="0"/>
              </a:spcAft>
              <a:buClrTx/>
              <a:buSzTx/>
              <a:buFontTx/>
              <a:buNone/>
              <a:tabLst/>
              <a:defRPr/>
            </a:pPr>
            <a:r>
              <a:rPr kumimoji="0" lang="en-US" sz="1800" b="1" i="0" u="none" strike="noStrike" kern="1200" cap="none" spc="0" normalizeH="0" baseline="0" noProof="0" dirty="0">
                <a:ln>
                  <a:noFill/>
                </a:ln>
                <a:solidFill>
                  <a:srgbClr val="000000"/>
                </a:solidFill>
                <a:effectLst/>
                <a:uLnTx/>
                <a:uFillTx/>
                <a:latin typeface="Arial" pitchFamily="34" charset="0"/>
                <a:ea typeface="+mn-ea"/>
                <a:cs typeface="+mn-cs"/>
              </a:rPr>
              <a:t>Metal Migration and Wire Sizing</a:t>
            </a:r>
          </a:p>
          <a:p>
            <a:pPr marL="0" marR="0" lvl="0" indent="0" algn="just" defTabSz="914400" rtl="0" eaLnBrk="0" fontAlgn="base" latinLnBrk="0" hangingPunct="0">
              <a:lnSpc>
                <a:spcPct val="100000"/>
              </a:lnSpc>
              <a:spcBef>
                <a:spcPct val="0"/>
              </a:spcBef>
              <a:spcAft>
                <a:spcPct val="0"/>
              </a:spcAft>
              <a:buClrTx/>
              <a:buSzTx/>
              <a:buFont typeface="Wingdings" pitchFamily="2" charset="2"/>
              <a:buChar char="q"/>
              <a:tabLst/>
              <a:defRPr/>
            </a:pPr>
            <a:r>
              <a:rPr kumimoji="0" lang="en-US" sz="2000" b="0" i="0" u="none" strike="noStrike" kern="1200" cap="none" spc="0" normalizeH="0" baseline="0" noProof="0" dirty="0">
                <a:ln>
                  <a:noFill/>
                </a:ln>
                <a:solidFill>
                  <a:srgbClr val="000000"/>
                </a:solidFill>
                <a:effectLst/>
                <a:uLnTx/>
                <a:uFillTx/>
                <a:latin typeface="Arial"/>
                <a:ea typeface="+mn-ea"/>
                <a:cs typeface="+mn-cs"/>
              </a:rPr>
              <a:t> If too much current is carried through a wire, the wire quickly disintegrates.</a:t>
            </a:r>
          </a:p>
          <a:p>
            <a:pPr marL="0" marR="0" lvl="0" indent="0" algn="just" defTabSz="914400" rtl="0" eaLnBrk="0" fontAlgn="base" latinLnBrk="0" hangingPunct="0">
              <a:lnSpc>
                <a:spcPct val="100000"/>
              </a:lnSpc>
              <a:spcBef>
                <a:spcPct val="0"/>
              </a:spcBef>
              <a:spcAft>
                <a:spcPct val="0"/>
              </a:spcAft>
              <a:buClrTx/>
              <a:buSzTx/>
              <a:buFont typeface="Wingdings" pitchFamily="2" charset="2"/>
              <a:buChar char="q"/>
              <a:tabLst/>
              <a:defRPr/>
            </a:pPr>
            <a:r>
              <a:rPr kumimoji="0" lang="en-US" sz="2000" b="0" i="0" u="none" strike="noStrike" kern="1200" cap="none" spc="0" normalizeH="0" baseline="0" noProof="0" dirty="0">
                <a:ln>
                  <a:noFill/>
                </a:ln>
                <a:solidFill>
                  <a:srgbClr val="000000"/>
                </a:solidFill>
                <a:effectLst/>
                <a:uLnTx/>
                <a:uFillTx/>
                <a:latin typeface="Arial"/>
                <a:ea typeface="+mn-ea"/>
                <a:cs typeface="+mn-cs"/>
              </a:rPr>
              <a:t> Power lines are usually routed as trees, with the power supply at the root and the logic gates connected to the twigs.</a:t>
            </a:r>
            <a:endParaRPr kumimoji="0" lang="en-US" sz="2000" b="1" i="0" u="none" strike="noStrike" kern="1200" cap="none" spc="0" normalizeH="0" baseline="0" noProof="0" dirty="0">
              <a:ln>
                <a:noFill/>
              </a:ln>
              <a:solidFill>
                <a:srgbClr val="000000"/>
              </a:solidFill>
              <a:effectLst/>
              <a:uLnTx/>
              <a:uFillTx/>
              <a:latin typeface="Arial"/>
              <a:ea typeface="+mn-ea"/>
              <a:cs typeface="+mn-cs"/>
            </a:endParaRPr>
          </a:p>
          <a:p>
            <a:pPr marL="0" marR="0" lvl="0" indent="0" algn="just"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pitchFamily="34" charset="0"/>
              <a:ea typeface="+mn-ea"/>
              <a:cs typeface="+mn-cs"/>
            </a:endParaRPr>
          </a:p>
        </p:txBody>
      </p:sp>
      <p:pic>
        <p:nvPicPr>
          <p:cNvPr id="40967" name="Picture 3"/>
          <p:cNvPicPr>
            <a:picLocks noChangeAspect="1" noChangeArrowheads="1"/>
          </p:cNvPicPr>
          <p:nvPr/>
        </p:nvPicPr>
        <p:blipFill>
          <a:blip r:embed="rId3" cstate="print"/>
          <a:srcRect/>
          <a:stretch>
            <a:fillRect/>
          </a:stretch>
        </p:blipFill>
        <p:spPr bwMode="auto">
          <a:xfrm>
            <a:off x="533400" y="4343400"/>
            <a:ext cx="3429000" cy="1828800"/>
          </a:xfrm>
          <a:prstGeom prst="rect">
            <a:avLst/>
          </a:prstGeom>
          <a:noFill/>
          <a:ln w="9525">
            <a:noFill/>
            <a:miter lim="800000"/>
            <a:headEnd/>
            <a:tailEnd/>
          </a:ln>
        </p:spPr>
      </p:pic>
      <p:sp>
        <p:nvSpPr>
          <p:cNvPr id="40968" name="TextBox 8"/>
          <p:cNvSpPr txBox="1">
            <a:spLocks noChangeArrowheads="1"/>
          </p:cNvSpPr>
          <p:nvPr/>
        </p:nvSpPr>
        <p:spPr bwMode="auto">
          <a:xfrm>
            <a:off x="304800" y="6324600"/>
            <a:ext cx="3733800" cy="338138"/>
          </a:xfrm>
          <a:prstGeom prst="rect">
            <a:avLst/>
          </a:prstGeom>
          <a:noFill/>
          <a:ln w="9525">
            <a:noFill/>
            <a:miter lim="800000"/>
            <a:headEnd/>
            <a:tailEnd/>
          </a:ln>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1200" cap="none" spc="0" normalizeH="0" baseline="0" noProof="0">
                <a:ln>
                  <a:noFill/>
                </a:ln>
                <a:solidFill>
                  <a:srgbClr val="000000"/>
                </a:solidFill>
                <a:effectLst/>
                <a:uLnTx/>
                <a:uFillTx/>
                <a:latin typeface="Arial" pitchFamily="34" charset="0"/>
                <a:ea typeface="+mn-ea"/>
                <a:cs typeface="+mn-cs"/>
              </a:rPr>
              <a:t>Fig. Integrated power and ground trees</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2050" name="Picture 2"/>
          <p:cNvPicPr>
            <a:picLocks noGrp="1" noChangeAspect="1" noChangeArrowheads="1"/>
          </p:cNvPicPr>
          <p:nvPr>
            <p:ph idx="1"/>
          </p:nvPr>
        </p:nvPicPr>
        <p:blipFill>
          <a:blip r:embed="rId2"/>
          <a:srcRect/>
          <a:stretch>
            <a:fillRect/>
          </a:stretch>
        </p:blipFill>
        <p:spPr bwMode="auto">
          <a:xfrm>
            <a:off x="914400" y="533400"/>
            <a:ext cx="7086600" cy="5562600"/>
          </a:xfrm>
          <a:prstGeom prst="rect">
            <a:avLst/>
          </a:prstGeom>
          <a:noFill/>
          <a:ln w="9525">
            <a:noFill/>
            <a:miter lim="800000"/>
            <a:headEnd/>
            <a:tailEnd/>
          </a:ln>
          <a:effectLst/>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ChangeArrowheads="1"/>
          </p:cNvSpPr>
          <p:nvPr>
            <p:ph type="title"/>
          </p:nvPr>
        </p:nvSpPr>
        <p:spPr>
          <a:xfrm>
            <a:off x="457200" y="457200"/>
            <a:ext cx="8229600" cy="1143000"/>
          </a:xfrm>
        </p:spPr>
        <p:txBody>
          <a:bodyPr/>
          <a:lstStyle/>
          <a:p>
            <a:pPr eaLnBrk="1" hangingPunct="1"/>
            <a:r>
              <a:rPr lang="en-US" sz="3200">
                <a:solidFill>
                  <a:srgbClr val="3366FF"/>
                </a:solidFill>
              </a:rPr>
              <a:t/>
            </a:r>
            <a:br>
              <a:rPr lang="en-US" sz="3200">
                <a:solidFill>
                  <a:srgbClr val="3366FF"/>
                </a:solidFill>
              </a:rPr>
            </a:br>
            <a:r>
              <a:rPr lang="en-US" sz="3200">
                <a:solidFill>
                  <a:srgbClr val="3366FF"/>
                </a:solidFill>
              </a:rPr>
              <a:t>Power Distribution Techniques</a:t>
            </a:r>
            <a:br>
              <a:rPr lang="en-US" sz="3200">
                <a:solidFill>
                  <a:srgbClr val="3366FF"/>
                </a:solidFill>
              </a:rPr>
            </a:br>
            <a:r>
              <a:rPr lang="en-US" sz="3200">
                <a:solidFill>
                  <a:srgbClr val="3366FF"/>
                </a:solidFill>
              </a:rPr>
              <a:t>___________________________________</a:t>
            </a:r>
          </a:p>
        </p:txBody>
      </p:sp>
      <p:sp>
        <p:nvSpPr>
          <p:cNvPr id="41987" name="Content Placeholder 3"/>
          <p:cNvSpPr>
            <a:spLocks noGrp="1"/>
          </p:cNvSpPr>
          <p:nvPr>
            <p:ph idx="1"/>
          </p:nvPr>
        </p:nvSpPr>
        <p:spPr>
          <a:xfrm>
            <a:off x="457200" y="1905000"/>
            <a:ext cx="8229600" cy="3352800"/>
          </a:xfrm>
        </p:spPr>
        <p:txBody>
          <a:bodyPr/>
          <a:lstStyle/>
          <a:p>
            <a:pPr>
              <a:buFont typeface="Wingdings" pitchFamily="2" charset="2"/>
              <a:buNone/>
              <a:defRPr/>
            </a:pPr>
            <a:r>
              <a:rPr lang="en-US" sz="2000" b="1" dirty="0">
                <a:solidFill>
                  <a:srgbClr val="000000"/>
                </a:solidFill>
              </a:rPr>
              <a:t>Power distribution grids</a:t>
            </a:r>
          </a:p>
          <a:p>
            <a:pPr algn="just">
              <a:buFont typeface="Wingdings" pitchFamily="2" charset="2"/>
              <a:buChar char="q"/>
              <a:defRPr/>
            </a:pPr>
            <a:r>
              <a:rPr lang="en-US" sz="2400" dirty="0"/>
              <a:t>In a large chip</a:t>
            </a:r>
            <a:r>
              <a:rPr lang="en-US" sz="2400" dirty="0">
                <a:solidFill>
                  <a:schemeClr val="bg2">
                    <a:lumMod val="40000"/>
                    <a:lumOff val="60000"/>
                  </a:schemeClr>
                </a:solidFill>
              </a:rPr>
              <a:t>, power is distributed </a:t>
            </a:r>
            <a:r>
              <a:rPr lang="en-US" sz="2400" dirty="0"/>
              <a:t>using several metal layers.</a:t>
            </a:r>
          </a:p>
          <a:p>
            <a:pPr algn="just">
              <a:buFont typeface="Wingdings" pitchFamily="2" charset="2"/>
              <a:buChar char="q"/>
              <a:defRPr/>
            </a:pPr>
            <a:r>
              <a:rPr lang="en-US" sz="2400" dirty="0"/>
              <a:t> The </a:t>
            </a:r>
            <a:r>
              <a:rPr lang="en-US" sz="2400" dirty="0">
                <a:solidFill>
                  <a:srgbClr val="FF5050"/>
                </a:solidFill>
              </a:rPr>
              <a:t>upper layers </a:t>
            </a:r>
            <a:r>
              <a:rPr lang="en-US" sz="2400" dirty="0"/>
              <a:t>are </a:t>
            </a:r>
            <a:r>
              <a:rPr lang="en-US" sz="2400" dirty="0">
                <a:solidFill>
                  <a:schemeClr val="bg2">
                    <a:lumMod val="60000"/>
                    <a:lumOff val="40000"/>
                  </a:schemeClr>
                </a:solidFill>
              </a:rPr>
              <a:t>larger in both width and height</a:t>
            </a:r>
            <a:r>
              <a:rPr lang="en-US" sz="2400" dirty="0"/>
              <a:t>. </a:t>
            </a:r>
          </a:p>
          <a:p>
            <a:pPr algn="just">
              <a:buFont typeface="Wingdings" pitchFamily="2" charset="2"/>
              <a:buChar char="q"/>
              <a:defRPr/>
            </a:pPr>
            <a:r>
              <a:rPr lang="en-US" sz="2400" dirty="0">
                <a:solidFill>
                  <a:srgbClr val="FF0000"/>
                </a:solidFill>
              </a:rPr>
              <a:t>The layers closer to the silicon </a:t>
            </a:r>
            <a:r>
              <a:rPr lang="en-US" sz="2400" dirty="0"/>
              <a:t>are smaller in both dimensions.</a:t>
            </a:r>
          </a:p>
          <a:p>
            <a:pPr algn="just">
              <a:buFont typeface="Wingdings" pitchFamily="2" charset="2"/>
              <a:buChar char="q"/>
              <a:defRPr/>
            </a:pPr>
            <a:r>
              <a:rPr lang="en-US" sz="2400" dirty="0">
                <a:solidFill>
                  <a:schemeClr val="bg2">
                    <a:lumMod val="60000"/>
                    <a:lumOff val="40000"/>
                  </a:schemeClr>
                </a:solidFill>
              </a:rPr>
              <a:t>Global power distribution happens </a:t>
            </a:r>
            <a:r>
              <a:rPr lang="en-US" sz="2400" dirty="0"/>
              <a:t>on the upper layers; connections on the lower layers move power down to the circuits.</a:t>
            </a:r>
          </a:p>
          <a:p>
            <a:pPr algn="just">
              <a:buFont typeface="Wingdings" pitchFamily="2" charset="2"/>
              <a:buNone/>
              <a:defRPr/>
            </a:pPr>
            <a:endParaRPr lang="en-US" sz="2000" dirty="0">
              <a:solidFill>
                <a:srgbClr val="000000"/>
              </a:solidFill>
            </a:endParaRPr>
          </a:p>
        </p:txBody>
      </p:sp>
      <p:pic>
        <p:nvPicPr>
          <p:cNvPr id="41988" name="Picture 2"/>
          <p:cNvPicPr>
            <a:picLocks noChangeAspect="1" noChangeArrowheads="1"/>
          </p:cNvPicPr>
          <p:nvPr/>
        </p:nvPicPr>
        <p:blipFill>
          <a:blip r:embed="rId2" cstate="print"/>
          <a:srcRect/>
          <a:stretch>
            <a:fillRect/>
          </a:stretch>
        </p:blipFill>
        <p:spPr bwMode="auto">
          <a:xfrm>
            <a:off x="914400" y="5105400"/>
            <a:ext cx="3505200" cy="1752600"/>
          </a:xfrm>
          <a:prstGeom prst="rect">
            <a:avLst/>
          </a:prstGeom>
          <a:noFill/>
          <a:ln w="9525">
            <a:noFill/>
            <a:miter lim="800000"/>
            <a:headEnd/>
            <a:tailEnd/>
          </a:ln>
        </p:spPr>
      </p:pic>
      <p:sp>
        <p:nvSpPr>
          <p:cNvPr id="41989" name="TextBox 5"/>
          <p:cNvSpPr txBox="1">
            <a:spLocks noChangeArrowheads="1"/>
          </p:cNvSpPr>
          <p:nvPr/>
        </p:nvSpPr>
        <p:spPr bwMode="auto">
          <a:xfrm>
            <a:off x="4495800" y="5715000"/>
            <a:ext cx="4186238" cy="369888"/>
          </a:xfrm>
          <a:prstGeom prst="rect">
            <a:avLst/>
          </a:prstGeom>
          <a:noFill/>
          <a:ln w="9525">
            <a:noFill/>
            <a:miter lim="800000"/>
            <a:headEnd/>
            <a:tailEnd/>
          </a:ln>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1" i="0" u="none" strike="noStrike" kern="1200" cap="none" spc="0" normalizeH="0" baseline="0" noProof="0">
                <a:ln>
                  <a:noFill/>
                </a:ln>
                <a:solidFill>
                  <a:srgbClr val="000000"/>
                </a:solidFill>
                <a:effectLst/>
                <a:uLnTx/>
                <a:uFillTx/>
                <a:latin typeface="Arial" pitchFamily="34" charset="0"/>
                <a:ea typeface="+mn-ea"/>
                <a:cs typeface="+mn-cs"/>
              </a:rPr>
              <a:t>Power Distribution in BELLMAC 32A</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29200" y="274638"/>
            <a:ext cx="3657600" cy="1143000"/>
          </a:xfrm>
        </p:spPr>
        <p:txBody>
          <a:bodyPr>
            <a:normAutofit fontScale="90000"/>
          </a:bodyPr>
          <a:lstStyle/>
          <a:p>
            <a:r>
              <a:rPr lang="en-US" dirty="0"/>
              <a:t>Interconnect Routing</a:t>
            </a:r>
          </a:p>
        </p:txBody>
      </p:sp>
      <p:pic>
        <p:nvPicPr>
          <p:cNvPr id="12290" name="Picture 2"/>
          <p:cNvPicPr>
            <a:picLocks noGrp="1" noChangeAspect="1" noChangeArrowheads="1"/>
          </p:cNvPicPr>
          <p:nvPr>
            <p:ph idx="1"/>
          </p:nvPr>
        </p:nvPicPr>
        <p:blipFill>
          <a:blip r:embed="rId2" cstate="print">
            <a:extLst>
              <a:ext uri="{28A0092B-C50C-407E-A947-70E740481C1C}">
                <a14:useLocalDpi xmlns:a14="http://schemas.microsoft.com/office/drawing/2010/main" xmlns="" val="0"/>
              </a:ext>
            </a:extLst>
          </a:blip>
          <a:srcRect/>
          <a:stretch>
            <a:fillRect/>
          </a:stretch>
        </p:blipFill>
        <p:spPr bwMode="auto">
          <a:xfrm>
            <a:off x="-1" y="533400"/>
            <a:ext cx="4409767" cy="3505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3074" name="Picture 2"/>
          <p:cNvPicPr>
            <a:picLocks noChangeAspect="1" noChangeArrowheads="1"/>
          </p:cNvPicPr>
          <p:nvPr/>
        </p:nvPicPr>
        <p:blipFill>
          <a:blip r:embed="rId3"/>
          <a:srcRect/>
          <a:stretch>
            <a:fillRect/>
          </a:stretch>
        </p:blipFill>
        <p:spPr bwMode="auto">
          <a:xfrm>
            <a:off x="4117494" y="3429000"/>
            <a:ext cx="5026506" cy="3124200"/>
          </a:xfrm>
          <a:prstGeom prst="rect">
            <a:avLst/>
          </a:prstGeom>
          <a:noFill/>
          <a:ln w="9525">
            <a:noFill/>
            <a:miter lim="800000"/>
            <a:headEnd/>
            <a:tailEnd/>
          </a:ln>
          <a:effectLst/>
        </p:spPr>
      </p:pic>
    </p:spTree>
    <p:extLst>
      <p:ext uri="{BB962C8B-B14F-4D97-AF65-F5344CB8AC3E}">
        <p14:creationId xmlns:p14="http://schemas.microsoft.com/office/powerpoint/2010/main" xmlns="" val="122481184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a:xfrm>
            <a:off x="457200" y="457200"/>
            <a:ext cx="8229600" cy="1143000"/>
          </a:xfrm>
        </p:spPr>
        <p:txBody>
          <a:bodyPr/>
          <a:lstStyle/>
          <a:p>
            <a:pPr eaLnBrk="1" hangingPunct="1"/>
            <a:r>
              <a:rPr lang="en-US" sz="3200">
                <a:solidFill>
                  <a:srgbClr val="3366FF"/>
                </a:solidFill>
              </a:rPr>
              <a:t/>
            </a:r>
            <a:br>
              <a:rPr lang="en-US" sz="3200">
                <a:solidFill>
                  <a:srgbClr val="3366FF"/>
                </a:solidFill>
              </a:rPr>
            </a:br>
            <a:r>
              <a:rPr lang="en-US" sz="3200">
                <a:solidFill>
                  <a:srgbClr val="3366FF"/>
                </a:solidFill>
              </a:rPr>
              <a:t>Interconnect Routing Techniques</a:t>
            </a:r>
            <a:br>
              <a:rPr lang="en-US" sz="3200">
                <a:solidFill>
                  <a:srgbClr val="3366FF"/>
                </a:solidFill>
              </a:rPr>
            </a:br>
            <a:r>
              <a:rPr lang="en-US" sz="3200">
                <a:solidFill>
                  <a:srgbClr val="3366FF"/>
                </a:solidFill>
              </a:rPr>
              <a:t>___________________________________</a:t>
            </a:r>
          </a:p>
        </p:txBody>
      </p:sp>
      <p:sp>
        <p:nvSpPr>
          <p:cNvPr id="33795" name="Rectangle 3"/>
          <p:cNvSpPr>
            <a:spLocks noGrp="1" noChangeArrowheads="1"/>
          </p:cNvSpPr>
          <p:nvPr>
            <p:ph type="body" idx="1"/>
          </p:nvPr>
        </p:nvSpPr>
        <p:spPr>
          <a:xfrm>
            <a:off x="457200" y="1524000"/>
            <a:ext cx="8229600" cy="5334000"/>
          </a:xfrm>
        </p:spPr>
        <p:txBody>
          <a:bodyPr/>
          <a:lstStyle/>
          <a:p>
            <a:pPr>
              <a:defRPr/>
            </a:pPr>
            <a:endParaRPr lang="en-US" sz="2000" dirty="0"/>
          </a:p>
          <a:p>
            <a:pPr>
              <a:buFont typeface="Wingdings" pitchFamily="2" charset="2"/>
              <a:buChar char="q"/>
              <a:defRPr/>
            </a:pPr>
            <a:r>
              <a:rPr lang="en-US" sz="2000" dirty="0"/>
              <a:t>Chip-level wiring design is usually divided into two phases:</a:t>
            </a:r>
          </a:p>
          <a:p>
            <a:pPr lvl="1">
              <a:buFont typeface="Wingdings" pitchFamily="2" charset="2"/>
              <a:buChar char="q"/>
              <a:defRPr/>
            </a:pPr>
            <a:r>
              <a:rPr lang="en-US" sz="2000" dirty="0">
                <a:ea typeface="+mn-ea"/>
                <a:cs typeface="+mn-cs"/>
              </a:rPr>
              <a:t> </a:t>
            </a:r>
            <a:r>
              <a:rPr lang="en-US" sz="2000" b="1" dirty="0">
                <a:ea typeface="+mn-ea"/>
                <a:cs typeface="+mn-cs"/>
              </a:rPr>
              <a:t>global routing </a:t>
            </a:r>
            <a:r>
              <a:rPr lang="en-US" sz="2000" dirty="0">
                <a:ea typeface="+mn-ea"/>
                <a:cs typeface="+mn-cs"/>
              </a:rPr>
              <a:t>assigns wires to routing channels between the blocks.</a:t>
            </a:r>
          </a:p>
          <a:p>
            <a:pPr lvl="1">
              <a:buFont typeface="Wingdings" pitchFamily="2" charset="2"/>
              <a:buChar char="q"/>
              <a:defRPr/>
            </a:pPr>
            <a:r>
              <a:rPr lang="en-US" sz="2000" b="1" dirty="0">
                <a:ea typeface="+mn-ea"/>
                <a:cs typeface="+mn-cs"/>
              </a:rPr>
              <a:t>detailed</a:t>
            </a:r>
            <a:r>
              <a:rPr lang="en-US" sz="2000" b="1" dirty="0"/>
              <a:t> </a:t>
            </a:r>
            <a:r>
              <a:rPr lang="en-US" sz="2000" b="1" dirty="0">
                <a:ea typeface="+mn-ea"/>
                <a:cs typeface="+mn-cs"/>
              </a:rPr>
              <a:t>routing</a:t>
            </a:r>
            <a:r>
              <a:rPr lang="en-US" sz="2000" b="1" dirty="0"/>
              <a:t> </a:t>
            </a:r>
            <a:r>
              <a:rPr lang="en-US" sz="2000" dirty="0"/>
              <a:t>d</a:t>
            </a:r>
            <a:r>
              <a:rPr lang="en-US" sz="2000" dirty="0">
                <a:ea typeface="+mn-ea"/>
                <a:cs typeface="+mn-cs"/>
              </a:rPr>
              <a:t>esigns the layouts for the wiring.</a:t>
            </a:r>
          </a:p>
          <a:p>
            <a:pPr>
              <a:buFont typeface="Wingdings" pitchFamily="2" charset="2"/>
              <a:buChar char="q"/>
              <a:defRPr/>
            </a:pPr>
            <a:r>
              <a:rPr lang="en-US" sz="2000" b="1" dirty="0"/>
              <a:t>Global Routing</a:t>
            </a:r>
          </a:p>
          <a:p>
            <a:pPr lvl="1">
              <a:defRPr/>
            </a:pPr>
            <a:r>
              <a:rPr lang="en-US" sz="2000" dirty="0">
                <a:ea typeface="+mn-ea"/>
                <a:cs typeface="+mn-cs"/>
              </a:rPr>
              <a:t>Routing Algorithms</a:t>
            </a:r>
          </a:p>
          <a:p>
            <a:pPr lvl="1">
              <a:defRPr/>
            </a:pPr>
            <a:r>
              <a:rPr lang="en-US" sz="2000" dirty="0">
                <a:ea typeface="+mn-ea"/>
                <a:cs typeface="+mn-cs"/>
              </a:rPr>
              <a:t>Utilization as metric</a:t>
            </a:r>
          </a:p>
          <a:p>
            <a:pPr lvl="1">
              <a:defRPr/>
            </a:pPr>
            <a:r>
              <a:rPr lang="en-US" sz="2000" dirty="0">
                <a:ea typeface="+mn-ea"/>
                <a:cs typeface="+mn-cs"/>
              </a:rPr>
              <a:t>Line Probe Routing </a:t>
            </a:r>
          </a:p>
          <a:p>
            <a:pPr lvl="2">
              <a:buFont typeface="Wingdings" pitchFamily="2" charset="2"/>
              <a:buNone/>
              <a:defRPr/>
            </a:pPr>
            <a:endParaRPr lang="en-US" sz="4800" dirty="0">
              <a:ea typeface="+mn-ea"/>
              <a:cs typeface="+mn-cs"/>
            </a:endParaRPr>
          </a:p>
          <a:p>
            <a:pPr>
              <a:defRPr/>
            </a:pPr>
            <a:endParaRPr lang="en-US" sz="2400" dirty="0"/>
          </a:p>
        </p:txBody>
      </p:sp>
      <p:pic>
        <p:nvPicPr>
          <p:cNvPr id="43012" name="Picture 2"/>
          <p:cNvPicPr>
            <a:picLocks noChangeAspect="1" noChangeArrowheads="1"/>
          </p:cNvPicPr>
          <p:nvPr/>
        </p:nvPicPr>
        <p:blipFill>
          <a:blip r:embed="rId2" cstate="print"/>
          <a:srcRect/>
          <a:stretch>
            <a:fillRect/>
          </a:stretch>
        </p:blipFill>
        <p:spPr bwMode="auto">
          <a:xfrm>
            <a:off x="4114800" y="3429000"/>
            <a:ext cx="4343400" cy="3124200"/>
          </a:xfrm>
          <a:prstGeom prst="rect">
            <a:avLst/>
          </a:prstGeom>
          <a:noFill/>
          <a:ln w="9525">
            <a:noFill/>
            <a:miter lim="800000"/>
            <a:headEnd/>
            <a:tailEnd/>
          </a:ln>
        </p:spPr>
      </p:pic>
      <p:sp>
        <p:nvSpPr>
          <p:cNvPr id="43013" name="TextBox 4"/>
          <p:cNvSpPr txBox="1">
            <a:spLocks noChangeArrowheads="1"/>
          </p:cNvSpPr>
          <p:nvPr/>
        </p:nvSpPr>
        <p:spPr bwMode="auto">
          <a:xfrm>
            <a:off x="1066800" y="5791200"/>
            <a:ext cx="2787650" cy="369888"/>
          </a:xfrm>
          <a:prstGeom prst="rect">
            <a:avLst/>
          </a:prstGeom>
          <a:noFill/>
          <a:ln w="9525">
            <a:noFill/>
            <a:miter lim="800000"/>
            <a:headEnd/>
            <a:tailEnd/>
          </a:ln>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1" i="0" u="none" strike="noStrike" kern="1200" cap="none" spc="0" normalizeH="0" baseline="0" noProof="0">
                <a:ln>
                  <a:noFill/>
                </a:ln>
                <a:solidFill>
                  <a:srgbClr val="000000"/>
                </a:solidFill>
                <a:effectLst/>
                <a:uLnTx/>
                <a:uFillTx/>
                <a:latin typeface="Arial" pitchFamily="34" charset="0"/>
                <a:ea typeface="+mn-ea"/>
                <a:cs typeface="+mn-cs"/>
              </a:rPr>
              <a:t>Fig. Line Probe Routing</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a:xfrm>
            <a:off x="457200" y="457200"/>
            <a:ext cx="8229600" cy="1143000"/>
          </a:xfrm>
        </p:spPr>
        <p:txBody>
          <a:bodyPr/>
          <a:lstStyle/>
          <a:p>
            <a:pPr eaLnBrk="1" hangingPunct="1"/>
            <a:r>
              <a:rPr lang="en-US" sz="3200" dirty="0">
                <a:solidFill>
                  <a:srgbClr val="3366FF"/>
                </a:solidFill>
              </a:rPr>
              <a:t/>
            </a:r>
            <a:br>
              <a:rPr lang="en-US" sz="3200" dirty="0">
                <a:solidFill>
                  <a:srgbClr val="3366FF"/>
                </a:solidFill>
              </a:rPr>
            </a:br>
            <a:r>
              <a:rPr lang="en-US" sz="3200" dirty="0">
                <a:solidFill>
                  <a:srgbClr val="3366FF"/>
                </a:solidFill>
              </a:rPr>
              <a:t>Interconnect Routing Techniques</a:t>
            </a:r>
            <a:br>
              <a:rPr lang="en-US" sz="3200" dirty="0">
                <a:solidFill>
                  <a:srgbClr val="3366FF"/>
                </a:solidFill>
              </a:rPr>
            </a:br>
            <a:r>
              <a:rPr lang="en-US" sz="3200" dirty="0">
                <a:solidFill>
                  <a:srgbClr val="3366FF"/>
                </a:solidFill>
              </a:rPr>
              <a:t>___________________________________</a:t>
            </a:r>
          </a:p>
        </p:txBody>
      </p:sp>
      <p:sp>
        <p:nvSpPr>
          <p:cNvPr id="33795" name="Rectangle 3"/>
          <p:cNvSpPr>
            <a:spLocks noGrp="1" noChangeArrowheads="1"/>
          </p:cNvSpPr>
          <p:nvPr>
            <p:ph type="body" idx="1"/>
          </p:nvPr>
        </p:nvSpPr>
        <p:spPr>
          <a:xfrm>
            <a:off x="457200" y="1524000"/>
            <a:ext cx="8229600" cy="5334000"/>
          </a:xfrm>
        </p:spPr>
        <p:txBody>
          <a:bodyPr/>
          <a:lstStyle/>
          <a:p>
            <a:pPr>
              <a:buFont typeface="Wingdings" pitchFamily="2" charset="2"/>
              <a:buNone/>
              <a:defRPr/>
            </a:pPr>
            <a:endParaRPr lang="en-US" sz="2000" dirty="0"/>
          </a:p>
          <a:p>
            <a:pPr>
              <a:buFont typeface="Wingdings" pitchFamily="2" charset="2"/>
              <a:buChar char="q"/>
              <a:defRPr/>
            </a:pPr>
            <a:r>
              <a:rPr lang="en-US" sz="2000" b="1" dirty="0"/>
              <a:t>Switchbox Routing</a:t>
            </a:r>
          </a:p>
          <a:p>
            <a:pPr lvl="1">
              <a:buFont typeface="Wingdings" pitchFamily="2" charset="2"/>
              <a:buChar char="q"/>
              <a:defRPr/>
            </a:pPr>
            <a:r>
              <a:rPr lang="en-US" sz="2000" dirty="0">
                <a:ea typeface="+mn-ea"/>
                <a:cs typeface="+mn-cs"/>
              </a:rPr>
              <a:t>A switchbox may be </a:t>
            </a:r>
            <a:r>
              <a:rPr lang="en-US" sz="2000" dirty="0">
                <a:solidFill>
                  <a:schemeClr val="bg2">
                    <a:lumMod val="60000"/>
                    <a:lumOff val="40000"/>
                  </a:schemeClr>
                </a:solidFill>
                <a:ea typeface="+mn-ea"/>
                <a:cs typeface="+mn-cs"/>
              </a:rPr>
              <a:t>used to route wires between </a:t>
            </a:r>
            <a:r>
              <a:rPr lang="en-US" sz="2000" dirty="0">
                <a:ea typeface="+mn-ea"/>
                <a:cs typeface="+mn-cs"/>
              </a:rPr>
              <a:t>intersecting channels. </a:t>
            </a:r>
          </a:p>
          <a:p>
            <a:pPr lvl="1">
              <a:buFont typeface="Wingdings" pitchFamily="2" charset="2"/>
              <a:buChar char="q"/>
              <a:defRPr/>
            </a:pPr>
            <a:r>
              <a:rPr lang="en-US" sz="2000" dirty="0">
                <a:ea typeface="+mn-ea"/>
                <a:cs typeface="+mn-cs"/>
              </a:rPr>
              <a:t>The </a:t>
            </a:r>
            <a:r>
              <a:rPr lang="en-US" sz="2000" dirty="0">
                <a:solidFill>
                  <a:schemeClr val="bg2">
                    <a:lumMod val="60000"/>
                    <a:lumOff val="40000"/>
                  </a:schemeClr>
                </a:solidFill>
                <a:ea typeface="+mn-ea"/>
                <a:cs typeface="+mn-cs"/>
              </a:rPr>
              <a:t>track assignments at the ends of the channels </a:t>
            </a:r>
            <a:r>
              <a:rPr lang="en-US" sz="2000" dirty="0">
                <a:ea typeface="+mn-ea"/>
                <a:cs typeface="+mn-cs"/>
              </a:rPr>
              <a:t>define the pins for the switchbox.</a:t>
            </a:r>
          </a:p>
          <a:p>
            <a:pPr lvl="1">
              <a:buFont typeface="Wingdings" pitchFamily="2" charset="2"/>
              <a:buChar char="q"/>
              <a:defRPr/>
            </a:pPr>
            <a:r>
              <a:rPr lang="en-US" sz="2000" dirty="0">
                <a:ea typeface="+mn-ea"/>
                <a:cs typeface="+mn-cs"/>
              </a:rPr>
              <a:t> It is often possible to define </a:t>
            </a:r>
            <a:r>
              <a:rPr lang="en-US" sz="2000" dirty="0">
                <a:solidFill>
                  <a:schemeClr val="bg2">
                    <a:lumMod val="60000"/>
                    <a:lumOff val="40000"/>
                  </a:schemeClr>
                </a:solidFill>
                <a:ea typeface="+mn-ea"/>
                <a:cs typeface="+mn-cs"/>
              </a:rPr>
              <a:t>channels without requiring switchboxes, </a:t>
            </a:r>
            <a:r>
              <a:rPr lang="en-US" sz="2000" dirty="0">
                <a:ea typeface="+mn-ea"/>
                <a:cs typeface="+mn-cs"/>
              </a:rPr>
              <a:t>but switchboxes may sometimes be necessary in floor planning.</a:t>
            </a:r>
          </a:p>
          <a:p>
            <a:pPr lvl="2">
              <a:buFont typeface="Wingdings" pitchFamily="2" charset="2"/>
              <a:buNone/>
              <a:defRPr/>
            </a:pPr>
            <a:endParaRPr lang="en-US" sz="4800" dirty="0">
              <a:ea typeface="+mn-ea"/>
              <a:cs typeface="+mn-cs"/>
            </a:endParaRPr>
          </a:p>
          <a:p>
            <a:pPr lvl="2">
              <a:buFont typeface="Wingdings" pitchFamily="2" charset="2"/>
              <a:buNone/>
              <a:defRPr/>
            </a:pPr>
            <a:endParaRPr lang="en-US" sz="4800" dirty="0">
              <a:ea typeface="+mn-ea"/>
              <a:cs typeface="+mn-cs"/>
            </a:endParaRPr>
          </a:p>
          <a:p>
            <a:pPr>
              <a:defRPr/>
            </a:pPr>
            <a:endParaRPr lang="en-US" sz="2400" dirty="0"/>
          </a:p>
        </p:txBody>
      </p:sp>
      <p:sp>
        <p:nvSpPr>
          <p:cNvPr id="44036" name="TextBox 4"/>
          <p:cNvSpPr txBox="1">
            <a:spLocks noChangeArrowheads="1"/>
          </p:cNvSpPr>
          <p:nvPr/>
        </p:nvSpPr>
        <p:spPr bwMode="auto">
          <a:xfrm>
            <a:off x="609600" y="5029200"/>
            <a:ext cx="3348038" cy="923925"/>
          </a:xfrm>
          <a:prstGeom prst="rect">
            <a:avLst/>
          </a:prstGeom>
          <a:noFill/>
          <a:ln w="9525">
            <a:noFill/>
            <a:miter lim="800000"/>
            <a:headEnd/>
            <a:tailEnd/>
          </a:ln>
        </p:spPr>
        <p:txBody>
          <a:bodyPr>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1" i="0" u="none" strike="noStrike" kern="1200" cap="none" spc="0" normalizeH="0" baseline="0" noProof="0">
                <a:ln>
                  <a:noFill/>
                </a:ln>
                <a:solidFill>
                  <a:srgbClr val="000000"/>
                </a:solidFill>
                <a:effectLst/>
                <a:uLnTx/>
                <a:uFillTx/>
                <a:latin typeface="Arial" pitchFamily="34" charset="0"/>
                <a:ea typeface="+mn-ea"/>
                <a:cs typeface="+mn-cs"/>
              </a:rPr>
              <a:t>A switch Box formed at the interconnection of two channels</a:t>
            </a:r>
          </a:p>
        </p:txBody>
      </p:sp>
      <p:pic>
        <p:nvPicPr>
          <p:cNvPr id="44037" name="Picture 2"/>
          <p:cNvPicPr>
            <a:picLocks noChangeAspect="1" noChangeArrowheads="1"/>
          </p:cNvPicPr>
          <p:nvPr/>
        </p:nvPicPr>
        <p:blipFill>
          <a:blip r:embed="rId2" cstate="print"/>
          <a:srcRect/>
          <a:stretch>
            <a:fillRect/>
          </a:stretch>
        </p:blipFill>
        <p:spPr bwMode="auto">
          <a:xfrm>
            <a:off x="4267200" y="4552950"/>
            <a:ext cx="4086225" cy="2076450"/>
          </a:xfrm>
          <a:prstGeom prst="rect">
            <a:avLst/>
          </a:prstGeom>
          <a:noFill/>
          <a:ln w="9525">
            <a:noFill/>
            <a:miter lim="800000"/>
            <a:headEnd/>
            <a:tailEnd/>
          </a:ln>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title"/>
          </p:nvPr>
        </p:nvSpPr>
        <p:spPr>
          <a:xfrm>
            <a:off x="457200" y="457200"/>
            <a:ext cx="8229600" cy="1143000"/>
          </a:xfrm>
        </p:spPr>
        <p:txBody>
          <a:bodyPr/>
          <a:lstStyle/>
          <a:p>
            <a:pPr eaLnBrk="1" hangingPunct="1"/>
            <a:r>
              <a:rPr lang="en-US" sz="3200" dirty="0">
                <a:solidFill>
                  <a:srgbClr val="3366FF"/>
                </a:solidFill>
              </a:rPr>
              <a:t/>
            </a:r>
            <a:br>
              <a:rPr lang="en-US" sz="3200" dirty="0">
                <a:solidFill>
                  <a:srgbClr val="3366FF"/>
                </a:solidFill>
              </a:rPr>
            </a:br>
            <a:r>
              <a:rPr lang="en-US" sz="3200" dirty="0">
                <a:solidFill>
                  <a:srgbClr val="3366FF"/>
                </a:solidFill>
              </a:rPr>
              <a:t>Power Optimization: </a:t>
            </a:r>
            <a:r>
              <a:rPr lang="en-US" sz="3200" dirty="0"/>
              <a:t>Logic Gates</a:t>
            </a:r>
            <a:r>
              <a:rPr lang="en-US" sz="3200" dirty="0">
                <a:solidFill>
                  <a:srgbClr val="3366FF"/>
                </a:solidFill>
              </a:rPr>
              <a:t/>
            </a:r>
            <a:br>
              <a:rPr lang="en-US" sz="3200" dirty="0">
                <a:solidFill>
                  <a:srgbClr val="3366FF"/>
                </a:solidFill>
              </a:rPr>
            </a:br>
            <a:r>
              <a:rPr lang="en-US" sz="3200" dirty="0">
                <a:solidFill>
                  <a:srgbClr val="3366FF"/>
                </a:solidFill>
              </a:rPr>
              <a:t>___________________________________</a:t>
            </a:r>
          </a:p>
        </p:txBody>
      </p:sp>
      <p:sp>
        <p:nvSpPr>
          <p:cNvPr id="45059" name="Rectangle 3"/>
          <p:cNvSpPr>
            <a:spLocks noGrp="1" noChangeArrowheads="1"/>
          </p:cNvSpPr>
          <p:nvPr>
            <p:ph type="body" idx="1"/>
          </p:nvPr>
        </p:nvSpPr>
        <p:spPr>
          <a:xfrm>
            <a:off x="457200" y="1524000"/>
            <a:ext cx="8229600" cy="5334000"/>
          </a:xfrm>
        </p:spPr>
        <p:txBody>
          <a:bodyPr/>
          <a:lstStyle/>
          <a:p>
            <a:pPr eaLnBrk="1" hangingPunct="1"/>
            <a:endParaRPr lang="en-US"/>
          </a:p>
          <a:p>
            <a:pPr algn="just" eaLnBrk="1" hangingPunct="1">
              <a:buFont typeface="Wingdings" pitchFamily="2" charset="2"/>
              <a:buChar char="q"/>
            </a:pPr>
            <a:r>
              <a:rPr lang="en-US" sz="2400"/>
              <a:t>Reduce Power consumption of isolated gate logic</a:t>
            </a:r>
          </a:p>
          <a:p>
            <a:pPr algn="just" eaLnBrk="1" hangingPunct="1">
              <a:buFont typeface="Wingdings" pitchFamily="2" charset="2"/>
              <a:buChar char="q"/>
            </a:pPr>
            <a:r>
              <a:rPr lang="en-US" sz="2400"/>
              <a:t>To make it </a:t>
            </a:r>
            <a:r>
              <a:rPr lang="en-US" sz="2400">
                <a:solidFill>
                  <a:srgbClr val="FF0000"/>
                </a:solidFill>
              </a:rPr>
              <a:t>change its output as few times </a:t>
            </a:r>
            <a:r>
              <a:rPr lang="en-US" sz="2400"/>
              <a:t>as possible.</a:t>
            </a:r>
          </a:p>
          <a:p>
            <a:pPr algn="just">
              <a:buFont typeface="Wingdings" pitchFamily="2" charset="2"/>
              <a:buChar char="q"/>
            </a:pPr>
            <a:r>
              <a:rPr lang="en-US" sz="2400"/>
              <a:t>Number of </a:t>
            </a:r>
            <a:r>
              <a:rPr lang="en-US" sz="2400" i="1"/>
              <a:t>unnecessary </a:t>
            </a:r>
            <a:r>
              <a:rPr lang="en-US" sz="2400"/>
              <a:t>changes to a gate’s </a:t>
            </a:r>
            <a:r>
              <a:rPr lang="en-US" sz="2400">
                <a:solidFill>
                  <a:srgbClr val="FF0000"/>
                </a:solidFill>
              </a:rPr>
              <a:t>output</a:t>
            </a:r>
            <a:r>
              <a:rPr lang="en-US" sz="2400"/>
              <a:t>.</a:t>
            </a:r>
          </a:p>
          <a:p>
            <a:pPr algn="just">
              <a:buFont typeface="Wingdings" pitchFamily="2" charset="2"/>
              <a:buChar char="q"/>
            </a:pPr>
            <a:r>
              <a:rPr lang="en-US" sz="2400"/>
              <a:t>The gate would not be useful if it </a:t>
            </a:r>
            <a:r>
              <a:rPr lang="en-US" sz="2400">
                <a:solidFill>
                  <a:srgbClr val="FF0000"/>
                </a:solidFill>
              </a:rPr>
              <a:t>never changed its output value.</a:t>
            </a:r>
          </a:p>
          <a:p>
            <a:pPr algn="just">
              <a:buFont typeface="Wingdings" pitchFamily="2" charset="2"/>
              <a:buChar char="q"/>
            </a:pPr>
            <a:r>
              <a:rPr lang="en-US" sz="2400"/>
              <a:t>To </a:t>
            </a:r>
            <a:r>
              <a:rPr lang="en-US" sz="2400">
                <a:solidFill>
                  <a:srgbClr val="FF0000"/>
                </a:solidFill>
              </a:rPr>
              <a:t>reduce the number of </a:t>
            </a:r>
            <a:r>
              <a:rPr lang="en-US" sz="2400" i="1">
                <a:solidFill>
                  <a:srgbClr val="FF0000"/>
                </a:solidFill>
              </a:rPr>
              <a:t>unnecessary </a:t>
            </a:r>
            <a:r>
              <a:rPr lang="en-US" sz="2400">
                <a:solidFill>
                  <a:srgbClr val="FF0000"/>
                </a:solidFill>
              </a:rPr>
              <a:t>changes to a gate’s output</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3"/>
          <p:cNvSpPr>
            <a:spLocks noGrp="1" noChangeArrowheads="1"/>
          </p:cNvSpPr>
          <p:nvPr>
            <p:ph type="body" idx="1"/>
          </p:nvPr>
        </p:nvSpPr>
        <p:spPr>
          <a:xfrm>
            <a:off x="609600" y="1524000"/>
            <a:ext cx="8229600" cy="5334000"/>
          </a:xfrm>
        </p:spPr>
        <p:txBody>
          <a:bodyPr/>
          <a:lstStyle/>
          <a:p>
            <a:endParaRPr lang="en-US" sz="2400"/>
          </a:p>
          <a:p>
            <a:pPr eaLnBrk="1" hangingPunct="1">
              <a:buFont typeface="Wingdings" pitchFamily="2" charset="2"/>
              <a:buChar char="q"/>
            </a:pPr>
            <a:endParaRPr lang="en-US" sz="2400"/>
          </a:p>
          <a:p>
            <a:pPr eaLnBrk="1" hangingPunct="1">
              <a:buFont typeface="Wingdings" pitchFamily="2" charset="2"/>
              <a:buChar char="q"/>
            </a:pPr>
            <a:endParaRPr lang="en-US" sz="2400"/>
          </a:p>
        </p:txBody>
      </p:sp>
      <p:pic>
        <p:nvPicPr>
          <p:cNvPr id="46083" name="Picture 2"/>
          <p:cNvPicPr>
            <a:picLocks noChangeAspect="1" noChangeArrowheads="1"/>
          </p:cNvPicPr>
          <p:nvPr/>
        </p:nvPicPr>
        <p:blipFill>
          <a:blip r:embed="rId2" cstate="print"/>
          <a:srcRect/>
          <a:stretch>
            <a:fillRect/>
          </a:stretch>
        </p:blipFill>
        <p:spPr bwMode="auto">
          <a:xfrm>
            <a:off x="990600" y="1600201"/>
            <a:ext cx="5735133" cy="2209800"/>
          </a:xfrm>
          <a:prstGeom prst="rect">
            <a:avLst/>
          </a:prstGeom>
          <a:noFill/>
          <a:ln w="9525">
            <a:noFill/>
            <a:miter lim="800000"/>
            <a:headEnd/>
            <a:tailEnd/>
          </a:ln>
        </p:spPr>
      </p:pic>
      <p:sp>
        <p:nvSpPr>
          <p:cNvPr id="46084" name="Rectangle 4"/>
          <p:cNvSpPr>
            <a:spLocks noChangeArrowheads="1"/>
          </p:cNvSpPr>
          <p:nvPr/>
        </p:nvSpPr>
        <p:spPr bwMode="auto">
          <a:xfrm>
            <a:off x="762000" y="3886200"/>
            <a:ext cx="5257800" cy="369888"/>
          </a:xfrm>
          <a:prstGeom prst="rect">
            <a:avLst/>
          </a:prstGeom>
          <a:noFill/>
          <a:ln w="9525">
            <a:noFill/>
            <a:miter lim="800000"/>
            <a:headEnd/>
            <a:tailEnd/>
          </a:ln>
        </p:spPr>
        <p:txBody>
          <a:bodyPr>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1" i="0" u="none" strike="noStrike" kern="1200" cap="none" spc="0" normalizeH="0" baseline="0" noProof="0" dirty="0" err="1">
                <a:ln>
                  <a:noFill/>
                </a:ln>
                <a:solidFill>
                  <a:srgbClr val="000000"/>
                </a:solidFill>
                <a:effectLst/>
                <a:uLnTx/>
                <a:uFillTx/>
                <a:latin typeface="Arial" pitchFamily="34" charset="0"/>
                <a:ea typeface="+mn-ea"/>
                <a:cs typeface="+mn-cs"/>
              </a:rPr>
              <a:t>Glitching</a:t>
            </a:r>
            <a:r>
              <a:rPr kumimoji="0" lang="en-US" sz="1800" b="1" i="0" u="none" strike="noStrike" kern="1200" cap="none" spc="0" normalizeH="0" baseline="0" noProof="0" dirty="0">
                <a:ln>
                  <a:noFill/>
                </a:ln>
                <a:solidFill>
                  <a:srgbClr val="000000"/>
                </a:solidFill>
                <a:effectLst/>
                <a:uLnTx/>
                <a:uFillTx/>
                <a:latin typeface="Arial" pitchFamily="34" charset="0"/>
                <a:ea typeface="+mn-ea"/>
                <a:cs typeface="+mn-cs"/>
              </a:rPr>
              <a:t> in a simple logic network</a:t>
            </a:r>
            <a:endParaRPr kumimoji="0" lang="en-US" sz="1800" b="0" i="0" u="none" strike="noStrike" kern="1200" cap="none" spc="0" normalizeH="0" baseline="0" noProof="0" dirty="0">
              <a:ln>
                <a:noFill/>
              </a:ln>
              <a:solidFill>
                <a:srgbClr val="000000"/>
              </a:solidFill>
              <a:effectLst/>
              <a:uLnTx/>
              <a:uFillTx/>
              <a:latin typeface="Arial" pitchFamily="34" charset="0"/>
              <a:ea typeface="+mn-ea"/>
              <a:cs typeface="+mn-cs"/>
            </a:endParaRPr>
          </a:p>
        </p:txBody>
      </p:sp>
      <p:sp>
        <p:nvSpPr>
          <p:cNvPr id="46085" name="Title 5"/>
          <p:cNvSpPr>
            <a:spLocks noGrp="1"/>
          </p:cNvSpPr>
          <p:nvPr>
            <p:ph type="title"/>
          </p:nvPr>
        </p:nvSpPr>
        <p:spPr>
          <a:xfrm>
            <a:off x="381000" y="457200"/>
            <a:ext cx="8229600" cy="1371600"/>
          </a:xfrm>
        </p:spPr>
        <p:txBody>
          <a:bodyPr/>
          <a:lstStyle/>
          <a:p>
            <a:r>
              <a:rPr lang="en-US" sz="3200">
                <a:solidFill>
                  <a:srgbClr val="0070C0"/>
                </a:solidFill>
              </a:rPr>
              <a:t>Glitches and Power</a:t>
            </a:r>
            <a:r>
              <a:rPr lang="en-US" sz="2400" b="1">
                <a:solidFill>
                  <a:srgbClr val="0070C0"/>
                </a:solidFill>
              </a:rPr>
              <a:t/>
            </a:r>
            <a:br>
              <a:rPr lang="en-US" sz="2400" b="1">
                <a:solidFill>
                  <a:srgbClr val="0070C0"/>
                </a:solidFill>
              </a:rPr>
            </a:br>
            <a:r>
              <a:rPr lang="en-US" sz="2400" b="1">
                <a:solidFill>
                  <a:srgbClr val="0070C0"/>
                </a:solidFill>
              </a:rPr>
              <a:t>_______________________________________________</a:t>
            </a:r>
          </a:p>
        </p:txBody>
      </p:sp>
      <p:pic>
        <p:nvPicPr>
          <p:cNvPr id="5122" name="Picture 2"/>
          <p:cNvPicPr>
            <a:picLocks noChangeAspect="1" noChangeArrowheads="1"/>
          </p:cNvPicPr>
          <p:nvPr/>
        </p:nvPicPr>
        <p:blipFill>
          <a:blip r:embed="rId3"/>
          <a:srcRect/>
          <a:stretch>
            <a:fillRect/>
          </a:stretch>
        </p:blipFill>
        <p:spPr bwMode="auto">
          <a:xfrm>
            <a:off x="6153150" y="3409950"/>
            <a:ext cx="2990850" cy="3448050"/>
          </a:xfrm>
          <a:prstGeom prst="rect">
            <a:avLst/>
          </a:prstGeom>
          <a:noFill/>
          <a:ln w="9525">
            <a:noFill/>
            <a:miter lim="800000"/>
            <a:headEnd/>
            <a:tailEnd/>
          </a:ln>
          <a:effectLst/>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Wire Parasitic</a:t>
            </a:r>
          </a:p>
        </p:txBody>
      </p:sp>
      <p:sp>
        <p:nvSpPr>
          <p:cNvPr id="3" name="Content Placeholder 2"/>
          <p:cNvSpPr>
            <a:spLocks noGrp="1"/>
          </p:cNvSpPr>
          <p:nvPr>
            <p:ph idx="1"/>
          </p:nvPr>
        </p:nvSpPr>
        <p:spPr/>
        <p:txBody>
          <a:bodyPr>
            <a:normAutofit fontScale="92500" lnSpcReduction="20000"/>
          </a:bodyPr>
          <a:lstStyle/>
          <a:p>
            <a:pPr>
              <a:buNone/>
            </a:pPr>
            <a:r>
              <a:rPr lang="en-US" b="1" dirty="0"/>
              <a:t>Wire   Resistance </a:t>
            </a:r>
          </a:p>
          <a:p>
            <a:pPr>
              <a:buNone/>
            </a:pPr>
            <a:r>
              <a:rPr lang="en-US" dirty="0" err="1"/>
              <a:t>Rline</a:t>
            </a:r>
            <a:r>
              <a:rPr lang="en-US" dirty="0"/>
              <a:t> = (</a:t>
            </a:r>
            <a:r>
              <a:rPr lang="en-US" dirty="0">
                <a:sym typeface="Symbol"/>
              </a:rPr>
              <a:t>*d)/(z*w)</a:t>
            </a:r>
            <a:endParaRPr lang="en-US" dirty="0"/>
          </a:p>
          <a:p>
            <a:r>
              <a:rPr lang="en-US" dirty="0">
                <a:sym typeface="Symbol"/>
              </a:rPr>
              <a:t> -</a:t>
            </a:r>
            <a:r>
              <a:rPr lang="en-US" dirty="0"/>
              <a:t>wire resistivity ,d- length of wire, z (t) – height of interconnect conductor</a:t>
            </a:r>
          </a:p>
          <a:p>
            <a:r>
              <a:rPr lang="en-IN" dirty="0"/>
              <a:t>W- width </a:t>
            </a:r>
            <a:endParaRPr lang="en-US" dirty="0"/>
          </a:p>
          <a:p>
            <a:pPr>
              <a:buNone/>
            </a:pPr>
            <a:r>
              <a:rPr lang="en-US" b="1" dirty="0"/>
              <a:t>Wire Capacitance</a:t>
            </a:r>
          </a:p>
          <a:p>
            <a:pPr marL="0" indent="0">
              <a:buNone/>
            </a:pPr>
            <a:r>
              <a:rPr lang="en-US" dirty="0"/>
              <a:t>(Side wall, bottom wall, Fringe, plate capacitance. )</a:t>
            </a:r>
          </a:p>
          <a:p>
            <a:pPr marL="0" indent="0">
              <a:buNone/>
            </a:pPr>
            <a:r>
              <a:rPr lang="en-US" dirty="0"/>
              <a:t>Cline= </a:t>
            </a:r>
            <a:r>
              <a:rPr lang="en-US" dirty="0" err="1"/>
              <a:t>C.d</a:t>
            </a:r>
            <a:endParaRPr lang="en-US" dirty="0"/>
          </a:p>
          <a:p>
            <a:pPr marL="0" indent="0">
              <a:buNone/>
            </a:pPr>
            <a:r>
              <a:rPr lang="en-US" dirty="0"/>
              <a:t>C capacitance per unit length</a:t>
            </a:r>
          </a:p>
          <a:p>
            <a:pPr marL="0" indent="0">
              <a:buNone/>
            </a:pPr>
            <a:r>
              <a:rPr lang="en-US" dirty="0"/>
              <a:t>d length</a:t>
            </a:r>
          </a:p>
        </p:txBody>
      </p:sp>
    </p:spTree>
    <p:extLst>
      <p:ext uri="{BB962C8B-B14F-4D97-AF65-F5344CB8AC3E}">
        <p14:creationId xmlns:p14="http://schemas.microsoft.com/office/powerpoint/2010/main" xmlns="" val="205961729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ChangeArrowheads="1"/>
          </p:cNvSpPr>
          <p:nvPr>
            <p:ph type="title"/>
          </p:nvPr>
        </p:nvSpPr>
        <p:spPr>
          <a:xfrm>
            <a:off x="457200" y="457200"/>
            <a:ext cx="8229600" cy="1143000"/>
          </a:xfrm>
        </p:spPr>
        <p:txBody>
          <a:bodyPr/>
          <a:lstStyle/>
          <a:p>
            <a:pPr eaLnBrk="1" hangingPunct="1"/>
            <a:r>
              <a:rPr lang="en-US" sz="3200">
                <a:solidFill>
                  <a:srgbClr val="3366FF"/>
                </a:solidFill>
              </a:rPr>
              <a:t/>
            </a:r>
            <a:br>
              <a:rPr lang="en-US" sz="3200">
                <a:solidFill>
                  <a:srgbClr val="3366FF"/>
                </a:solidFill>
              </a:rPr>
            </a:br>
            <a:r>
              <a:rPr lang="en-US" sz="3200">
                <a:solidFill>
                  <a:srgbClr val="3366FF"/>
                </a:solidFill>
              </a:rPr>
              <a:t>Wire Parasitic</a:t>
            </a:r>
            <a:br>
              <a:rPr lang="en-US" sz="3200">
                <a:solidFill>
                  <a:srgbClr val="3366FF"/>
                </a:solidFill>
              </a:rPr>
            </a:br>
            <a:r>
              <a:rPr lang="en-US" sz="3200">
                <a:solidFill>
                  <a:srgbClr val="3366FF"/>
                </a:solidFill>
              </a:rPr>
              <a:t>___________________________________</a:t>
            </a:r>
          </a:p>
        </p:txBody>
      </p:sp>
      <p:sp>
        <p:nvSpPr>
          <p:cNvPr id="51203" name="Rectangle 3"/>
          <p:cNvSpPr>
            <a:spLocks noGrp="1" noChangeArrowheads="1"/>
          </p:cNvSpPr>
          <p:nvPr>
            <p:ph type="body" idx="1"/>
          </p:nvPr>
        </p:nvSpPr>
        <p:spPr>
          <a:xfrm>
            <a:off x="457200" y="1524000"/>
            <a:ext cx="8229600" cy="5334000"/>
          </a:xfrm>
        </p:spPr>
        <p:txBody>
          <a:bodyPr/>
          <a:lstStyle/>
          <a:p>
            <a:endParaRPr lang="en-US" sz="2400" dirty="0"/>
          </a:p>
          <a:p>
            <a:pPr algn="just">
              <a:buFont typeface="Wingdings" pitchFamily="2" charset="2"/>
              <a:buChar char="q"/>
            </a:pPr>
            <a:r>
              <a:rPr lang="en-IN" sz="2000" dirty="0">
                <a:solidFill>
                  <a:srgbClr val="FF0000"/>
                </a:solidFill>
              </a:rPr>
              <a:t>Wires, </a:t>
            </a:r>
            <a:r>
              <a:rPr lang="en-IN" sz="2000" dirty="0" err="1">
                <a:solidFill>
                  <a:srgbClr val="FF0000"/>
                </a:solidFill>
              </a:rPr>
              <a:t>vias</a:t>
            </a:r>
            <a:r>
              <a:rPr lang="en-IN" sz="2000" dirty="0">
                <a:solidFill>
                  <a:srgbClr val="FF0000"/>
                </a:solidFill>
              </a:rPr>
              <a:t> and transistors </a:t>
            </a:r>
            <a:r>
              <a:rPr lang="en-IN" sz="2000" dirty="0"/>
              <a:t>all introduce parasitic elements into our circuits.</a:t>
            </a:r>
          </a:p>
          <a:p>
            <a:pPr algn="just">
              <a:buFont typeface="Wingdings" pitchFamily="2" charset="2"/>
              <a:buChar char="q"/>
            </a:pPr>
            <a:r>
              <a:rPr lang="en-IN" sz="2000" dirty="0"/>
              <a:t>Parasitic components are </a:t>
            </a:r>
            <a:r>
              <a:rPr lang="en-IN" sz="2000" dirty="0">
                <a:solidFill>
                  <a:srgbClr val="FF0000"/>
                </a:solidFill>
              </a:rPr>
              <a:t>Resistance and capacitance</a:t>
            </a:r>
          </a:p>
          <a:p>
            <a:pPr algn="just">
              <a:buFont typeface="Wingdings" pitchFamily="2" charset="2"/>
              <a:buChar char="q"/>
            </a:pPr>
            <a:r>
              <a:rPr lang="en-IN" sz="2000" i="1" dirty="0"/>
              <a:t>Diffusion wire capacitance</a:t>
            </a:r>
          </a:p>
          <a:p>
            <a:pPr algn="just">
              <a:buFont typeface="Wingdings" pitchFamily="2" charset="2"/>
              <a:buChar char="q"/>
            </a:pPr>
            <a:r>
              <a:rPr lang="en-IN" sz="2000" i="1" dirty="0"/>
              <a:t>Bottom wall capacitance – depends on the diffusion area</a:t>
            </a:r>
          </a:p>
          <a:p>
            <a:pPr algn="just">
              <a:buFont typeface="Wingdings" pitchFamily="2" charset="2"/>
              <a:buChar char="q"/>
            </a:pPr>
            <a:r>
              <a:rPr lang="en-IN" sz="2000" i="1" dirty="0"/>
              <a:t>Side wall capacitance – depends on the perimeter</a:t>
            </a:r>
          </a:p>
          <a:p>
            <a:endParaRPr lang="en-IN" sz="2000" dirty="0"/>
          </a:p>
        </p:txBody>
      </p:sp>
      <p:pic>
        <p:nvPicPr>
          <p:cNvPr id="51204" name="Picture 2"/>
          <p:cNvPicPr>
            <a:picLocks noChangeAspect="1" noChangeArrowheads="1"/>
          </p:cNvPicPr>
          <p:nvPr/>
        </p:nvPicPr>
        <p:blipFill>
          <a:blip r:embed="rId2" cstate="print"/>
          <a:srcRect/>
          <a:stretch>
            <a:fillRect/>
          </a:stretch>
        </p:blipFill>
        <p:spPr bwMode="auto">
          <a:xfrm>
            <a:off x="5334000" y="4191000"/>
            <a:ext cx="3429000" cy="1676400"/>
          </a:xfrm>
          <a:prstGeom prst="rect">
            <a:avLst/>
          </a:prstGeom>
          <a:noFill/>
          <a:ln w="9525">
            <a:noFill/>
            <a:miter lim="800000"/>
            <a:headEnd/>
            <a:tailEnd/>
          </a:ln>
        </p:spPr>
      </p:pic>
      <p:sp>
        <p:nvSpPr>
          <p:cNvPr id="51205" name="Rectangle 4"/>
          <p:cNvSpPr>
            <a:spLocks noChangeArrowheads="1"/>
          </p:cNvSpPr>
          <p:nvPr/>
        </p:nvSpPr>
        <p:spPr bwMode="auto">
          <a:xfrm>
            <a:off x="5486400" y="5934075"/>
            <a:ext cx="3657600" cy="923925"/>
          </a:xfrm>
          <a:prstGeom prst="rect">
            <a:avLst/>
          </a:prstGeom>
          <a:noFill/>
          <a:ln w="9525">
            <a:noFill/>
            <a:miter lim="800000"/>
            <a:headEnd/>
            <a:tailEnd/>
          </a:ln>
        </p:spPr>
        <p:txBody>
          <a:bodyPr>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IN" sz="1800" b="0" i="0" u="none" strike="noStrike" kern="1200" cap="none" spc="0" normalizeH="0" baseline="0" noProof="0">
                <a:ln>
                  <a:noFill/>
                </a:ln>
                <a:solidFill>
                  <a:srgbClr val="000000"/>
                </a:solidFill>
                <a:effectLst/>
                <a:uLnTx/>
                <a:uFillTx/>
                <a:latin typeface="Arial" pitchFamily="34" charset="0"/>
                <a:ea typeface="+mn-ea"/>
                <a:cs typeface="+mn-cs"/>
              </a:rPr>
              <a:t>Sidewall and bottomwall capacitances of a</a:t>
            </a:r>
            <a:br>
              <a:rPr kumimoji="0" lang="en-IN" sz="1800" b="0" i="0" u="none" strike="noStrike" kern="1200" cap="none" spc="0" normalizeH="0" baseline="0" noProof="0">
                <a:ln>
                  <a:noFill/>
                </a:ln>
                <a:solidFill>
                  <a:srgbClr val="000000"/>
                </a:solidFill>
                <a:effectLst/>
                <a:uLnTx/>
                <a:uFillTx/>
                <a:latin typeface="Arial" pitchFamily="34" charset="0"/>
                <a:ea typeface="+mn-ea"/>
                <a:cs typeface="+mn-cs"/>
              </a:rPr>
            </a:br>
            <a:r>
              <a:rPr kumimoji="0" lang="en-IN" sz="1800" b="0" i="0" u="none" strike="noStrike" kern="1200" cap="none" spc="0" normalizeH="0" baseline="0" noProof="0">
                <a:ln>
                  <a:noFill/>
                </a:ln>
                <a:solidFill>
                  <a:srgbClr val="000000"/>
                </a:solidFill>
                <a:effectLst/>
                <a:uLnTx/>
                <a:uFillTx/>
                <a:latin typeface="Arial" pitchFamily="34" charset="0"/>
                <a:ea typeface="+mn-ea"/>
                <a:cs typeface="+mn-cs"/>
              </a:rPr>
              <a:t>diffusion region</a:t>
            </a: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Grp="1" noChangeArrowheads="1"/>
          </p:cNvSpPr>
          <p:nvPr>
            <p:ph type="title"/>
          </p:nvPr>
        </p:nvSpPr>
        <p:spPr>
          <a:xfrm>
            <a:off x="457200" y="457200"/>
            <a:ext cx="8229600" cy="1143000"/>
          </a:xfrm>
        </p:spPr>
        <p:txBody>
          <a:bodyPr/>
          <a:lstStyle/>
          <a:p>
            <a:pPr eaLnBrk="1" hangingPunct="1"/>
            <a:r>
              <a:rPr lang="en-US" sz="3200">
                <a:solidFill>
                  <a:srgbClr val="3366FF"/>
                </a:solidFill>
              </a:rPr>
              <a:t/>
            </a:r>
            <a:br>
              <a:rPr lang="en-US" sz="3200">
                <a:solidFill>
                  <a:srgbClr val="3366FF"/>
                </a:solidFill>
              </a:rPr>
            </a:br>
            <a:r>
              <a:rPr lang="en-US" sz="3200">
                <a:solidFill>
                  <a:srgbClr val="3366FF"/>
                </a:solidFill>
              </a:rPr>
              <a:t>Wire Parasitic</a:t>
            </a:r>
            <a:br>
              <a:rPr lang="en-US" sz="3200">
                <a:solidFill>
                  <a:srgbClr val="3366FF"/>
                </a:solidFill>
              </a:rPr>
            </a:br>
            <a:r>
              <a:rPr lang="en-US" sz="3200">
                <a:solidFill>
                  <a:srgbClr val="3366FF"/>
                </a:solidFill>
              </a:rPr>
              <a:t>___________________________________</a:t>
            </a:r>
          </a:p>
        </p:txBody>
      </p:sp>
      <p:sp>
        <p:nvSpPr>
          <p:cNvPr id="52227" name="Rectangle 3"/>
          <p:cNvSpPr>
            <a:spLocks noGrp="1" noChangeArrowheads="1"/>
          </p:cNvSpPr>
          <p:nvPr>
            <p:ph type="body" idx="1"/>
          </p:nvPr>
        </p:nvSpPr>
        <p:spPr>
          <a:xfrm>
            <a:off x="457200" y="1524000"/>
            <a:ext cx="8229600" cy="5334000"/>
          </a:xfrm>
        </p:spPr>
        <p:txBody>
          <a:bodyPr/>
          <a:lstStyle/>
          <a:p>
            <a:endParaRPr lang="en-US" sz="2400"/>
          </a:p>
          <a:p>
            <a:r>
              <a:rPr lang="en-US" sz="2000"/>
              <a:t>The </a:t>
            </a:r>
            <a:r>
              <a:rPr lang="en-US" sz="2000" b="1"/>
              <a:t>depletion region capacitance value is given by</a:t>
            </a:r>
            <a:endParaRPr lang="en-IN" sz="2000"/>
          </a:p>
        </p:txBody>
      </p:sp>
      <p:pic>
        <p:nvPicPr>
          <p:cNvPr id="52228" name="Picture 2"/>
          <p:cNvPicPr>
            <a:picLocks noChangeAspect="1" noChangeArrowheads="1"/>
          </p:cNvPicPr>
          <p:nvPr/>
        </p:nvPicPr>
        <p:blipFill>
          <a:blip r:embed="rId2" cstate="print"/>
          <a:srcRect/>
          <a:stretch>
            <a:fillRect/>
          </a:stretch>
        </p:blipFill>
        <p:spPr bwMode="auto">
          <a:xfrm>
            <a:off x="1676400" y="2514600"/>
            <a:ext cx="1828800" cy="1419225"/>
          </a:xfrm>
          <a:prstGeom prst="rect">
            <a:avLst/>
          </a:prstGeom>
          <a:noFill/>
          <a:ln w="9525">
            <a:noFill/>
            <a:miter lim="800000"/>
            <a:headEnd/>
            <a:tailEnd/>
          </a:ln>
        </p:spPr>
      </p:pic>
      <p:pic>
        <p:nvPicPr>
          <p:cNvPr id="52229" name="Picture 3"/>
          <p:cNvPicPr>
            <a:picLocks noChangeAspect="1" noChangeArrowheads="1"/>
          </p:cNvPicPr>
          <p:nvPr/>
        </p:nvPicPr>
        <p:blipFill>
          <a:blip r:embed="rId3" cstate="print"/>
          <a:srcRect/>
          <a:stretch>
            <a:fillRect/>
          </a:stretch>
        </p:blipFill>
        <p:spPr bwMode="auto">
          <a:xfrm>
            <a:off x="838200" y="4800600"/>
            <a:ext cx="3086100" cy="1085850"/>
          </a:xfrm>
          <a:prstGeom prst="rect">
            <a:avLst/>
          </a:prstGeom>
          <a:noFill/>
          <a:ln w="9525">
            <a:noFill/>
            <a:miter lim="800000"/>
            <a:headEnd/>
            <a:tailEnd/>
          </a:ln>
        </p:spPr>
      </p:pic>
      <p:pic>
        <p:nvPicPr>
          <p:cNvPr id="52230" name="Picture 4"/>
          <p:cNvPicPr>
            <a:picLocks noChangeAspect="1" noChangeArrowheads="1"/>
          </p:cNvPicPr>
          <p:nvPr/>
        </p:nvPicPr>
        <p:blipFill>
          <a:blip r:embed="rId4" cstate="print"/>
          <a:srcRect/>
          <a:stretch>
            <a:fillRect/>
          </a:stretch>
        </p:blipFill>
        <p:spPr bwMode="auto">
          <a:xfrm>
            <a:off x="6019800" y="2514600"/>
            <a:ext cx="2333625" cy="1143000"/>
          </a:xfrm>
          <a:prstGeom prst="rect">
            <a:avLst/>
          </a:prstGeom>
          <a:noFill/>
          <a:ln w="9525">
            <a:noFill/>
            <a:miter lim="800000"/>
            <a:headEnd/>
            <a:tailEnd/>
          </a:ln>
        </p:spPr>
      </p:pic>
      <p:pic>
        <p:nvPicPr>
          <p:cNvPr id="52231" name="Picture 5"/>
          <p:cNvPicPr>
            <a:picLocks noChangeAspect="1" noChangeArrowheads="1"/>
          </p:cNvPicPr>
          <p:nvPr/>
        </p:nvPicPr>
        <p:blipFill>
          <a:blip r:embed="rId5" cstate="print"/>
          <a:srcRect/>
          <a:stretch>
            <a:fillRect/>
          </a:stretch>
        </p:blipFill>
        <p:spPr bwMode="auto">
          <a:xfrm>
            <a:off x="6172200" y="4800600"/>
            <a:ext cx="2247900" cy="1304925"/>
          </a:xfrm>
          <a:prstGeom prst="rect">
            <a:avLst/>
          </a:prstGeom>
          <a:noFill/>
          <a:ln w="9525">
            <a:noFill/>
            <a:miter lim="800000"/>
            <a:headEnd/>
            <a:tailEnd/>
          </a:ln>
        </p:spPr>
      </p:pic>
      <p:sp>
        <p:nvSpPr>
          <p:cNvPr id="52232" name="Rectangle 9"/>
          <p:cNvSpPr>
            <a:spLocks noChangeArrowheads="1"/>
          </p:cNvSpPr>
          <p:nvPr/>
        </p:nvSpPr>
        <p:spPr bwMode="auto">
          <a:xfrm>
            <a:off x="0" y="3276600"/>
            <a:ext cx="1600200" cy="1200150"/>
          </a:xfrm>
          <a:prstGeom prst="rect">
            <a:avLst/>
          </a:prstGeom>
          <a:noFill/>
          <a:ln w="9525">
            <a:noFill/>
            <a:miter lim="800000"/>
            <a:headEnd/>
            <a:tailEnd/>
          </a:ln>
        </p:spPr>
        <p:txBody>
          <a:bodyPr>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Arial" pitchFamily="34" charset="0"/>
                <a:ea typeface="+mn-ea"/>
                <a:cs typeface="+mn-cs"/>
              </a:rPr>
              <a:t> depletion capacitance at zero bias</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Arial" pitchFamily="34" charset="0"/>
                <a:ea typeface="+mn-ea"/>
                <a:cs typeface="+mn-cs"/>
              </a:rPr>
              <a:t> </a:t>
            </a:r>
          </a:p>
        </p:txBody>
      </p:sp>
      <p:cxnSp>
        <p:nvCxnSpPr>
          <p:cNvPr id="52233" name="Straight Arrow Connector 11"/>
          <p:cNvCxnSpPr>
            <a:cxnSpLocks noChangeShapeType="1"/>
          </p:cNvCxnSpPr>
          <p:nvPr/>
        </p:nvCxnSpPr>
        <p:spPr bwMode="auto">
          <a:xfrm flipV="1">
            <a:off x="1143000" y="3200400"/>
            <a:ext cx="762000" cy="685800"/>
          </a:xfrm>
          <a:prstGeom prst="straightConnector1">
            <a:avLst/>
          </a:prstGeom>
          <a:noFill/>
          <a:ln w="9525" algn="ctr">
            <a:solidFill>
              <a:schemeClr val="tx1"/>
            </a:solidFill>
            <a:round/>
            <a:headEnd/>
            <a:tailEnd type="arrow" w="med" len="med"/>
          </a:ln>
        </p:spPr>
      </p:cxnSp>
      <p:cxnSp>
        <p:nvCxnSpPr>
          <p:cNvPr id="52234" name="Straight Arrow Connector 13"/>
          <p:cNvCxnSpPr>
            <a:cxnSpLocks noChangeShapeType="1"/>
          </p:cNvCxnSpPr>
          <p:nvPr/>
        </p:nvCxnSpPr>
        <p:spPr bwMode="auto">
          <a:xfrm rot="10800000" flipV="1">
            <a:off x="3276600" y="2590800"/>
            <a:ext cx="685800" cy="304800"/>
          </a:xfrm>
          <a:prstGeom prst="straightConnector1">
            <a:avLst/>
          </a:prstGeom>
          <a:noFill/>
          <a:ln w="9525" algn="ctr">
            <a:solidFill>
              <a:schemeClr val="tx1"/>
            </a:solidFill>
            <a:round/>
            <a:headEnd/>
            <a:tailEnd type="arrow" w="med" len="med"/>
          </a:ln>
        </p:spPr>
      </p:cxnSp>
      <p:sp>
        <p:nvSpPr>
          <p:cNvPr id="52235" name="Rectangle 15"/>
          <p:cNvSpPr>
            <a:spLocks noChangeArrowheads="1"/>
          </p:cNvSpPr>
          <p:nvPr/>
        </p:nvSpPr>
        <p:spPr bwMode="auto">
          <a:xfrm>
            <a:off x="3962400" y="2438400"/>
            <a:ext cx="1371600" cy="646113"/>
          </a:xfrm>
          <a:prstGeom prst="rect">
            <a:avLst/>
          </a:prstGeom>
          <a:noFill/>
          <a:ln w="9525">
            <a:noFill/>
            <a:miter lim="800000"/>
            <a:headEnd/>
            <a:tailEnd/>
          </a:ln>
        </p:spPr>
        <p:txBody>
          <a:bodyPr>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Arial" pitchFamily="34" charset="0"/>
                <a:ea typeface="+mn-ea"/>
                <a:cs typeface="+mn-cs"/>
              </a:rPr>
              <a:t> permittivity of Si </a:t>
            </a:r>
          </a:p>
        </p:txBody>
      </p:sp>
      <p:sp>
        <p:nvSpPr>
          <p:cNvPr id="52236" name="Rectangle 16"/>
          <p:cNvSpPr>
            <a:spLocks noChangeArrowheads="1"/>
          </p:cNvSpPr>
          <p:nvPr/>
        </p:nvSpPr>
        <p:spPr bwMode="auto">
          <a:xfrm>
            <a:off x="3733800" y="3657600"/>
            <a:ext cx="1600200" cy="646113"/>
          </a:xfrm>
          <a:prstGeom prst="rect">
            <a:avLst/>
          </a:prstGeom>
          <a:noFill/>
          <a:ln w="9525">
            <a:noFill/>
            <a:miter lim="800000"/>
            <a:headEnd/>
            <a:tailEnd/>
          </a:ln>
        </p:spPr>
        <p:txBody>
          <a:bodyPr>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Arial" pitchFamily="34" charset="0"/>
                <a:ea typeface="+mn-ea"/>
                <a:cs typeface="+mn-cs"/>
              </a:rPr>
              <a:t> depletion region width</a:t>
            </a:r>
          </a:p>
        </p:txBody>
      </p:sp>
      <p:cxnSp>
        <p:nvCxnSpPr>
          <p:cNvPr id="52237" name="Straight Arrow Connector 18"/>
          <p:cNvCxnSpPr>
            <a:cxnSpLocks noChangeShapeType="1"/>
          </p:cNvCxnSpPr>
          <p:nvPr/>
        </p:nvCxnSpPr>
        <p:spPr bwMode="auto">
          <a:xfrm rot="16200000" flipV="1">
            <a:off x="3390900" y="3695700"/>
            <a:ext cx="381000" cy="304800"/>
          </a:xfrm>
          <a:prstGeom prst="straightConnector1">
            <a:avLst/>
          </a:prstGeom>
          <a:noFill/>
          <a:ln w="9525" algn="ctr">
            <a:solidFill>
              <a:schemeClr val="tx1"/>
            </a:solidFill>
            <a:round/>
            <a:headEnd/>
            <a:tailEnd type="arrow" w="med" len="med"/>
          </a:ln>
        </p:spPr>
      </p:cxnSp>
      <p:cxnSp>
        <p:nvCxnSpPr>
          <p:cNvPr id="52238" name="Straight Arrow Connector 20"/>
          <p:cNvCxnSpPr>
            <a:cxnSpLocks noChangeShapeType="1"/>
          </p:cNvCxnSpPr>
          <p:nvPr/>
        </p:nvCxnSpPr>
        <p:spPr bwMode="auto">
          <a:xfrm rot="5400000" flipH="1" flipV="1">
            <a:off x="6172201" y="3581400"/>
            <a:ext cx="457200" cy="3175"/>
          </a:xfrm>
          <a:prstGeom prst="straightConnector1">
            <a:avLst/>
          </a:prstGeom>
          <a:noFill/>
          <a:ln w="9525" algn="ctr">
            <a:solidFill>
              <a:schemeClr val="tx1"/>
            </a:solidFill>
            <a:round/>
            <a:headEnd/>
            <a:tailEnd type="arrow" w="med" len="med"/>
          </a:ln>
        </p:spPr>
      </p:cxnSp>
      <p:sp>
        <p:nvSpPr>
          <p:cNvPr id="52239" name="Rectangle 21"/>
          <p:cNvSpPr>
            <a:spLocks noChangeArrowheads="1"/>
          </p:cNvSpPr>
          <p:nvPr/>
        </p:nvSpPr>
        <p:spPr bwMode="auto">
          <a:xfrm>
            <a:off x="6019800" y="3962400"/>
            <a:ext cx="1600200" cy="646113"/>
          </a:xfrm>
          <a:prstGeom prst="rect">
            <a:avLst/>
          </a:prstGeom>
          <a:noFill/>
          <a:ln w="9525">
            <a:noFill/>
            <a:miter lim="800000"/>
            <a:headEnd/>
            <a:tailEnd/>
          </a:ln>
        </p:spPr>
        <p:txBody>
          <a:bodyPr>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Arial" pitchFamily="34" charset="0"/>
                <a:ea typeface="+mn-ea"/>
                <a:cs typeface="+mn-cs"/>
              </a:rPr>
              <a:t> Built in voltage</a:t>
            </a:r>
          </a:p>
        </p:txBody>
      </p:sp>
      <p:sp>
        <p:nvSpPr>
          <p:cNvPr id="52240" name="Rectangle 22"/>
          <p:cNvSpPr>
            <a:spLocks noChangeArrowheads="1"/>
          </p:cNvSpPr>
          <p:nvPr/>
        </p:nvSpPr>
        <p:spPr bwMode="auto">
          <a:xfrm>
            <a:off x="2895600" y="6019800"/>
            <a:ext cx="4572000" cy="646113"/>
          </a:xfrm>
          <a:prstGeom prst="rect">
            <a:avLst/>
          </a:prstGeom>
          <a:noFill/>
          <a:ln w="9525">
            <a:noFill/>
            <a:miter lim="800000"/>
            <a:headEnd/>
            <a:tailEnd/>
          </a:ln>
        </p:spPr>
        <p:txBody>
          <a:bodyPr>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Arial" pitchFamily="34" charset="0"/>
                <a:ea typeface="+mn-ea"/>
                <a:cs typeface="+mn-cs"/>
              </a:rPr>
              <a:t> Junction capacitance decreases as reverse voltage increases</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Title 1"/>
          <p:cNvSpPr>
            <a:spLocks noGrp="1"/>
          </p:cNvSpPr>
          <p:nvPr>
            <p:ph type="title"/>
          </p:nvPr>
        </p:nvSpPr>
        <p:spPr/>
        <p:txBody>
          <a:bodyPr/>
          <a:lstStyle/>
          <a:p>
            <a:r>
              <a:rPr lang="en-IN" sz="3200">
                <a:solidFill>
                  <a:srgbClr val="0070C0"/>
                </a:solidFill>
              </a:rPr>
              <a:t>Capacitive coupling between signals on</a:t>
            </a:r>
            <a:br>
              <a:rPr lang="en-IN" sz="3200">
                <a:solidFill>
                  <a:srgbClr val="0070C0"/>
                </a:solidFill>
              </a:rPr>
            </a:br>
            <a:r>
              <a:rPr lang="en-IN" sz="3200">
                <a:solidFill>
                  <a:srgbClr val="0070C0"/>
                </a:solidFill>
              </a:rPr>
              <a:t>the same and different layers</a:t>
            </a:r>
            <a:br>
              <a:rPr lang="en-IN" sz="3200">
                <a:solidFill>
                  <a:srgbClr val="0070C0"/>
                </a:solidFill>
              </a:rPr>
            </a:br>
            <a:r>
              <a:rPr lang="en-IN" sz="3200">
                <a:solidFill>
                  <a:srgbClr val="0070C0"/>
                </a:solidFill>
              </a:rPr>
              <a:t>___________________________________.</a:t>
            </a:r>
          </a:p>
        </p:txBody>
      </p:sp>
      <p:sp>
        <p:nvSpPr>
          <p:cNvPr id="55299" name="Content Placeholder 2"/>
          <p:cNvSpPr>
            <a:spLocks noGrp="1"/>
          </p:cNvSpPr>
          <p:nvPr>
            <p:ph idx="1"/>
          </p:nvPr>
        </p:nvSpPr>
        <p:spPr/>
        <p:txBody>
          <a:bodyPr/>
          <a:lstStyle/>
          <a:p>
            <a:pPr algn="just">
              <a:defRPr/>
            </a:pPr>
            <a:r>
              <a:rPr lang="en-IN" sz="2400" dirty="0">
                <a:solidFill>
                  <a:srgbClr val="FF0000"/>
                </a:solidFill>
              </a:rPr>
              <a:t>Number of metal layers increases </a:t>
            </a:r>
            <a:r>
              <a:rPr lang="en-IN" sz="2400" dirty="0"/>
              <a:t>and </a:t>
            </a:r>
            <a:r>
              <a:rPr lang="en-IN" sz="2400" dirty="0">
                <a:solidFill>
                  <a:schemeClr val="bg2">
                    <a:lumMod val="60000"/>
                    <a:lumOff val="40000"/>
                  </a:schemeClr>
                </a:solidFill>
              </a:rPr>
              <a:t>the capacitance of the substrate decrease.</a:t>
            </a:r>
          </a:p>
          <a:p>
            <a:pPr algn="just">
              <a:defRPr/>
            </a:pPr>
            <a:r>
              <a:rPr lang="en-IN" sz="2400" dirty="0"/>
              <a:t>Wire to wire capacitance.</a:t>
            </a:r>
          </a:p>
          <a:p>
            <a:pPr algn="just">
              <a:defRPr/>
            </a:pPr>
            <a:r>
              <a:rPr lang="en-IN" sz="2400" dirty="0"/>
              <a:t>Cm1m2 – capacitance between two different metal layers, depends on are of overlap between two wires.</a:t>
            </a:r>
          </a:p>
          <a:p>
            <a:pPr algn="just">
              <a:defRPr/>
            </a:pPr>
            <a:r>
              <a:rPr lang="en-IN" sz="2400" dirty="0"/>
              <a:t>Cw1w2 – two wires on same layer  </a:t>
            </a:r>
          </a:p>
          <a:p>
            <a:pPr algn="just">
              <a:defRPr/>
            </a:pPr>
            <a:endParaRPr lang="en-IN" sz="2400" dirty="0"/>
          </a:p>
        </p:txBody>
      </p:sp>
      <p:pic>
        <p:nvPicPr>
          <p:cNvPr id="54276" name="Picture 2"/>
          <p:cNvPicPr>
            <a:picLocks noChangeAspect="1" noChangeArrowheads="1"/>
          </p:cNvPicPr>
          <p:nvPr/>
        </p:nvPicPr>
        <p:blipFill>
          <a:blip r:embed="rId2" cstate="print"/>
          <a:srcRect/>
          <a:stretch>
            <a:fillRect/>
          </a:stretch>
        </p:blipFill>
        <p:spPr bwMode="auto">
          <a:xfrm>
            <a:off x="4953000" y="4724400"/>
            <a:ext cx="3886200" cy="2133600"/>
          </a:xfrm>
          <a:prstGeom prst="rect">
            <a:avLst/>
          </a:prstGeom>
          <a:noFill/>
          <a:ln w="9525">
            <a:noFill/>
            <a:miter lim="800000"/>
            <a:headEnd/>
            <a:tailEnd/>
          </a:ln>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Signal Integrity Issues</a:t>
            </a:r>
          </a:p>
        </p:txBody>
      </p:sp>
      <p:sp>
        <p:nvSpPr>
          <p:cNvPr id="3" name="Content Placeholder 2"/>
          <p:cNvSpPr>
            <a:spLocks noGrp="1"/>
          </p:cNvSpPr>
          <p:nvPr>
            <p:ph idx="1"/>
          </p:nvPr>
        </p:nvSpPr>
        <p:spPr>
          <a:xfrm>
            <a:off x="457200" y="1600201"/>
            <a:ext cx="6629400" cy="2895600"/>
          </a:xfrm>
        </p:spPr>
        <p:txBody>
          <a:bodyPr>
            <a:normAutofit fontScale="77500" lnSpcReduction="20000"/>
          </a:bodyPr>
          <a:lstStyle/>
          <a:p>
            <a:r>
              <a:rPr lang="en-US" dirty="0"/>
              <a:t>Reflection noise: Due to impedance mismatch, stubs, </a:t>
            </a:r>
            <a:r>
              <a:rPr lang="en-US" dirty="0" err="1"/>
              <a:t>vias</a:t>
            </a:r>
            <a:r>
              <a:rPr lang="en-US" dirty="0"/>
              <a:t> and other discontinuity </a:t>
            </a:r>
          </a:p>
          <a:p>
            <a:r>
              <a:rPr lang="en-US" dirty="0"/>
              <a:t>Cross talk: Due to </a:t>
            </a:r>
            <a:r>
              <a:rPr lang="en-US" dirty="0" err="1"/>
              <a:t>electromagetic</a:t>
            </a:r>
            <a:r>
              <a:rPr lang="en-US" dirty="0"/>
              <a:t> coupling between signal and </a:t>
            </a:r>
            <a:r>
              <a:rPr lang="en-US" dirty="0" err="1"/>
              <a:t>vias</a:t>
            </a:r>
            <a:endParaRPr lang="en-US" dirty="0"/>
          </a:p>
          <a:p>
            <a:r>
              <a:rPr lang="en-US" dirty="0"/>
              <a:t>Power ground noise: Ground bounce and power bounce</a:t>
            </a:r>
          </a:p>
          <a:p>
            <a:r>
              <a:rPr lang="en-US" dirty="0"/>
              <a:t>Packaging: Packaging interconnect structure</a:t>
            </a:r>
          </a:p>
        </p:txBody>
      </p:sp>
      <p:pic>
        <p:nvPicPr>
          <p:cNvPr id="6146" name="Picture 2"/>
          <p:cNvPicPr>
            <a:picLocks noChangeAspect="1" noChangeArrowheads="1"/>
          </p:cNvPicPr>
          <p:nvPr/>
        </p:nvPicPr>
        <p:blipFill>
          <a:blip r:embed="rId2"/>
          <a:srcRect/>
          <a:stretch>
            <a:fillRect/>
          </a:stretch>
        </p:blipFill>
        <p:spPr bwMode="auto">
          <a:xfrm>
            <a:off x="685800" y="4495800"/>
            <a:ext cx="6781800" cy="1847850"/>
          </a:xfrm>
          <a:prstGeom prst="rect">
            <a:avLst/>
          </a:prstGeom>
          <a:noFill/>
          <a:ln w="9525">
            <a:noFill/>
            <a:miter lim="800000"/>
            <a:headEnd/>
            <a:tailEnd/>
          </a:ln>
          <a:effectLst/>
        </p:spPr>
      </p:pic>
    </p:spTree>
    <p:extLst>
      <p:ext uri="{BB962C8B-B14F-4D97-AF65-F5344CB8AC3E}">
        <p14:creationId xmlns:p14="http://schemas.microsoft.com/office/powerpoint/2010/main" xmlns="" val="756935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Grp="1" noChangeArrowheads="1"/>
          </p:cNvSpPr>
          <p:nvPr>
            <p:ph type="title"/>
          </p:nvPr>
        </p:nvSpPr>
        <p:spPr>
          <a:xfrm>
            <a:off x="457200" y="457200"/>
            <a:ext cx="8229600" cy="1143000"/>
          </a:xfrm>
        </p:spPr>
        <p:txBody>
          <a:bodyPr/>
          <a:lstStyle/>
          <a:p>
            <a:pPr eaLnBrk="1" hangingPunct="1"/>
            <a:r>
              <a:rPr lang="en-US" sz="3200">
                <a:solidFill>
                  <a:srgbClr val="3366FF"/>
                </a:solidFill>
              </a:rPr>
              <a:t/>
            </a:r>
            <a:br>
              <a:rPr lang="en-US" sz="3200">
                <a:solidFill>
                  <a:srgbClr val="3366FF"/>
                </a:solidFill>
              </a:rPr>
            </a:br>
            <a:r>
              <a:rPr lang="en-US" sz="3200">
                <a:solidFill>
                  <a:srgbClr val="3366FF"/>
                </a:solidFill>
              </a:rPr>
              <a:t>Signal Integrity</a:t>
            </a:r>
            <a:br>
              <a:rPr lang="en-US" sz="3200">
                <a:solidFill>
                  <a:srgbClr val="3366FF"/>
                </a:solidFill>
              </a:rPr>
            </a:br>
            <a:r>
              <a:rPr lang="en-US" sz="3200">
                <a:solidFill>
                  <a:srgbClr val="3366FF"/>
                </a:solidFill>
              </a:rPr>
              <a:t>___________________________________</a:t>
            </a:r>
          </a:p>
        </p:txBody>
      </p:sp>
      <p:sp>
        <p:nvSpPr>
          <p:cNvPr id="57347" name="Rectangle 3"/>
          <p:cNvSpPr>
            <a:spLocks noGrp="1" noChangeArrowheads="1"/>
          </p:cNvSpPr>
          <p:nvPr>
            <p:ph type="body" idx="1"/>
          </p:nvPr>
        </p:nvSpPr>
        <p:spPr>
          <a:xfrm>
            <a:off x="457200" y="1524000"/>
            <a:ext cx="8229600" cy="5334000"/>
          </a:xfrm>
        </p:spPr>
        <p:txBody>
          <a:bodyPr/>
          <a:lstStyle/>
          <a:p>
            <a:pPr>
              <a:defRPr/>
            </a:pPr>
            <a:endParaRPr lang="en-IN" sz="2400" b="1" dirty="0"/>
          </a:p>
          <a:p>
            <a:pPr algn="just">
              <a:buFont typeface="Wingdings" pitchFamily="2" charset="2"/>
              <a:buChar char="q"/>
              <a:defRPr/>
            </a:pPr>
            <a:r>
              <a:rPr lang="en-IN" sz="2800" dirty="0">
                <a:solidFill>
                  <a:schemeClr val="tx1">
                    <a:lumMod val="85000"/>
                    <a:lumOff val="15000"/>
                  </a:schemeClr>
                </a:solidFill>
              </a:rPr>
              <a:t>Signal can </a:t>
            </a:r>
            <a:r>
              <a:rPr lang="en-IN" sz="2800" dirty="0">
                <a:solidFill>
                  <a:srgbClr val="FF0000"/>
                </a:solidFill>
              </a:rPr>
              <a:t>loose it’s integrity </a:t>
            </a:r>
            <a:r>
              <a:rPr lang="en-IN" sz="2800" dirty="0">
                <a:solidFill>
                  <a:schemeClr val="tx1">
                    <a:lumMod val="85000"/>
                    <a:lumOff val="15000"/>
                  </a:schemeClr>
                </a:solidFill>
              </a:rPr>
              <a:t>is when it becomes </a:t>
            </a:r>
            <a:r>
              <a:rPr lang="en-IN" sz="2800" dirty="0">
                <a:solidFill>
                  <a:srgbClr val="FF0000"/>
                </a:solidFill>
              </a:rPr>
              <a:t>distorted or when SNR begins to degrade</a:t>
            </a:r>
            <a:r>
              <a:rPr lang="en-IN" sz="2800" dirty="0">
                <a:solidFill>
                  <a:schemeClr val="tx1">
                    <a:lumMod val="85000"/>
                    <a:lumOff val="15000"/>
                  </a:schemeClr>
                </a:solidFill>
              </a:rPr>
              <a:t>.</a:t>
            </a:r>
          </a:p>
          <a:p>
            <a:pPr algn="just">
              <a:buFont typeface="Wingdings" pitchFamily="2" charset="2"/>
              <a:buNone/>
              <a:defRPr/>
            </a:pPr>
            <a:endParaRPr lang="en-IN" sz="2800" dirty="0">
              <a:solidFill>
                <a:schemeClr val="tx1">
                  <a:lumMod val="85000"/>
                  <a:lumOff val="15000"/>
                </a:schemeClr>
              </a:solidFill>
            </a:endParaRPr>
          </a:p>
          <a:p>
            <a:pPr algn="just">
              <a:buFont typeface="Wingdings" pitchFamily="2" charset="2"/>
              <a:buChar char="q"/>
              <a:defRPr/>
            </a:pPr>
            <a:r>
              <a:rPr lang="en-IN" sz="2800" dirty="0">
                <a:solidFill>
                  <a:srgbClr val="FF0000"/>
                </a:solidFill>
              </a:rPr>
              <a:t>Signal distortion </a:t>
            </a:r>
            <a:r>
              <a:rPr lang="en-IN" sz="2800" dirty="0">
                <a:solidFill>
                  <a:schemeClr val="tx1">
                    <a:lumMod val="85000"/>
                    <a:lumOff val="15000"/>
                  </a:schemeClr>
                </a:solidFill>
              </a:rPr>
              <a:t>means that waveform of interest </a:t>
            </a:r>
            <a:r>
              <a:rPr lang="en-IN" sz="2800" dirty="0">
                <a:solidFill>
                  <a:schemeClr val="bg2">
                    <a:lumMod val="60000"/>
                    <a:lumOff val="40000"/>
                  </a:schemeClr>
                </a:solidFill>
              </a:rPr>
              <a:t>begins to change shape</a:t>
            </a:r>
            <a:r>
              <a:rPr lang="en-IN" sz="2800" dirty="0">
                <a:solidFill>
                  <a:schemeClr val="tx1">
                    <a:lumMod val="85000"/>
                    <a:lumOff val="15000"/>
                  </a:schemeClr>
                </a:solidFill>
              </a:rPr>
              <a:t>.</a:t>
            </a:r>
          </a:p>
          <a:p>
            <a:pPr algn="just">
              <a:buFont typeface="Wingdings" pitchFamily="2" charset="2"/>
              <a:buChar char="q"/>
              <a:defRPr/>
            </a:pPr>
            <a:endParaRPr lang="en-IN" sz="2800" dirty="0">
              <a:solidFill>
                <a:schemeClr val="tx1">
                  <a:lumMod val="85000"/>
                  <a:lumOff val="15000"/>
                </a:schemeClr>
              </a:solidFill>
            </a:endParaRPr>
          </a:p>
          <a:p>
            <a:pPr algn="just">
              <a:buFont typeface="Wingdings" pitchFamily="2" charset="2"/>
              <a:buChar char="q"/>
              <a:defRPr/>
            </a:pPr>
            <a:r>
              <a:rPr lang="en-IN" sz="2800" dirty="0">
                <a:solidFill>
                  <a:schemeClr val="tx1">
                    <a:lumMod val="85000"/>
                    <a:lumOff val="15000"/>
                  </a:schemeClr>
                </a:solidFill>
              </a:rPr>
              <a:t>The </a:t>
            </a:r>
            <a:r>
              <a:rPr lang="en-IN" sz="2800" dirty="0">
                <a:solidFill>
                  <a:srgbClr val="FF0000"/>
                </a:solidFill>
              </a:rPr>
              <a:t>degree to which this happen </a:t>
            </a:r>
            <a:r>
              <a:rPr lang="en-IN" sz="2800" dirty="0">
                <a:solidFill>
                  <a:schemeClr val="tx1">
                    <a:lumMod val="85000"/>
                    <a:lumOff val="15000"/>
                  </a:schemeClr>
                </a:solidFill>
              </a:rPr>
              <a:t>before it becomes a problem depends very much on </a:t>
            </a:r>
            <a:r>
              <a:rPr lang="en-IN" sz="2800" dirty="0">
                <a:solidFill>
                  <a:schemeClr val="bg2">
                    <a:lumMod val="60000"/>
                    <a:lumOff val="40000"/>
                  </a:schemeClr>
                </a:solidFill>
              </a:rPr>
              <a:t>application.</a:t>
            </a:r>
            <a:endParaRPr lang="en-US" sz="2800" dirty="0">
              <a:solidFill>
                <a:schemeClr val="bg2">
                  <a:lumMod val="60000"/>
                  <a:lumOff val="40000"/>
                </a:schemeClr>
              </a:solidFill>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p:cNvSpPr>
            <a:spLocks noGrp="1" noChangeArrowheads="1"/>
          </p:cNvSpPr>
          <p:nvPr>
            <p:ph type="title"/>
          </p:nvPr>
        </p:nvSpPr>
        <p:spPr>
          <a:xfrm>
            <a:off x="457200" y="457200"/>
            <a:ext cx="8229600" cy="1143000"/>
          </a:xfrm>
        </p:spPr>
        <p:txBody>
          <a:bodyPr/>
          <a:lstStyle/>
          <a:p>
            <a:pPr eaLnBrk="1" hangingPunct="1"/>
            <a:r>
              <a:rPr lang="en-US" sz="3200">
                <a:solidFill>
                  <a:srgbClr val="3366FF"/>
                </a:solidFill>
              </a:rPr>
              <a:t/>
            </a:r>
            <a:br>
              <a:rPr lang="en-US" sz="3200">
                <a:solidFill>
                  <a:srgbClr val="3366FF"/>
                </a:solidFill>
              </a:rPr>
            </a:br>
            <a:r>
              <a:rPr lang="en-US" sz="3200">
                <a:solidFill>
                  <a:srgbClr val="3366FF"/>
                </a:solidFill>
              </a:rPr>
              <a:t>Signal Integrity Issues</a:t>
            </a:r>
            <a:br>
              <a:rPr lang="en-US" sz="3200">
                <a:solidFill>
                  <a:srgbClr val="3366FF"/>
                </a:solidFill>
              </a:rPr>
            </a:br>
            <a:r>
              <a:rPr lang="en-US" sz="3200">
                <a:solidFill>
                  <a:srgbClr val="3366FF"/>
                </a:solidFill>
              </a:rPr>
              <a:t>___________________________________</a:t>
            </a:r>
          </a:p>
        </p:txBody>
      </p:sp>
      <p:sp>
        <p:nvSpPr>
          <p:cNvPr id="59395" name="Rectangle 3"/>
          <p:cNvSpPr>
            <a:spLocks noGrp="1" noChangeArrowheads="1"/>
          </p:cNvSpPr>
          <p:nvPr>
            <p:ph type="body" idx="1"/>
          </p:nvPr>
        </p:nvSpPr>
        <p:spPr>
          <a:xfrm>
            <a:off x="457200" y="1524000"/>
            <a:ext cx="8229600" cy="5334000"/>
          </a:xfrm>
        </p:spPr>
        <p:txBody>
          <a:bodyPr/>
          <a:lstStyle/>
          <a:p>
            <a:endParaRPr lang="en-IN" b="1"/>
          </a:p>
          <a:p>
            <a:pPr>
              <a:buFont typeface="Wingdings" pitchFamily="2" charset="2"/>
              <a:buChar char="q"/>
            </a:pPr>
            <a:r>
              <a:rPr lang="en-IN"/>
              <a:t>Rise Time and SI</a:t>
            </a:r>
          </a:p>
          <a:p>
            <a:pPr>
              <a:buFont typeface="Wingdings" pitchFamily="2" charset="2"/>
              <a:buChar char="q"/>
            </a:pPr>
            <a:r>
              <a:rPr lang="en-IN"/>
              <a:t>Transmission Lines, </a:t>
            </a:r>
          </a:p>
          <a:p>
            <a:pPr>
              <a:buFont typeface="Wingdings" pitchFamily="2" charset="2"/>
              <a:buChar char="q"/>
            </a:pPr>
            <a:r>
              <a:rPr lang="en-IN"/>
              <a:t>Reflection, </a:t>
            </a:r>
          </a:p>
          <a:p>
            <a:pPr>
              <a:buFont typeface="Wingdings" pitchFamily="2" charset="2"/>
              <a:buChar char="q"/>
            </a:pPr>
            <a:r>
              <a:rPr lang="en-IN"/>
              <a:t>Crosstalk</a:t>
            </a:r>
          </a:p>
          <a:p>
            <a:pPr>
              <a:buFont typeface="Wingdings" pitchFamily="2" charset="2"/>
              <a:buChar char="q"/>
            </a:pPr>
            <a:r>
              <a:rPr lang="en-IN"/>
              <a:t>Power/Ground Noise</a:t>
            </a:r>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Title 1"/>
          <p:cNvSpPr>
            <a:spLocks noGrp="1"/>
          </p:cNvSpPr>
          <p:nvPr>
            <p:ph type="title"/>
          </p:nvPr>
        </p:nvSpPr>
        <p:spPr/>
        <p:txBody>
          <a:bodyPr/>
          <a:lstStyle/>
          <a:p>
            <a:r>
              <a:rPr lang="en-IN" sz="3200">
                <a:solidFill>
                  <a:srgbClr val="0070C0"/>
                </a:solidFill>
              </a:rPr>
              <a:t>Rise Time and SI</a:t>
            </a:r>
            <a:br>
              <a:rPr lang="en-IN" sz="3200">
                <a:solidFill>
                  <a:srgbClr val="0070C0"/>
                </a:solidFill>
              </a:rPr>
            </a:br>
            <a:r>
              <a:rPr lang="en-IN" sz="3200">
                <a:solidFill>
                  <a:srgbClr val="0070C0"/>
                </a:solidFill>
              </a:rPr>
              <a:t>___________________________________</a:t>
            </a:r>
          </a:p>
        </p:txBody>
      </p:sp>
      <p:sp>
        <p:nvSpPr>
          <p:cNvPr id="3" name="Content Placeholder 2"/>
          <p:cNvSpPr>
            <a:spLocks noGrp="1"/>
          </p:cNvSpPr>
          <p:nvPr>
            <p:ph idx="1"/>
          </p:nvPr>
        </p:nvSpPr>
        <p:spPr>
          <a:xfrm>
            <a:off x="457200" y="1981200"/>
            <a:ext cx="8229600" cy="4876800"/>
          </a:xfrm>
        </p:spPr>
        <p:txBody>
          <a:bodyPr/>
          <a:lstStyle/>
          <a:p>
            <a:pPr algn="just">
              <a:buFont typeface="Wingdings" pitchFamily="2" charset="2"/>
              <a:buChar char="q"/>
              <a:defRPr/>
            </a:pPr>
            <a:r>
              <a:rPr lang="en-IN" sz="2400" dirty="0"/>
              <a:t>The </a:t>
            </a:r>
            <a:r>
              <a:rPr lang="en-IN" sz="2400" dirty="0">
                <a:solidFill>
                  <a:srgbClr val="FF0000"/>
                </a:solidFill>
              </a:rPr>
              <a:t>silicon size is shrinking </a:t>
            </a:r>
            <a:r>
              <a:rPr lang="en-IN" sz="2400" dirty="0"/>
              <a:t>dramatically and the transistor </a:t>
            </a:r>
            <a:r>
              <a:rPr lang="en-IN" sz="2400" dirty="0">
                <a:solidFill>
                  <a:schemeClr val="bg2">
                    <a:lumMod val="60000"/>
                    <a:lumOff val="40000"/>
                  </a:schemeClr>
                </a:solidFill>
              </a:rPr>
              <a:t>channel length is greatly reduced</a:t>
            </a:r>
            <a:r>
              <a:rPr lang="en-IN" sz="2400" dirty="0"/>
              <a:t> into sub-micron range. </a:t>
            </a:r>
          </a:p>
          <a:p>
            <a:pPr algn="just">
              <a:buFont typeface="Wingdings" pitchFamily="2" charset="2"/>
              <a:buChar char="q"/>
              <a:defRPr/>
            </a:pPr>
            <a:r>
              <a:rPr lang="en-IN" sz="2400" dirty="0"/>
              <a:t>This trend leads to today’s logic families operating at </a:t>
            </a:r>
            <a:r>
              <a:rPr lang="en-IN" sz="2400" dirty="0">
                <a:solidFill>
                  <a:schemeClr val="bg2">
                    <a:lumMod val="60000"/>
                    <a:lumOff val="40000"/>
                  </a:schemeClr>
                </a:solidFill>
              </a:rPr>
              <a:t>much higher speed</a:t>
            </a:r>
            <a:r>
              <a:rPr lang="en-IN" sz="2400" dirty="0"/>
              <a:t>.</a:t>
            </a:r>
          </a:p>
          <a:p>
            <a:pPr algn="just">
              <a:buFont typeface="Wingdings" pitchFamily="2" charset="2"/>
              <a:buChar char="q"/>
              <a:defRPr/>
            </a:pPr>
            <a:r>
              <a:rPr lang="en-IN" sz="2400" dirty="0"/>
              <a:t>Their rise and fall time are on the order </a:t>
            </a:r>
            <a:r>
              <a:rPr lang="en-IN" sz="2400" dirty="0">
                <a:solidFill>
                  <a:schemeClr val="bg2">
                    <a:lumMod val="60000"/>
                    <a:lumOff val="40000"/>
                  </a:schemeClr>
                </a:solidFill>
              </a:rPr>
              <a:t>of hundreds of </a:t>
            </a:r>
            <a:r>
              <a:rPr lang="en-IN" sz="2400" dirty="0" err="1">
                <a:solidFill>
                  <a:schemeClr val="bg2">
                    <a:lumMod val="60000"/>
                    <a:lumOff val="40000"/>
                  </a:schemeClr>
                </a:solidFill>
              </a:rPr>
              <a:t>picosecond</a:t>
            </a:r>
            <a:r>
              <a:rPr lang="en-IN" sz="2400" dirty="0"/>
              <a:t>.</a:t>
            </a:r>
          </a:p>
          <a:p>
            <a:pPr algn="just">
              <a:buFont typeface="Wingdings" pitchFamily="2" charset="2"/>
              <a:buChar char="q"/>
              <a:defRPr/>
            </a:pPr>
            <a:r>
              <a:rPr lang="en-IN" sz="2400" dirty="0"/>
              <a:t>Many SI problems are directly related to </a:t>
            </a:r>
            <a:r>
              <a:rPr lang="en-IN" sz="2400" dirty="0" err="1"/>
              <a:t>dV</a:t>
            </a:r>
            <a:r>
              <a:rPr lang="en-IN" sz="2400" dirty="0"/>
              <a:t>/</a:t>
            </a:r>
            <a:r>
              <a:rPr lang="en-IN" sz="2400" dirty="0" err="1"/>
              <a:t>dt</a:t>
            </a:r>
            <a:r>
              <a:rPr lang="en-IN" sz="2400" dirty="0"/>
              <a:t> or </a:t>
            </a:r>
            <a:r>
              <a:rPr lang="en-IN" sz="2400" dirty="0" err="1"/>
              <a:t>dI</a:t>
            </a:r>
            <a:r>
              <a:rPr lang="en-IN" sz="2400" dirty="0"/>
              <a:t>/</a:t>
            </a:r>
            <a:r>
              <a:rPr lang="en-IN" sz="2400" dirty="0" err="1"/>
              <a:t>dt</a:t>
            </a:r>
            <a:r>
              <a:rPr lang="en-IN" sz="2400" dirty="0"/>
              <a:t>, faster rise time significantly worsens some of the noise phenomena such as ringing, crosstalk, and power/ground switching noise. </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Title 1"/>
          <p:cNvSpPr>
            <a:spLocks noGrp="1"/>
          </p:cNvSpPr>
          <p:nvPr>
            <p:ph type="title"/>
          </p:nvPr>
        </p:nvSpPr>
        <p:spPr/>
        <p:txBody>
          <a:bodyPr/>
          <a:lstStyle/>
          <a:p>
            <a:r>
              <a:rPr lang="en-IN" sz="3200">
                <a:solidFill>
                  <a:srgbClr val="0070C0"/>
                </a:solidFill>
              </a:rPr>
              <a:t>Rise Time and SI</a:t>
            </a:r>
            <a:br>
              <a:rPr lang="en-IN" sz="3200">
                <a:solidFill>
                  <a:srgbClr val="0070C0"/>
                </a:solidFill>
              </a:rPr>
            </a:br>
            <a:r>
              <a:rPr lang="en-IN" sz="3200">
                <a:solidFill>
                  <a:srgbClr val="0070C0"/>
                </a:solidFill>
              </a:rPr>
              <a:t>___________________________________</a:t>
            </a:r>
          </a:p>
        </p:txBody>
      </p:sp>
      <p:sp>
        <p:nvSpPr>
          <p:cNvPr id="61443" name="Content Placeholder 2"/>
          <p:cNvSpPr>
            <a:spLocks noGrp="1"/>
          </p:cNvSpPr>
          <p:nvPr>
            <p:ph idx="1"/>
          </p:nvPr>
        </p:nvSpPr>
        <p:spPr>
          <a:xfrm>
            <a:off x="457200" y="1981200"/>
            <a:ext cx="8229600" cy="4876800"/>
          </a:xfrm>
        </p:spPr>
        <p:txBody>
          <a:bodyPr/>
          <a:lstStyle/>
          <a:p>
            <a:pPr algn="just">
              <a:buFont typeface="Wingdings" pitchFamily="2" charset="2"/>
              <a:buChar char="q"/>
            </a:pPr>
            <a:r>
              <a:rPr lang="en-IN" sz="2800"/>
              <a:t>Systems with </a:t>
            </a:r>
            <a:r>
              <a:rPr lang="en-IN" sz="2800">
                <a:solidFill>
                  <a:srgbClr val="FF0000"/>
                </a:solidFill>
              </a:rPr>
              <a:t>faster clock frequency usually have shorter rise time</a:t>
            </a:r>
            <a:r>
              <a:rPr lang="en-IN" sz="2800"/>
              <a:t>, therefore they will be facing more SI challenges. </a:t>
            </a:r>
          </a:p>
          <a:p>
            <a:pPr algn="just">
              <a:buFont typeface="Wingdings" pitchFamily="2" charset="2"/>
              <a:buChar char="q"/>
            </a:pPr>
            <a:r>
              <a:rPr lang="en-IN" sz="2800"/>
              <a:t>A product is operating at 20Mhz clock frequency, it may still get some SI problems that a 200MHz system will have </a:t>
            </a:r>
            <a:r>
              <a:rPr lang="en-IN" sz="2800">
                <a:solidFill>
                  <a:srgbClr val="FF0000"/>
                </a:solidFill>
              </a:rPr>
              <a:t>when modern logic families with fast rise time are used.</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Title 1"/>
          <p:cNvSpPr>
            <a:spLocks noGrp="1"/>
          </p:cNvSpPr>
          <p:nvPr>
            <p:ph type="title"/>
          </p:nvPr>
        </p:nvSpPr>
        <p:spPr>
          <a:xfrm>
            <a:off x="457200" y="457200"/>
            <a:ext cx="8229600" cy="990600"/>
          </a:xfrm>
        </p:spPr>
        <p:txBody>
          <a:bodyPr/>
          <a:lstStyle/>
          <a:p>
            <a:r>
              <a:rPr lang="en-IN" sz="3200">
                <a:solidFill>
                  <a:srgbClr val="0070C0"/>
                </a:solidFill>
              </a:rPr>
              <a:t>Transmission Lines</a:t>
            </a:r>
            <a:br>
              <a:rPr lang="en-IN" sz="3200">
                <a:solidFill>
                  <a:srgbClr val="0070C0"/>
                </a:solidFill>
              </a:rPr>
            </a:br>
            <a:r>
              <a:rPr lang="en-IN" sz="3200">
                <a:solidFill>
                  <a:srgbClr val="0070C0"/>
                </a:solidFill>
              </a:rPr>
              <a:t>___________________________________</a:t>
            </a:r>
          </a:p>
        </p:txBody>
      </p:sp>
      <p:sp>
        <p:nvSpPr>
          <p:cNvPr id="62467" name="Content Placeholder 2"/>
          <p:cNvSpPr>
            <a:spLocks noGrp="1"/>
          </p:cNvSpPr>
          <p:nvPr>
            <p:ph idx="1"/>
          </p:nvPr>
        </p:nvSpPr>
        <p:spPr>
          <a:xfrm>
            <a:off x="457200" y="1371600"/>
            <a:ext cx="8229600" cy="4495800"/>
          </a:xfrm>
        </p:spPr>
        <p:txBody>
          <a:bodyPr/>
          <a:lstStyle/>
          <a:p>
            <a:pPr algn="just">
              <a:buFont typeface="Wingdings" pitchFamily="2" charset="2"/>
              <a:buChar char="q"/>
            </a:pPr>
            <a:r>
              <a:rPr lang="en-IN" sz="2400"/>
              <a:t>All the transmission lines have basic parameters such as per-unit-length </a:t>
            </a:r>
          </a:p>
          <a:p>
            <a:pPr algn="just">
              <a:buFont typeface="Wingdings" pitchFamily="2" charset="2"/>
              <a:buChar char="q"/>
            </a:pPr>
            <a:r>
              <a:rPr lang="en-IN" sz="2400"/>
              <a:t>R (resistance), </a:t>
            </a:r>
          </a:p>
          <a:p>
            <a:pPr algn="just">
              <a:buFont typeface="Wingdings" pitchFamily="2" charset="2"/>
              <a:buChar char="q"/>
            </a:pPr>
            <a:r>
              <a:rPr lang="en-IN" sz="2400"/>
              <a:t>L (inductance), </a:t>
            </a:r>
          </a:p>
          <a:p>
            <a:pPr algn="just">
              <a:buFont typeface="Wingdings" pitchFamily="2" charset="2"/>
              <a:buChar char="q"/>
            </a:pPr>
            <a:r>
              <a:rPr lang="en-IN" sz="2400"/>
              <a:t>G (conductance) and </a:t>
            </a:r>
          </a:p>
          <a:p>
            <a:pPr algn="just">
              <a:buFont typeface="Wingdings" pitchFamily="2" charset="2"/>
              <a:buChar char="q"/>
            </a:pPr>
            <a:r>
              <a:rPr lang="en-IN" sz="2400"/>
              <a:t>C (capacitance), unit-length time delay (inverse of the propagation speed), and characteristic impedance.</a:t>
            </a:r>
          </a:p>
        </p:txBody>
      </p:sp>
      <p:pic>
        <p:nvPicPr>
          <p:cNvPr id="62468" name="Picture 2"/>
          <p:cNvPicPr>
            <a:picLocks noChangeAspect="1" noChangeArrowheads="1"/>
          </p:cNvPicPr>
          <p:nvPr/>
        </p:nvPicPr>
        <p:blipFill>
          <a:blip r:embed="rId2" cstate="print"/>
          <a:srcRect/>
          <a:stretch>
            <a:fillRect/>
          </a:stretch>
        </p:blipFill>
        <p:spPr bwMode="auto">
          <a:xfrm>
            <a:off x="990600" y="4572000"/>
            <a:ext cx="7315200" cy="1905000"/>
          </a:xfrm>
          <a:prstGeom prst="rect">
            <a:avLst/>
          </a:prstGeom>
          <a:noFill/>
          <a:ln w="9525">
            <a:noFill/>
            <a:miter lim="800000"/>
            <a:headEnd/>
            <a:tailEnd/>
          </a:ln>
        </p:spPr>
      </p:pic>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Title 1"/>
          <p:cNvSpPr>
            <a:spLocks noGrp="1"/>
          </p:cNvSpPr>
          <p:nvPr>
            <p:ph type="title"/>
          </p:nvPr>
        </p:nvSpPr>
        <p:spPr>
          <a:xfrm>
            <a:off x="457200" y="457200"/>
            <a:ext cx="8229600" cy="1066800"/>
          </a:xfrm>
        </p:spPr>
        <p:txBody>
          <a:bodyPr/>
          <a:lstStyle/>
          <a:p>
            <a:r>
              <a:rPr lang="en-IN" sz="3200">
                <a:solidFill>
                  <a:srgbClr val="0070C0"/>
                </a:solidFill>
              </a:rPr>
              <a:t>Reflection</a:t>
            </a:r>
            <a:br>
              <a:rPr lang="en-IN" sz="3200">
                <a:solidFill>
                  <a:srgbClr val="0070C0"/>
                </a:solidFill>
              </a:rPr>
            </a:br>
            <a:r>
              <a:rPr lang="en-IN" sz="3200">
                <a:solidFill>
                  <a:srgbClr val="0070C0"/>
                </a:solidFill>
              </a:rPr>
              <a:t>___________________________________</a:t>
            </a:r>
          </a:p>
        </p:txBody>
      </p:sp>
      <p:sp>
        <p:nvSpPr>
          <p:cNvPr id="3" name="Content Placeholder 2"/>
          <p:cNvSpPr>
            <a:spLocks noGrp="1"/>
          </p:cNvSpPr>
          <p:nvPr>
            <p:ph idx="1"/>
          </p:nvPr>
        </p:nvSpPr>
        <p:spPr>
          <a:xfrm>
            <a:off x="457200" y="1371600"/>
            <a:ext cx="8229600" cy="4495800"/>
          </a:xfrm>
        </p:spPr>
        <p:txBody>
          <a:bodyPr/>
          <a:lstStyle/>
          <a:p>
            <a:pPr algn="just">
              <a:buFont typeface="Wingdings" pitchFamily="2" charset="2"/>
              <a:buChar char="q"/>
              <a:defRPr/>
            </a:pPr>
            <a:r>
              <a:rPr lang="en-IN" sz="2800" dirty="0"/>
              <a:t>If the </a:t>
            </a:r>
            <a:r>
              <a:rPr lang="en-IN" sz="2800" dirty="0">
                <a:solidFill>
                  <a:srgbClr val="FF0000"/>
                </a:solidFill>
              </a:rPr>
              <a:t>trace length is infinite</a:t>
            </a:r>
            <a:r>
              <a:rPr lang="en-IN" sz="2800" dirty="0"/>
              <a:t>, the wave/pulse will never reflect and won’t distort the signal.</a:t>
            </a:r>
          </a:p>
          <a:p>
            <a:pPr algn="just">
              <a:buFont typeface="Wingdings" pitchFamily="2" charset="2"/>
              <a:buNone/>
              <a:defRPr/>
            </a:pPr>
            <a:endParaRPr lang="en-IN" sz="2800" dirty="0"/>
          </a:p>
          <a:p>
            <a:pPr algn="just">
              <a:buFont typeface="Wingdings" pitchFamily="2" charset="2"/>
              <a:buChar char="q"/>
              <a:defRPr/>
            </a:pPr>
            <a:r>
              <a:rPr lang="en-IN" sz="2800" dirty="0"/>
              <a:t>Make it look like an </a:t>
            </a:r>
            <a:r>
              <a:rPr lang="en-IN" sz="2800" dirty="0">
                <a:solidFill>
                  <a:srgbClr val="FF0000"/>
                </a:solidFill>
              </a:rPr>
              <a:t>infinite length by terminating </a:t>
            </a:r>
            <a:r>
              <a:rPr lang="en-IN" sz="2800" dirty="0">
                <a:solidFill>
                  <a:schemeClr val="bg2">
                    <a:lumMod val="60000"/>
                    <a:lumOff val="40000"/>
                  </a:schemeClr>
                </a:solidFill>
              </a:rPr>
              <a:t>with high impedance </a:t>
            </a:r>
            <a:r>
              <a:rPr lang="en-IN" sz="2800" dirty="0"/>
              <a:t>equal to characteristics impedance.</a:t>
            </a:r>
          </a:p>
          <a:p>
            <a:pPr algn="just">
              <a:buFont typeface="Wingdings" pitchFamily="2" charset="2"/>
              <a:buChar char="q"/>
              <a:defRPr/>
            </a:pPr>
            <a:endParaRPr lang="en-IN" sz="2800" dirty="0"/>
          </a:p>
          <a:p>
            <a:pPr algn="just">
              <a:buFont typeface="Wingdings" pitchFamily="2" charset="2"/>
              <a:buChar char="q"/>
              <a:defRPr/>
            </a:pPr>
            <a:r>
              <a:rPr lang="en-IN" sz="2800" dirty="0"/>
              <a:t>Wires must be </a:t>
            </a:r>
            <a:r>
              <a:rPr lang="en-IN" sz="2800" dirty="0">
                <a:solidFill>
                  <a:schemeClr val="bg2">
                    <a:lumMod val="60000"/>
                    <a:lumOff val="40000"/>
                  </a:schemeClr>
                </a:solidFill>
              </a:rPr>
              <a:t>absolutely identical everywhere </a:t>
            </a:r>
            <a:r>
              <a:rPr lang="en-IN" sz="2800" dirty="0"/>
              <a:t>along the length. </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Title 1"/>
          <p:cNvSpPr>
            <a:spLocks noGrp="1"/>
          </p:cNvSpPr>
          <p:nvPr>
            <p:ph type="title"/>
          </p:nvPr>
        </p:nvSpPr>
        <p:spPr>
          <a:xfrm>
            <a:off x="457200" y="457200"/>
            <a:ext cx="8229600" cy="1066800"/>
          </a:xfrm>
        </p:spPr>
        <p:txBody>
          <a:bodyPr/>
          <a:lstStyle/>
          <a:p>
            <a:r>
              <a:rPr lang="en-IN" sz="3200">
                <a:solidFill>
                  <a:srgbClr val="0070C0"/>
                </a:solidFill>
              </a:rPr>
              <a:t>Reflection</a:t>
            </a:r>
            <a:br>
              <a:rPr lang="en-IN" sz="3200">
                <a:solidFill>
                  <a:srgbClr val="0070C0"/>
                </a:solidFill>
              </a:rPr>
            </a:br>
            <a:r>
              <a:rPr lang="en-IN" sz="3200">
                <a:solidFill>
                  <a:srgbClr val="0070C0"/>
                </a:solidFill>
              </a:rPr>
              <a:t>___________________________________</a:t>
            </a:r>
          </a:p>
        </p:txBody>
      </p:sp>
      <p:sp>
        <p:nvSpPr>
          <p:cNvPr id="64515" name="Content Placeholder 2"/>
          <p:cNvSpPr>
            <a:spLocks noGrp="1"/>
          </p:cNvSpPr>
          <p:nvPr>
            <p:ph idx="1"/>
          </p:nvPr>
        </p:nvSpPr>
        <p:spPr>
          <a:xfrm>
            <a:off x="457200" y="1371600"/>
            <a:ext cx="8229600" cy="4495800"/>
          </a:xfrm>
        </p:spPr>
        <p:txBody>
          <a:bodyPr/>
          <a:lstStyle/>
          <a:p>
            <a:pPr algn="just">
              <a:buFont typeface="Wingdings" pitchFamily="2" charset="2"/>
              <a:buChar char="q"/>
            </a:pPr>
            <a:r>
              <a:rPr lang="en-IN" sz="2400"/>
              <a:t>Reflections are not too bad problem </a:t>
            </a:r>
            <a:r>
              <a:rPr lang="en-IN" sz="2400">
                <a:solidFill>
                  <a:srgbClr val="FF0000"/>
                </a:solidFill>
              </a:rPr>
              <a:t>if receiver is close enough to sender.</a:t>
            </a:r>
          </a:p>
          <a:p>
            <a:pPr algn="just">
              <a:buFont typeface="Wingdings" pitchFamily="2" charset="2"/>
              <a:buNone/>
            </a:pPr>
            <a:endParaRPr lang="en-IN" sz="2400">
              <a:solidFill>
                <a:srgbClr val="FF0000"/>
              </a:solidFill>
            </a:endParaRPr>
          </a:p>
          <a:p>
            <a:pPr algn="just">
              <a:buFont typeface="Wingdings" pitchFamily="2" charset="2"/>
              <a:buChar char="q"/>
            </a:pPr>
            <a:r>
              <a:rPr lang="en-IN" sz="2400"/>
              <a:t>Track length is short.</a:t>
            </a:r>
          </a:p>
          <a:p>
            <a:pPr algn="just">
              <a:buFont typeface="Wingdings" pitchFamily="2" charset="2"/>
              <a:buNone/>
            </a:pPr>
            <a:endParaRPr lang="en-IN" sz="2400"/>
          </a:p>
          <a:p>
            <a:pPr algn="just">
              <a:buFont typeface="Wingdings" pitchFamily="2" charset="2"/>
              <a:buChar char="q"/>
            </a:pPr>
            <a:r>
              <a:rPr lang="en-IN" sz="2400"/>
              <a:t>Reflection Coefficient: Value range between +1 to -1</a:t>
            </a:r>
          </a:p>
          <a:p>
            <a:pPr algn="just">
              <a:buFont typeface="Wingdings" pitchFamily="2" charset="2"/>
              <a:buChar char="ü"/>
            </a:pPr>
            <a:r>
              <a:rPr lang="en-IN" sz="2400"/>
              <a:t>+1 is for open end</a:t>
            </a:r>
          </a:p>
          <a:p>
            <a:pPr algn="just">
              <a:buFont typeface="Wingdings" pitchFamily="2" charset="2"/>
              <a:buChar char="ü"/>
            </a:pPr>
            <a:r>
              <a:rPr lang="en-IN" sz="2400"/>
              <a:t>-1 for short end</a:t>
            </a:r>
          </a:p>
          <a:p>
            <a:pPr algn="just">
              <a:buFont typeface="Wingdings" pitchFamily="2" charset="2"/>
              <a:buChar char="ü"/>
            </a:pPr>
            <a:r>
              <a:rPr lang="en-IN" sz="2400"/>
              <a:t>0 means the trace is perfectly terminated.</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Title 1"/>
          <p:cNvSpPr>
            <a:spLocks noGrp="1"/>
          </p:cNvSpPr>
          <p:nvPr>
            <p:ph type="title"/>
          </p:nvPr>
        </p:nvSpPr>
        <p:spPr/>
        <p:txBody>
          <a:bodyPr/>
          <a:lstStyle/>
          <a:p>
            <a:r>
              <a:rPr lang="en-IN" sz="3200">
                <a:solidFill>
                  <a:srgbClr val="0070C0"/>
                </a:solidFill>
              </a:rPr>
              <a:t>Crosstalk</a:t>
            </a:r>
            <a:br>
              <a:rPr lang="en-IN" sz="3200">
                <a:solidFill>
                  <a:srgbClr val="0070C0"/>
                </a:solidFill>
              </a:rPr>
            </a:br>
            <a:r>
              <a:rPr lang="en-IN" sz="3200">
                <a:solidFill>
                  <a:srgbClr val="0070C0"/>
                </a:solidFill>
              </a:rPr>
              <a:t>___________________________________</a:t>
            </a:r>
          </a:p>
        </p:txBody>
      </p:sp>
      <p:sp>
        <p:nvSpPr>
          <p:cNvPr id="65539" name="Content Placeholder 2"/>
          <p:cNvSpPr>
            <a:spLocks noGrp="1"/>
          </p:cNvSpPr>
          <p:nvPr>
            <p:ph idx="1"/>
          </p:nvPr>
        </p:nvSpPr>
        <p:spPr>
          <a:xfrm>
            <a:off x="457200" y="1676400"/>
            <a:ext cx="5029200" cy="3505200"/>
          </a:xfrm>
        </p:spPr>
        <p:txBody>
          <a:bodyPr/>
          <a:lstStyle/>
          <a:p>
            <a:pPr algn="just">
              <a:buFont typeface="Wingdings" pitchFamily="2" charset="2"/>
              <a:buChar char="q"/>
            </a:pPr>
            <a:r>
              <a:rPr lang="en-IN" sz="2400" dirty="0"/>
              <a:t>Crosstalk, caused by EM coupling between </a:t>
            </a:r>
            <a:r>
              <a:rPr lang="en-IN" sz="2400" dirty="0">
                <a:solidFill>
                  <a:srgbClr val="FF0000"/>
                </a:solidFill>
              </a:rPr>
              <a:t>multiple</a:t>
            </a:r>
            <a:r>
              <a:rPr lang="en-IN" sz="2400" dirty="0"/>
              <a:t> </a:t>
            </a:r>
            <a:r>
              <a:rPr lang="en-IN" sz="2400" dirty="0">
                <a:solidFill>
                  <a:srgbClr val="FF0000"/>
                </a:solidFill>
              </a:rPr>
              <a:t>transmission lines running parallel.</a:t>
            </a:r>
          </a:p>
          <a:p>
            <a:pPr algn="just">
              <a:buFont typeface="Wingdings" pitchFamily="2" charset="2"/>
              <a:buChar char="q"/>
            </a:pPr>
            <a:endParaRPr lang="en-IN" sz="2400" dirty="0"/>
          </a:p>
          <a:p>
            <a:pPr algn="just">
              <a:buFont typeface="Wingdings" pitchFamily="2" charset="2"/>
              <a:buChar char="q"/>
            </a:pPr>
            <a:r>
              <a:rPr lang="en-IN" sz="2400" dirty="0"/>
              <a:t>The adjacent quiet signal lines that may lead to false logic switching. </a:t>
            </a:r>
          </a:p>
          <a:p>
            <a:pPr algn="just">
              <a:buFont typeface="Wingdings" pitchFamily="2" charset="2"/>
              <a:buNone/>
            </a:pPr>
            <a:endParaRPr lang="en-IN" sz="2400" dirty="0"/>
          </a:p>
          <a:p>
            <a:pPr algn="just">
              <a:buFont typeface="Wingdings" pitchFamily="2" charset="2"/>
              <a:buChar char="q"/>
            </a:pPr>
            <a:r>
              <a:rPr lang="en-IN" sz="2400" dirty="0"/>
              <a:t>Crosstalk will also impact </a:t>
            </a:r>
            <a:r>
              <a:rPr lang="en-IN" sz="2400" dirty="0">
                <a:solidFill>
                  <a:srgbClr val="FF0000"/>
                </a:solidFill>
              </a:rPr>
              <a:t>the timing on the active lines if multiple lines are </a:t>
            </a:r>
            <a:r>
              <a:rPr lang="en-IN" sz="2400" dirty="0"/>
              <a:t>switching simultaneously. </a:t>
            </a:r>
          </a:p>
          <a:p>
            <a:pPr algn="just">
              <a:buFont typeface="Wingdings" pitchFamily="2" charset="2"/>
              <a:buNone/>
            </a:pPr>
            <a:endParaRPr lang="en-IN" sz="2400" dirty="0"/>
          </a:p>
          <a:p>
            <a:pPr algn="just">
              <a:buFont typeface="Wingdings" pitchFamily="2" charset="2"/>
              <a:buChar char="q"/>
            </a:pPr>
            <a:r>
              <a:rPr lang="en-IN" sz="2400" dirty="0"/>
              <a:t>Depending on the switching direction on each line, the extra delay introduced may significantly </a:t>
            </a:r>
            <a:r>
              <a:rPr lang="en-IN" sz="2400" dirty="0">
                <a:solidFill>
                  <a:srgbClr val="FF0000"/>
                </a:solidFill>
              </a:rPr>
              <a:t>increase/decrease the sampling window</a:t>
            </a:r>
            <a:r>
              <a:rPr lang="en-IN" sz="2400" dirty="0"/>
              <a:t>. </a:t>
            </a:r>
          </a:p>
        </p:txBody>
      </p:sp>
      <p:pic>
        <p:nvPicPr>
          <p:cNvPr id="7170" name="Picture 2"/>
          <p:cNvPicPr>
            <a:picLocks noChangeAspect="1" noChangeArrowheads="1"/>
          </p:cNvPicPr>
          <p:nvPr/>
        </p:nvPicPr>
        <p:blipFill>
          <a:blip r:embed="rId2"/>
          <a:srcRect/>
          <a:stretch>
            <a:fillRect/>
          </a:stretch>
        </p:blipFill>
        <p:spPr bwMode="auto">
          <a:xfrm>
            <a:off x="5486400" y="2362200"/>
            <a:ext cx="3352800" cy="3581400"/>
          </a:xfrm>
          <a:prstGeom prst="rect">
            <a:avLst/>
          </a:prstGeom>
          <a:noFill/>
          <a:ln w="9525">
            <a:noFill/>
            <a:miter lim="800000"/>
            <a:headEnd/>
            <a:tailEnd/>
          </a:ln>
          <a:effectLst/>
        </p:spPr>
      </p:pic>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09600"/>
            <a:ext cx="8229600" cy="5257800"/>
          </a:xfrm>
        </p:spPr>
        <p:txBody>
          <a:bodyPr/>
          <a:lstStyle/>
          <a:p>
            <a:pPr algn="just">
              <a:buFont typeface="Wingdings" pitchFamily="2" charset="2"/>
              <a:buChar char="q"/>
              <a:defRPr/>
            </a:pPr>
            <a:r>
              <a:rPr lang="en-IN" sz="2800" dirty="0"/>
              <a:t>The </a:t>
            </a:r>
            <a:r>
              <a:rPr lang="en-IN" sz="2800" dirty="0">
                <a:solidFill>
                  <a:schemeClr val="bg2">
                    <a:lumMod val="60000"/>
                    <a:lumOff val="40000"/>
                  </a:schemeClr>
                </a:solidFill>
              </a:rPr>
              <a:t>amount of crosstalk </a:t>
            </a:r>
            <a:r>
              <a:rPr lang="en-IN" sz="2800" dirty="0"/>
              <a:t>is related to the </a:t>
            </a:r>
          </a:p>
          <a:p>
            <a:pPr algn="just">
              <a:buFont typeface="Wingdings" pitchFamily="2" charset="2"/>
              <a:buChar char="q"/>
              <a:defRPr/>
            </a:pPr>
            <a:endParaRPr lang="en-IN" sz="2800" dirty="0"/>
          </a:p>
          <a:p>
            <a:pPr algn="just">
              <a:buFont typeface="Wingdings" pitchFamily="2" charset="2"/>
              <a:buChar char="ü"/>
              <a:defRPr/>
            </a:pPr>
            <a:r>
              <a:rPr lang="en-IN" sz="2800" dirty="0">
                <a:solidFill>
                  <a:srgbClr val="FF0000"/>
                </a:solidFill>
              </a:rPr>
              <a:t>signal</a:t>
            </a:r>
            <a:r>
              <a:rPr lang="en-IN" sz="2800" dirty="0"/>
              <a:t> </a:t>
            </a:r>
            <a:r>
              <a:rPr lang="en-IN" sz="2800" dirty="0">
                <a:solidFill>
                  <a:srgbClr val="FF0000"/>
                </a:solidFill>
              </a:rPr>
              <a:t>rise time</a:t>
            </a:r>
            <a:r>
              <a:rPr lang="en-IN" sz="2800" dirty="0"/>
              <a:t>, to the </a:t>
            </a:r>
            <a:r>
              <a:rPr lang="en-IN" sz="2800" dirty="0">
                <a:solidFill>
                  <a:srgbClr val="FF0000"/>
                </a:solidFill>
              </a:rPr>
              <a:t>spacing between the lines</a:t>
            </a:r>
            <a:r>
              <a:rPr lang="en-IN" sz="2800" dirty="0"/>
              <a:t>, and </a:t>
            </a:r>
          </a:p>
          <a:p>
            <a:pPr algn="just">
              <a:buFont typeface="Wingdings" pitchFamily="2" charset="2"/>
              <a:buChar char="ü"/>
              <a:defRPr/>
            </a:pPr>
            <a:r>
              <a:rPr lang="en-IN" sz="2800" dirty="0"/>
              <a:t>to </a:t>
            </a:r>
            <a:r>
              <a:rPr lang="en-IN" sz="2800" dirty="0">
                <a:solidFill>
                  <a:schemeClr val="accent1">
                    <a:lumMod val="50000"/>
                  </a:schemeClr>
                </a:solidFill>
              </a:rPr>
              <a:t>how long these multiple lines run parallel </a:t>
            </a:r>
            <a:r>
              <a:rPr lang="en-IN" sz="2800" dirty="0"/>
              <a:t>to each other. </a:t>
            </a:r>
          </a:p>
          <a:p>
            <a:pPr algn="just">
              <a:buFont typeface="Wingdings" pitchFamily="2" charset="2"/>
              <a:buChar char="q"/>
              <a:defRPr/>
            </a:pPr>
            <a:endParaRPr lang="en-IN" sz="2800" dirty="0"/>
          </a:p>
          <a:p>
            <a:pPr algn="just">
              <a:buFont typeface="Wingdings" pitchFamily="2" charset="2"/>
              <a:buChar char="q"/>
              <a:defRPr/>
            </a:pPr>
            <a:r>
              <a:rPr lang="en-IN" sz="2800" dirty="0"/>
              <a:t>Besides the crosstalk between traces, via coupling is sometimes also important.</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Title 1"/>
          <p:cNvSpPr>
            <a:spLocks noGrp="1"/>
          </p:cNvSpPr>
          <p:nvPr>
            <p:ph type="title"/>
          </p:nvPr>
        </p:nvSpPr>
        <p:spPr/>
        <p:txBody>
          <a:bodyPr/>
          <a:lstStyle/>
          <a:p>
            <a:r>
              <a:rPr lang="en-US" sz="3200">
                <a:solidFill>
                  <a:srgbClr val="00B0F0"/>
                </a:solidFill>
              </a:rPr>
              <a:t>Guidelines for reducing the crosstalk</a:t>
            </a:r>
            <a:br>
              <a:rPr lang="en-US" sz="3200">
                <a:solidFill>
                  <a:srgbClr val="00B0F0"/>
                </a:solidFill>
              </a:rPr>
            </a:br>
            <a:r>
              <a:rPr lang="en-US" sz="3200">
                <a:solidFill>
                  <a:srgbClr val="00B0F0"/>
                </a:solidFill>
              </a:rPr>
              <a:t>___________________________________</a:t>
            </a:r>
          </a:p>
        </p:txBody>
      </p:sp>
      <p:sp>
        <p:nvSpPr>
          <p:cNvPr id="3" name="Content Placeholder 2"/>
          <p:cNvSpPr>
            <a:spLocks noGrp="1"/>
          </p:cNvSpPr>
          <p:nvPr>
            <p:ph idx="1"/>
          </p:nvPr>
        </p:nvSpPr>
        <p:spPr/>
        <p:txBody>
          <a:bodyPr/>
          <a:lstStyle/>
          <a:p>
            <a:pPr>
              <a:defRPr/>
            </a:pPr>
            <a:r>
              <a:rPr lang="en-US" sz="2800" dirty="0"/>
              <a:t>Place traces in </a:t>
            </a:r>
            <a:r>
              <a:rPr lang="en-US" sz="2800" dirty="0">
                <a:solidFill>
                  <a:srgbClr val="FF0000"/>
                </a:solidFill>
              </a:rPr>
              <a:t>strip line environments</a:t>
            </a:r>
            <a:r>
              <a:rPr lang="en-US" sz="2800" dirty="0"/>
              <a:t>.</a:t>
            </a:r>
          </a:p>
          <a:p>
            <a:pPr>
              <a:defRPr/>
            </a:pPr>
            <a:endParaRPr lang="en-US" sz="2800" dirty="0"/>
          </a:p>
          <a:p>
            <a:pPr>
              <a:defRPr/>
            </a:pPr>
            <a:r>
              <a:rPr lang="en-US" sz="2800" dirty="0"/>
              <a:t>Minimize distance between trace and plane.</a:t>
            </a:r>
          </a:p>
          <a:p>
            <a:pPr>
              <a:defRPr/>
            </a:pPr>
            <a:endParaRPr lang="en-US" sz="2800" dirty="0"/>
          </a:p>
          <a:p>
            <a:pPr>
              <a:defRPr/>
            </a:pPr>
            <a:r>
              <a:rPr lang="en-US" sz="2800" dirty="0"/>
              <a:t>Maximizes the </a:t>
            </a:r>
            <a:r>
              <a:rPr lang="en-US" sz="2800" dirty="0">
                <a:solidFill>
                  <a:srgbClr val="FF0000"/>
                </a:solidFill>
              </a:rPr>
              <a:t>separation between the traces</a:t>
            </a:r>
          </a:p>
          <a:p>
            <a:pPr>
              <a:defRPr/>
            </a:pPr>
            <a:endParaRPr lang="en-US" sz="2800" dirty="0">
              <a:solidFill>
                <a:srgbClr val="FF0000"/>
              </a:solidFill>
            </a:endParaRPr>
          </a:p>
          <a:p>
            <a:pPr>
              <a:defRPr/>
            </a:pPr>
            <a:r>
              <a:rPr lang="en-IN" sz="2800" dirty="0">
                <a:solidFill>
                  <a:srgbClr val="FF0000"/>
                </a:solidFill>
              </a:rPr>
              <a:t>Add ground guarding band </a:t>
            </a:r>
            <a:r>
              <a:rPr lang="en-IN" sz="2800" dirty="0"/>
              <a:t>in between the signal lines</a:t>
            </a:r>
          </a:p>
          <a:p>
            <a:pPr>
              <a:defRPr/>
            </a:pPr>
            <a:r>
              <a:rPr lang="en-IN" sz="2800" dirty="0"/>
              <a:t>One can make the lines </a:t>
            </a:r>
            <a:r>
              <a:rPr lang="en-IN" sz="2800" dirty="0">
                <a:solidFill>
                  <a:schemeClr val="bg2">
                    <a:lumMod val="60000"/>
                    <a:lumOff val="40000"/>
                  </a:schemeClr>
                </a:solidFill>
              </a:rPr>
              <a:t>space apart</a:t>
            </a:r>
            <a:endParaRPr lang="en-US" sz="2800" dirty="0">
              <a:solidFill>
                <a:srgbClr val="FF0000"/>
              </a:solidFill>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dirty="0"/>
              <a:t>Signal Integrity Analysis</a:t>
            </a:r>
          </a:p>
        </p:txBody>
      </p:sp>
      <p:sp>
        <p:nvSpPr>
          <p:cNvPr id="3" name="Content Placeholder 2"/>
          <p:cNvSpPr>
            <a:spLocks noGrp="1"/>
          </p:cNvSpPr>
          <p:nvPr>
            <p:ph idx="1"/>
          </p:nvPr>
        </p:nvSpPr>
        <p:spPr/>
        <p:txBody>
          <a:bodyPr>
            <a:normAutofit/>
          </a:bodyPr>
          <a:lstStyle/>
          <a:p>
            <a:r>
              <a:rPr lang="en-US" sz="2400" dirty="0"/>
              <a:t>System specification</a:t>
            </a:r>
          </a:p>
          <a:p>
            <a:r>
              <a:rPr lang="en-US" sz="2400" dirty="0"/>
              <a:t>Architecture</a:t>
            </a:r>
          </a:p>
          <a:p>
            <a:r>
              <a:rPr lang="en-US" sz="2400" dirty="0"/>
              <a:t>Interconnect characterization ,I/O Buffer, board and connector</a:t>
            </a:r>
          </a:p>
          <a:p>
            <a:r>
              <a:rPr lang="en-US" sz="2400" dirty="0"/>
              <a:t>Generate physical design guide lines, noise budget, Timing Budget assessment.</a:t>
            </a:r>
          </a:p>
          <a:p>
            <a:r>
              <a:rPr lang="en-US" sz="2400" dirty="0"/>
              <a:t>Component placement</a:t>
            </a:r>
          </a:p>
          <a:p>
            <a:r>
              <a:rPr lang="en-US" sz="2400" dirty="0"/>
              <a:t>Constraint driven layout, final placement, critical routing</a:t>
            </a:r>
          </a:p>
          <a:p>
            <a:r>
              <a:rPr lang="en-US" sz="2400" dirty="0"/>
              <a:t>Verification ,prototype, lab measurement.</a:t>
            </a:r>
          </a:p>
          <a:p>
            <a:r>
              <a:rPr lang="en-US" sz="2400" dirty="0"/>
              <a:t>Meets Signal Integrality issues go ached.</a:t>
            </a:r>
          </a:p>
          <a:p>
            <a:endParaRPr lang="en-US" sz="2400" dirty="0"/>
          </a:p>
        </p:txBody>
      </p:sp>
    </p:spTree>
    <p:extLst>
      <p:ext uri="{BB962C8B-B14F-4D97-AF65-F5344CB8AC3E}">
        <p14:creationId xmlns:p14="http://schemas.microsoft.com/office/powerpoint/2010/main" xmlns="" val="1395987407"/>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title"/>
          </p:nvPr>
        </p:nvSpPr>
        <p:spPr>
          <a:xfrm>
            <a:off x="457200" y="457200"/>
            <a:ext cx="8229600" cy="1143000"/>
          </a:xfrm>
        </p:spPr>
        <p:txBody>
          <a:bodyPr/>
          <a:lstStyle/>
          <a:p>
            <a:pPr eaLnBrk="1" hangingPunct="1"/>
            <a:r>
              <a:rPr lang="en-US" sz="3200">
                <a:solidFill>
                  <a:srgbClr val="3366FF"/>
                </a:solidFill>
              </a:rPr>
              <a:t/>
            </a:r>
            <a:br>
              <a:rPr lang="en-US" sz="3200">
                <a:solidFill>
                  <a:srgbClr val="3366FF"/>
                </a:solidFill>
              </a:rPr>
            </a:br>
            <a:r>
              <a:rPr lang="en-US" sz="3200">
                <a:solidFill>
                  <a:srgbClr val="3366FF"/>
                </a:solidFill>
              </a:rPr>
              <a:t>I/O Architecture</a:t>
            </a:r>
            <a:br>
              <a:rPr lang="en-US" sz="3200">
                <a:solidFill>
                  <a:srgbClr val="3366FF"/>
                </a:solidFill>
              </a:rPr>
            </a:br>
            <a:r>
              <a:rPr lang="en-US" sz="3200">
                <a:solidFill>
                  <a:srgbClr val="3366FF"/>
                </a:solidFill>
              </a:rPr>
              <a:t>___________________________________</a:t>
            </a:r>
          </a:p>
        </p:txBody>
      </p:sp>
      <p:sp>
        <p:nvSpPr>
          <p:cNvPr id="72707" name="Rectangle 3"/>
          <p:cNvSpPr>
            <a:spLocks noGrp="1" noChangeArrowheads="1"/>
          </p:cNvSpPr>
          <p:nvPr>
            <p:ph type="body" idx="1"/>
          </p:nvPr>
        </p:nvSpPr>
        <p:spPr>
          <a:xfrm>
            <a:off x="457200" y="1524000"/>
            <a:ext cx="8229600" cy="5334000"/>
          </a:xfrm>
        </p:spPr>
        <p:txBody>
          <a:bodyPr/>
          <a:lstStyle/>
          <a:p>
            <a:endParaRPr lang="en-US" sz="2400"/>
          </a:p>
          <a:p>
            <a:pPr algn="just"/>
            <a:r>
              <a:rPr lang="en-IN" sz="2000"/>
              <a:t>Pads and their associated drivers </a:t>
            </a:r>
            <a:r>
              <a:rPr lang="en-IN" sz="2000">
                <a:solidFill>
                  <a:srgbClr val="0070C0"/>
                </a:solidFill>
              </a:rPr>
              <a:t>are distributed around the edge of the chip. </a:t>
            </a:r>
          </a:p>
          <a:p>
            <a:pPr algn="just"/>
            <a:endParaRPr lang="en-IN" sz="2000"/>
          </a:p>
          <a:p>
            <a:pPr algn="just"/>
            <a:r>
              <a:rPr lang="en-IN" sz="2000"/>
              <a:t>Advanced, high-density packaging schemes devote a </a:t>
            </a:r>
            <a:r>
              <a:rPr lang="en-IN" sz="2000">
                <a:solidFill>
                  <a:srgbClr val="0070C0"/>
                </a:solidFill>
              </a:rPr>
              <a:t>layer of metal to pads and distribute them across the entire chip face.</a:t>
            </a:r>
          </a:p>
          <a:p>
            <a:pPr algn="just"/>
            <a:endParaRPr lang="en-IN" sz="2000"/>
          </a:p>
          <a:p>
            <a:pPr algn="just"/>
            <a:r>
              <a:rPr lang="en-IN" sz="2000"/>
              <a:t>Each pad must be </a:t>
            </a:r>
            <a:r>
              <a:rPr lang="en-IN" sz="2000">
                <a:solidFill>
                  <a:srgbClr val="0070C0"/>
                </a:solidFill>
              </a:rPr>
              <a:t>large enough </a:t>
            </a:r>
            <a:r>
              <a:rPr lang="en-IN" sz="2000"/>
              <a:t>to have a </a:t>
            </a:r>
            <a:r>
              <a:rPr lang="en-IN" sz="2000">
                <a:solidFill>
                  <a:srgbClr val="0070C0"/>
                </a:solidFill>
              </a:rPr>
              <a:t>wire </a:t>
            </a:r>
            <a:r>
              <a:rPr lang="en-IN" sz="2000"/>
              <a:t>(or a solder bump) soldered to it.</a:t>
            </a:r>
          </a:p>
          <a:p>
            <a:pPr algn="just"/>
            <a:endParaRPr lang="en-IN" sz="2000"/>
          </a:p>
          <a:p>
            <a:pPr algn="just"/>
            <a:r>
              <a:rPr lang="en-IN" sz="2000"/>
              <a:t>It must also </a:t>
            </a:r>
            <a:r>
              <a:rPr lang="en-IN" sz="2000">
                <a:solidFill>
                  <a:srgbClr val="0070C0"/>
                </a:solidFill>
              </a:rPr>
              <a:t>include input or output circuitry</a:t>
            </a:r>
            <a:r>
              <a:rPr lang="en-IN" sz="2000"/>
              <a:t>, as appropriate.</a:t>
            </a:r>
            <a:endParaRPr lang="en-US" sz="200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8194" name="Picture 2"/>
          <p:cNvPicPr>
            <a:picLocks noGrp="1" noChangeAspect="1" noChangeArrowheads="1"/>
          </p:cNvPicPr>
          <p:nvPr>
            <p:ph idx="1"/>
          </p:nvPr>
        </p:nvPicPr>
        <p:blipFill>
          <a:blip r:embed="rId2"/>
          <a:srcRect/>
          <a:stretch>
            <a:fillRect/>
          </a:stretch>
        </p:blipFill>
        <p:spPr bwMode="auto">
          <a:xfrm>
            <a:off x="0" y="0"/>
            <a:ext cx="8610600" cy="5562600"/>
          </a:xfrm>
          <a:prstGeom prst="rect">
            <a:avLst/>
          </a:prstGeom>
          <a:noFill/>
          <a:ln w="9525">
            <a:noFill/>
            <a:miter lim="800000"/>
            <a:headEnd/>
            <a:tailEnd/>
          </a:ln>
          <a:effectLst/>
        </p:spPr>
      </p:pic>
      <p:sp>
        <p:nvSpPr>
          <p:cNvPr id="5" name="TextBox 4"/>
          <p:cNvSpPr txBox="1"/>
          <p:nvPr/>
        </p:nvSpPr>
        <p:spPr>
          <a:xfrm>
            <a:off x="2057400" y="6324600"/>
            <a:ext cx="1184940" cy="369332"/>
          </a:xfrm>
          <a:prstGeom prst="rect">
            <a:avLst/>
          </a:prstGeom>
          <a:noFill/>
        </p:spPr>
        <p:txBody>
          <a:bodyPr wrap="none" rtlCol="0">
            <a:spAutoFit/>
          </a:bodyPr>
          <a:lstStyle/>
          <a:p>
            <a:r>
              <a:rPr lang="en-IN" b="1" dirty="0"/>
              <a:t>I/O Block</a:t>
            </a:r>
            <a:endParaRPr lang="en-US" b="1"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Title 1"/>
          <p:cNvSpPr>
            <a:spLocks noGrp="1"/>
          </p:cNvSpPr>
          <p:nvPr>
            <p:ph type="title"/>
          </p:nvPr>
        </p:nvSpPr>
        <p:spPr/>
        <p:txBody>
          <a:bodyPr/>
          <a:lstStyle/>
          <a:p>
            <a:r>
              <a:rPr lang="en-IN" sz="3200">
                <a:solidFill>
                  <a:srgbClr val="0070C0"/>
                </a:solidFill>
              </a:rPr>
              <a:t>Architecture of a pad frame</a:t>
            </a:r>
            <a:br>
              <a:rPr lang="en-IN" sz="3200">
                <a:solidFill>
                  <a:srgbClr val="0070C0"/>
                </a:solidFill>
              </a:rPr>
            </a:br>
            <a:r>
              <a:rPr lang="en-IN" sz="3200">
                <a:solidFill>
                  <a:srgbClr val="0070C0"/>
                </a:solidFill>
              </a:rPr>
              <a:t>___________________________________</a:t>
            </a:r>
            <a:endParaRPr lang="en-IN">
              <a:solidFill>
                <a:srgbClr val="0070C0"/>
              </a:solidFill>
            </a:endParaRPr>
          </a:p>
        </p:txBody>
      </p:sp>
      <p:pic>
        <p:nvPicPr>
          <p:cNvPr id="73732" name="Picture 2"/>
          <p:cNvPicPr>
            <a:picLocks noChangeAspect="1" noChangeArrowheads="1"/>
          </p:cNvPicPr>
          <p:nvPr/>
        </p:nvPicPr>
        <p:blipFill>
          <a:blip r:embed="rId2" cstate="print"/>
          <a:srcRect/>
          <a:stretch>
            <a:fillRect/>
          </a:stretch>
        </p:blipFill>
        <p:spPr bwMode="auto">
          <a:xfrm>
            <a:off x="2057400" y="2209800"/>
            <a:ext cx="5029200" cy="4343400"/>
          </a:xfrm>
          <a:prstGeom prst="rect">
            <a:avLst/>
          </a:prstGeom>
          <a:noFill/>
          <a:ln w="9525">
            <a:noFill/>
            <a:miter lim="800000"/>
            <a:headEnd/>
            <a:tailEnd/>
          </a:ln>
        </p:spPr>
      </p:pic>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Title 1"/>
          <p:cNvSpPr>
            <a:spLocks noGrp="1"/>
          </p:cNvSpPr>
          <p:nvPr>
            <p:ph type="title"/>
          </p:nvPr>
        </p:nvSpPr>
        <p:spPr/>
        <p:txBody>
          <a:bodyPr/>
          <a:lstStyle/>
          <a:p>
            <a:r>
              <a:rPr lang="en-IN" sz="3200">
                <a:solidFill>
                  <a:srgbClr val="0070C0"/>
                </a:solidFill>
              </a:rPr>
              <a:t>Pad Frame</a:t>
            </a:r>
            <a:br>
              <a:rPr lang="en-IN" sz="3200">
                <a:solidFill>
                  <a:srgbClr val="0070C0"/>
                </a:solidFill>
              </a:rPr>
            </a:br>
            <a:r>
              <a:rPr lang="en-IN" sz="3200">
                <a:solidFill>
                  <a:srgbClr val="0070C0"/>
                </a:solidFill>
              </a:rPr>
              <a:t>___________________________________</a:t>
            </a:r>
          </a:p>
        </p:txBody>
      </p:sp>
      <p:sp>
        <p:nvSpPr>
          <p:cNvPr id="3" name="Content Placeholder 2"/>
          <p:cNvSpPr>
            <a:spLocks noGrp="1"/>
          </p:cNvSpPr>
          <p:nvPr>
            <p:ph idx="1"/>
          </p:nvPr>
        </p:nvSpPr>
        <p:spPr>
          <a:xfrm>
            <a:off x="381000" y="1676400"/>
            <a:ext cx="8229600" cy="3886200"/>
          </a:xfrm>
        </p:spPr>
        <p:txBody>
          <a:bodyPr/>
          <a:lstStyle/>
          <a:p>
            <a:pPr algn="just">
              <a:defRPr/>
            </a:pPr>
            <a:r>
              <a:rPr lang="en-IN" sz="2400" dirty="0"/>
              <a:t>Each pad is built to a </a:t>
            </a:r>
            <a:r>
              <a:rPr lang="en-IN" sz="2400" dirty="0">
                <a:solidFill>
                  <a:srgbClr val="FF0000"/>
                </a:solidFill>
              </a:rPr>
              <a:t>standard width and height</a:t>
            </a:r>
            <a:r>
              <a:rPr lang="en-IN" sz="2400" dirty="0"/>
              <a:t>, for simplicity. </a:t>
            </a:r>
          </a:p>
          <a:p>
            <a:pPr algn="just">
              <a:defRPr/>
            </a:pPr>
            <a:r>
              <a:rPr lang="en-IN" sz="2400" dirty="0"/>
              <a:t>Each pad has </a:t>
            </a:r>
            <a:r>
              <a:rPr lang="en-IN" sz="2400" dirty="0">
                <a:solidFill>
                  <a:srgbClr val="FF0000"/>
                </a:solidFill>
              </a:rPr>
              <a:t>large VDD and VSS lines </a:t>
            </a:r>
            <a:r>
              <a:rPr lang="en-IN" sz="2400" dirty="0"/>
              <a:t>running through it.</a:t>
            </a:r>
          </a:p>
          <a:p>
            <a:pPr algn="just">
              <a:defRPr/>
            </a:pPr>
            <a:r>
              <a:rPr lang="en-IN" sz="2400" dirty="0"/>
              <a:t>A pad includes a </a:t>
            </a:r>
            <a:r>
              <a:rPr lang="en-IN" sz="2400" dirty="0">
                <a:solidFill>
                  <a:srgbClr val="FF0000"/>
                </a:solidFill>
              </a:rPr>
              <a:t>large piece of metal </a:t>
            </a:r>
            <a:r>
              <a:rPr lang="en-IN" sz="2400" dirty="0"/>
              <a:t>to which the </a:t>
            </a:r>
            <a:r>
              <a:rPr lang="en-IN" sz="2400" dirty="0">
                <a:solidFill>
                  <a:schemeClr val="bg2">
                    <a:lumMod val="60000"/>
                    <a:lumOff val="40000"/>
                  </a:schemeClr>
                </a:solidFill>
              </a:rPr>
              <a:t>external wire is soldered</a:t>
            </a:r>
            <a:r>
              <a:rPr lang="en-IN" sz="2400" dirty="0"/>
              <a:t>.</a:t>
            </a:r>
          </a:p>
          <a:p>
            <a:pPr algn="just">
              <a:defRPr/>
            </a:pPr>
            <a:r>
              <a:rPr lang="en-IN" sz="2400" dirty="0"/>
              <a:t>If the pad </a:t>
            </a:r>
            <a:r>
              <a:rPr lang="en-IN" sz="2400" dirty="0">
                <a:solidFill>
                  <a:srgbClr val="FF0000"/>
                </a:solidFill>
              </a:rPr>
              <a:t>requires external circuitry</a:t>
            </a:r>
            <a:r>
              <a:rPr lang="en-IN" sz="2400" dirty="0"/>
              <a:t>, it is usually put on the side of the pad </a:t>
            </a:r>
            <a:r>
              <a:rPr lang="en-IN" sz="2400" dirty="0">
                <a:solidFill>
                  <a:schemeClr val="bg2">
                    <a:lumMod val="60000"/>
                    <a:lumOff val="40000"/>
                  </a:schemeClr>
                </a:solidFill>
              </a:rPr>
              <a:t>closest to the chip core</a:t>
            </a:r>
            <a:r>
              <a:rPr lang="en-IN" sz="2400" dirty="0"/>
              <a:t>. </a:t>
            </a:r>
          </a:p>
          <a:p>
            <a:pPr algn="just">
              <a:defRPr/>
            </a:pPr>
            <a:r>
              <a:rPr lang="en-IN" sz="2400" dirty="0"/>
              <a:t>The </a:t>
            </a:r>
            <a:r>
              <a:rPr lang="en-IN" sz="2400" dirty="0">
                <a:solidFill>
                  <a:srgbClr val="FF5050"/>
                </a:solidFill>
              </a:rPr>
              <a:t>chip core fits in the middle of the pad ring</a:t>
            </a:r>
            <a:r>
              <a:rPr lang="en-IN" sz="2400" b="1" dirty="0"/>
              <a:t>. </a:t>
            </a:r>
          </a:p>
          <a:p>
            <a:pPr algn="just">
              <a:defRPr/>
            </a:pPr>
            <a:r>
              <a:rPr lang="en-IN" sz="2400" b="1" dirty="0"/>
              <a:t>If </a:t>
            </a:r>
            <a:r>
              <a:rPr lang="en-IN" sz="2400" dirty="0">
                <a:solidFill>
                  <a:schemeClr val="bg2">
                    <a:lumMod val="60000"/>
                    <a:lumOff val="40000"/>
                  </a:schemeClr>
                </a:solidFill>
              </a:rPr>
              <a:t>the pad ring is not completely </a:t>
            </a:r>
            <a:r>
              <a:rPr lang="en-IN" sz="2400" dirty="0"/>
              <a:t>filled with pads, </a:t>
            </a:r>
            <a:r>
              <a:rPr lang="en-IN" sz="2400" dirty="0">
                <a:solidFill>
                  <a:srgbClr val="FF0000"/>
                </a:solidFill>
              </a:rPr>
              <a:t>spacers</a:t>
            </a:r>
            <a:r>
              <a:rPr lang="en-IN" sz="2400" dirty="0"/>
              <a:t> </a:t>
            </a:r>
            <a:r>
              <a:rPr lang="en-IN" sz="2400" dirty="0">
                <a:solidFill>
                  <a:srgbClr val="FF0000"/>
                </a:solidFill>
              </a:rPr>
              <a:t>are added </a:t>
            </a:r>
            <a:r>
              <a:rPr lang="en-IN" sz="2400" dirty="0"/>
              <a:t>to keep the power lines connected.</a:t>
            </a: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09600"/>
            <a:ext cx="8229600" cy="5257800"/>
          </a:xfrm>
        </p:spPr>
        <p:txBody>
          <a:bodyPr/>
          <a:lstStyle/>
          <a:p>
            <a:pPr algn="just">
              <a:defRPr/>
            </a:pPr>
            <a:r>
              <a:rPr lang="en-IN" sz="2400" dirty="0"/>
              <a:t>The placement of pads around the ring is usually determined by the </a:t>
            </a:r>
            <a:r>
              <a:rPr lang="en-IN" sz="2400" dirty="0">
                <a:solidFill>
                  <a:srgbClr val="FF0000"/>
                </a:solidFill>
              </a:rPr>
              <a:t>required order of pins </a:t>
            </a:r>
            <a:r>
              <a:rPr lang="en-IN" sz="2400" dirty="0"/>
              <a:t>on the package.</a:t>
            </a:r>
          </a:p>
          <a:p>
            <a:pPr algn="just">
              <a:defRPr/>
            </a:pPr>
            <a:endParaRPr lang="en-IN" sz="2400" dirty="0"/>
          </a:p>
          <a:p>
            <a:pPr algn="just">
              <a:defRPr/>
            </a:pPr>
            <a:r>
              <a:rPr lang="en-IN" sz="2400" dirty="0"/>
              <a:t>The </a:t>
            </a:r>
            <a:r>
              <a:rPr lang="en-IN" sz="2400" dirty="0">
                <a:solidFill>
                  <a:srgbClr val="FF0000"/>
                </a:solidFill>
              </a:rPr>
              <a:t>wires to the package cannot be crossed </a:t>
            </a:r>
            <a:r>
              <a:rPr lang="en-IN" sz="2400" dirty="0"/>
              <a:t>without danger of shorting, so if the package pins are required in a certain order, the pads must be arranged in that order.</a:t>
            </a:r>
          </a:p>
          <a:p>
            <a:pPr algn="just">
              <a:defRPr/>
            </a:pPr>
            <a:r>
              <a:rPr lang="en-IN" sz="2400" dirty="0"/>
              <a:t> </a:t>
            </a:r>
          </a:p>
          <a:p>
            <a:pPr algn="just">
              <a:defRPr/>
            </a:pPr>
            <a:r>
              <a:rPr lang="en-IN" sz="2400" dirty="0"/>
              <a:t>The </a:t>
            </a:r>
            <a:r>
              <a:rPr lang="en-IN" sz="2400" dirty="0">
                <a:solidFill>
                  <a:schemeClr val="bg2">
                    <a:lumMod val="60000"/>
                    <a:lumOff val="40000"/>
                  </a:schemeClr>
                </a:solidFill>
              </a:rPr>
              <a:t>order of pins on the package determines routability of the board </a:t>
            </a:r>
            <a:r>
              <a:rPr lang="en-IN" sz="2400" dirty="0"/>
              <a:t>and </a:t>
            </a:r>
            <a:r>
              <a:rPr lang="en-IN" sz="2400" dirty="0">
                <a:solidFill>
                  <a:schemeClr val="bg2">
                    <a:lumMod val="60000"/>
                    <a:lumOff val="40000"/>
                  </a:schemeClr>
                </a:solidFill>
              </a:rPr>
              <a:t>electrical noise among other things.</a:t>
            </a:r>
          </a:p>
          <a:p>
            <a:pPr algn="just">
              <a:defRPr/>
            </a:pPr>
            <a:endParaRPr lang="en-IN" sz="2400" dirty="0"/>
          </a:p>
          <a:p>
            <a:pPr algn="just">
              <a:defRPr/>
            </a:pPr>
            <a:r>
              <a:rPr lang="en-IN" sz="2400" dirty="0"/>
              <a:t>The </a:t>
            </a:r>
            <a:r>
              <a:rPr lang="en-IN" sz="2400" dirty="0">
                <a:solidFill>
                  <a:schemeClr val="bg2">
                    <a:lumMod val="60000"/>
                    <a:lumOff val="40000"/>
                  </a:schemeClr>
                </a:solidFill>
              </a:rPr>
              <a:t>order of pins on a package </a:t>
            </a:r>
            <a:r>
              <a:rPr lang="en-IN" sz="2400" dirty="0"/>
              <a:t>has been known to </a:t>
            </a:r>
            <a:r>
              <a:rPr lang="en-IN" sz="2400" dirty="0">
                <a:solidFill>
                  <a:schemeClr val="bg2">
                    <a:lumMod val="60000"/>
                    <a:lumOff val="40000"/>
                  </a:schemeClr>
                </a:solidFill>
              </a:rPr>
              <a:t>determine which candidate design wins a design contest</a:t>
            </a:r>
            <a:r>
              <a:rPr lang="en-IN" sz="2400" dirty="0"/>
              <a:t>.</a:t>
            </a: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57200"/>
            <a:ext cx="8229600" cy="5410200"/>
          </a:xfrm>
        </p:spPr>
        <p:txBody>
          <a:bodyPr/>
          <a:lstStyle/>
          <a:p>
            <a:pPr algn="just">
              <a:defRPr/>
            </a:pPr>
            <a:r>
              <a:rPr lang="en-IN" sz="2400" dirty="0"/>
              <a:t>The </a:t>
            </a:r>
            <a:r>
              <a:rPr lang="en-IN" sz="2400" dirty="0">
                <a:solidFill>
                  <a:srgbClr val="FF0000"/>
                </a:solidFill>
              </a:rPr>
              <a:t>pad is much larger than any single wire connected to it</a:t>
            </a:r>
            <a:r>
              <a:rPr lang="en-IN" sz="2400" dirty="0"/>
              <a:t>, so the </a:t>
            </a:r>
            <a:r>
              <a:rPr lang="en-IN" sz="2400" dirty="0">
                <a:solidFill>
                  <a:schemeClr val="bg2">
                    <a:lumMod val="60000"/>
                    <a:lumOff val="40000"/>
                  </a:schemeClr>
                </a:solidFill>
              </a:rPr>
              <a:t>current in each direction is limited by the outgoing wire.</a:t>
            </a:r>
          </a:p>
          <a:p>
            <a:pPr algn="just">
              <a:defRPr/>
            </a:pPr>
            <a:endParaRPr lang="en-IN" sz="2400" dirty="0">
              <a:solidFill>
                <a:schemeClr val="bg2">
                  <a:lumMod val="60000"/>
                  <a:lumOff val="40000"/>
                </a:schemeClr>
              </a:solidFill>
            </a:endParaRPr>
          </a:p>
          <a:p>
            <a:pPr algn="just">
              <a:defRPr/>
            </a:pPr>
            <a:r>
              <a:rPr lang="en-IN" sz="2400" dirty="0"/>
              <a:t>If we want to </a:t>
            </a:r>
            <a:r>
              <a:rPr lang="en-IN" sz="2400" dirty="0">
                <a:solidFill>
                  <a:srgbClr val="FF0000"/>
                </a:solidFill>
              </a:rPr>
              <a:t>use multiple power pins </a:t>
            </a:r>
            <a:r>
              <a:rPr lang="en-IN" sz="2400" dirty="0"/>
              <a:t>to limit inductive </a:t>
            </a:r>
            <a:r>
              <a:rPr lang="en-IN" sz="2400" dirty="0">
                <a:solidFill>
                  <a:schemeClr val="bg2">
                    <a:lumMod val="60000"/>
                    <a:lumOff val="40000"/>
                  </a:schemeClr>
                </a:solidFill>
              </a:rPr>
              <a:t>voltage drop</a:t>
            </a:r>
            <a:r>
              <a:rPr lang="en-IN" sz="2400" dirty="0"/>
              <a:t>, we can use </a:t>
            </a:r>
            <a:r>
              <a:rPr lang="en-IN" sz="2400" dirty="0">
                <a:solidFill>
                  <a:srgbClr val="FF0000"/>
                </a:solidFill>
              </a:rPr>
              <a:t>several VDD and VSS pads </a:t>
            </a:r>
            <a:r>
              <a:rPr lang="en-IN" sz="2400" dirty="0"/>
              <a:t>around the ring.</a:t>
            </a:r>
          </a:p>
          <a:p>
            <a:pPr algn="just">
              <a:defRPr/>
            </a:pPr>
            <a:endParaRPr lang="en-IN" sz="2400" dirty="0"/>
          </a:p>
          <a:p>
            <a:pPr algn="just">
              <a:defRPr/>
            </a:pPr>
            <a:r>
              <a:rPr lang="en-IN" sz="2400" dirty="0">
                <a:solidFill>
                  <a:srgbClr val="FF0000"/>
                </a:solidFill>
              </a:rPr>
              <a:t>VDD and VSS pads are the easiest pads </a:t>
            </a:r>
            <a:r>
              <a:rPr lang="en-IN" sz="2400" dirty="0"/>
              <a:t>to design because </a:t>
            </a:r>
            <a:r>
              <a:rPr lang="en-IN" sz="2400" dirty="0">
                <a:solidFill>
                  <a:schemeClr val="bg2">
                    <a:lumMod val="60000"/>
                    <a:lumOff val="40000"/>
                  </a:schemeClr>
                </a:solidFill>
              </a:rPr>
              <a:t>they require no circuitry each </a:t>
            </a:r>
            <a:r>
              <a:rPr lang="en-IN" sz="2400" dirty="0"/>
              <a:t>is a blob of metal connected to the appropriate ring.</a:t>
            </a:r>
          </a:p>
          <a:p>
            <a:pPr algn="just">
              <a:defRPr/>
            </a:pPr>
            <a:endParaRPr lang="en-IN" sz="240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p:cNvSpPr>
            <a:spLocks noGrp="1" noChangeArrowheads="1"/>
          </p:cNvSpPr>
          <p:nvPr>
            <p:ph type="title"/>
          </p:nvPr>
        </p:nvSpPr>
        <p:spPr>
          <a:xfrm>
            <a:off x="457200" y="457200"/>
            <a:ext cx="8229600" cy="1143000"/>
          </a:xfrm>
        </p:spPr>
        <p:txBody>
          <a:bodyPr/>
          <a:lstStyle/>
          <a:p>
            <a:pPr eaLnBrk="1" hangingPunct="1"/>
            <a:r>
              <a:rPr lang="en-US" sz="3200">
                <a:solidFill>
                  <a:srgbClr val="3366FF"/>
                </a:solidFill>
              </a:rPr>
              <a:t/>
            </a:r>
            <a:br>
              <a:rPr lang="en-US" sz="3200">
                <a:solidFill>
                  <a:srgbClr val="3366FF"/>
                </a:solidFill>
              </a:rPr>
            </a:br>
            <a:r>
              <a:rPr lang="en-US" sz="3200">
                <a:solidFill>
                  <a:srgbClr val="3366FF"/>
                </a:solidFill>
              </a:rPr>
              <a:t>Pad Design</a:t>
            </a:r>
            <a:br>
              <a:rPr lang="en-US" sz="3200">
                <a:solidFill>
                  <a:srgbClr val="3366FF"/>
                </a:solidFill>
              </a:rPr>
            </a:br>
            <a:r>
              <a:rPr lang="en-US" sz="3200">
                <a:solidFill>
                  <a:srgbClr val="3366FF"/>
                </a:solidFill>
              </a:rPr>
              <a:t>___________________________________</a:t>
            </a:r>
          </a:p>
        </p:txBody>
      </p:sp>
      <p:sp>
        <p:nvSpPr>
          <p:cNvPr id="77827" name="Rectangle 3"/>
          <p:cNvSpPr>
            <a:spLocks noGrp="1" noChangeArrowheads="1"/>
          </p:cNvSpPr>
          <p:nvPr>
            <p:ph type="body" idx="1"/>
          </p:nvPr>
        </p:nvSpPr>
        <p:spPr>
          <a:xfrm>
            <a:off x="457200" y="1524000"/>
            <a:ext cx="8229600" cy="5334000"/>
          </a:xfrm>
        </p:spPr>
        <p:txBody>
          <a:bodyPr/>
          <a:lstStyle/>
          <a:p>
            <a:endParaRPr lang="en-US" sz="2400"/>
          </a:p>
          <a:p>
            <a:pPr algn="just" eaLnBrk="1" hangingPunct="1">
              <a:buFont typeface="Wingdings" pitchFamily="2" charset="2"/>
              <a:buChar char="q"/>
            </a:pPr>
            <a:r>
              <a:rPr lang="en-IN" sz="2800" i="1">
                <a:solidFill>
                  <a:srgbClr val="FF0000"/>
                </a:solidFill>
              </a:rPr>
              <a:t>Pads and pad circuitry</a:t>
            </a:r>
          </a:p>
          <a:p>
            <a:pPr algn="just" eaLnBrk="1" hangingPunct="1">
              <a:buFont typeface="Wingdings" pitchFamily="2" charset="2"/>
              <a:buNone/>
            </a:pPr>
            <a:endParaRPr lang="en-IN" sz="2800" i="1">
              <a:solidFill>
                <a:srgbClr val="FF0000"/>
              </a:solidFill>
            </a:endParaRPr>
          </a:p>
          <a:p>
            <a:pPr algn="just"/>
            <a:r>
              <a:rPr lang="en-IN" sz="2800"/>
              <a:t>Pads used for </a:t>
            </a:r>
            <a:r>
              <a:rPr lang="en-IN" sz="2800">
                <a:solidFill>
                  <a:srgbClr val="0070C0"/>
                </a:solidFill>
              </a:rPr>
              <a:t>input and output signals </a:t>
            </a:r>
            <a:r>
              <a:rPr lang="en-IN" sz="2800"/>
              <a:t>require different supporting circuitry.</a:t>
            </a:r>
          </a:p>
          <a:p>
            <a:pPr algn="just">
              <a:buFont typeface="Wingdings" pitchFamily="2" charset="2"/>
              <a:buNone/>
            </a:pPr>
            <a:endParaRPr lang="en-IN" sz="2800"/>
          </a:p>
          <a:p>
            <a:pPr algn="just"/>
            <a:r>
              <a:rPr lang="en-IN" sz="2800"/>
              <a:t>A pad used for both input and output, sometimes known by its trade name of </a:t>
            </a:r>
            <a:r>
              <a:rPr lang="en-IN" sz="2800">
                <a:solidFill>
                  <a:srgbClr val="0070C0"/>
                </a:solidFill>
              </a:rPr>
              <a:t>Tri-state </a:t>
            </a:r>
            <a:r>
              <a:rPr lang="en-IN" sz="2800"/>
              <a:t>pin1, combines elements of both inputs and output pads.</a:t>
            </a:r>
          </a:p>
          <a:p>
            <a:pPr>
              <a:buFont typeface="Wingdings" pitchFamily="2" charset="2"/>
              <a:buNone/>
            </a:pPr>
            <a:endParaRPr lang="en-IN" sz="2000" i="1">
              <a:solidFill>
                <a:srgbClr val="FF0000"/>
              </a:solidFill>
            </a:endParaRPr>
          </a:p>
          <a:p>
            <a:pPr eaLnBrk="1" hangingPunct="1">
              <a:buFont typeface="Wingdings" pitchFamily="2" charset="2"/>
              <a:buChar char="q"/>
            </a:pPr>
            <a:endParaRPr lang="en-US" sz="200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Title 1"/>
          <p:cNvSpPr>
            <a:spLocks noGrp="1"/>
          </p:cNvSpPr>
          <p:nvPr>
            <p:ph type="title"/>
          </p:nvPr>
        </p:nvSpPr>
        <p:spPr/>
        <p:txBody>
          <a:bodyPr/>
          <a:lstStyle/>
          <a:p>
            <a:r>
              <a:rPr lang="en-IN" sz="3200">
                <a:solidFill>
                  <a:srgbClr val="0070C0"/>
                </a:solidFill>
              </a:rPr>
              <a:t>Input pads</a:t>
            </a:r>
            <a:br>
              <a:rPr lang="en-IN" sz="3200">
                <a:solidFill>
                  <a:srgbClr val="0070C0"/>
                </a:solidFill>
              </a:rPr>
            </a:br>
            <a:r>
              <a:rPr lang="en-IN" sz="3200">
                <a:solidFill>
                  <a:srgbClr val="0070C0"/>
                </a:solidFill>
              </a:rPr>
              <a:t>___________________________________</a:t>
            </a:r>
          </a:p>
        </p:txBody>
      </p:sp>
      <p:sp>
        <p:nvSpPr>
          <p:cNvPr id="3" name="Content Placeholder 2"/>
          <p:cNvSpPr>
            <a:spLocks noGrp="1"/>
          </p:cNvSpPr>
          <p:nvPr>
            <p:ph idx="1"/>
          </p:nvPr>
        </p:nvSpPr>
        <p:spPr>
          <a:xfrm>
            <a:off x="457200" y="1981200"/>
            <a:ext cx="8229600" cy="4495800"/>
          </a:xfrm>
        </p:spPr>
        <p:txBody>
          <a:bodyPr/>
          <a:lstStyle/>
          <a:p>
            <a:pPr algn="just">
              <a:defRPr/>
            </a:pPr>
            <a:r>
              <a:rPr lang="en-IN" sz="2400" dirty="0"/>
              <a:t>The input pad may include </a:t>
            </a:r>
            <a:r>
              <a:rPr lang="en-IN" sz="2400" dirty="0">
                <a:solidFill>
                  <a:srgbClr val="FF0000"/>
                </a:solidFill>
              </a:rPr>
              <a:t>circuitry to shift voltage levels or otherwise condition the signal</a:t>
            </a:r>
            <a:r>
              <a:rPr lang="en-IN" sz="2400" i="1" dirty="0">
                <a:solidFill>
                  <a:srgbClr val="FF0000"/>
                </a:solidFill>
              </a:rPr>
              <a:t>. </a:t>
            </a:r>
          </a:p>
          <a:p>
            <a:pPr algn="just">
              <a:buFont typeface="Wingdings" pitchFamily="2" charset="2"/>
              <a:buNone/>
              <a:defRPr/>
            </a:pPr>
            <a:endParaRPr lang="en-IN" sz="2400" i="1" dirty="0">
              <a:solidFill>
                <a:srgbClr val="FF0000"/>
              </a:solidFill>
            </a:endParaRPr>
          </a:p>
          <a:p>
            <a:pPr algn="just">
              <a:defRPr/>
            </a:pPr>
            <a:r>
              <a:rPr lang="en-IN" sz="2400" i="1" dirty="0"/>
              <a:t>The main </a:t>
            </a:r>
            <a:r>
              <a:rPr lang="en-IN" sz="2400" i="1" dirty="0">
                <a:solidFill>
                  <a:srgbClr val="FF0000"/>
                </a:solidFill>
              </a:rPr>
              <a:t>job of an input pad is to protect the chip </a:t>
            </a:r>
            <a:r>
              <a:rPr lang="en-IN" sz="2400" dirty="0">
                <a:solidFill>
                  <a:srgbClr val="FF0000"/>
                </a:solidFill>
              </a:rPr>
              <a:t>core from </a:t>
            </a:r>
            <a:r>
              <a:rPr lang="en-IN" sz="2400" dirty="0">
                <a:solidFill>
                  <a:schemeClr val="bg2">
                    <a:lumMod val="60000"/>
                    <a:lumOff val="40000"/>
                  </a:schemeClr>
                </a:solidFill>
              </a:rPr>
              <a:t>static electricity. </a:t>
            </a:r>
          </a:p>
          <a:p>
            <a:pPr algn="just">
              <a:buFont typeface="Wingdings" pitchFamily="2" charset="2"/>
              <a:buNone/>
              <a:defRPr/>
            </a:pPr>
            <a:endParaRPr lang="en-IN" sz="2400" dirty="0">
              <a:solidFill>
                <a:schemeClr val="bg2">
                  <a:lumMod val="60000"/>
                  <a:lumOff val="40000"/>
                </a:schemeClr>
              </a:solidFill>
            </a:endParaRPr>
          </a:p>
          <a:p>
            <a:pPr algn="just">
              <a:defRPr/>
            </a:pPr>
            <a:r>
              <a:rPr lang="en-IN" sz="2400" dirty="0">
                <a:solidFill>
                  <a:srgbClr val="FF0000"/>
                </a:solidFill>
              </a:rPr>
              <a:t>People or equipment </a:t>
            </a:r>
            <a:r>
              <a:rPr lang="en-IN" sz="2400" dirty="0"/>
              <a:t>can easily deliver a </a:t>
            </a:r>
            <a:r>
              <a:rPr lang="en-IN" sz="2400" dirty="0">
                <a:solidFill>
                  <a:schemeClr val="bg2">
                    <a:lumMod val="40000"/>
                    <a:lumOff val="60000"/>
                  </a:schemeClr>
                </a:solidFill>
              </a:rPr>
              <a:t>large static voltage </a:t>
            </a:r>
            <a:r>
              <a:rPr lang="en-IN" sz="2400" dirty="0"/>
              <a:t>to a pin when handling a chip. </a:t>
            </a:r>
          </a:p>
          <a:p>
            <a:pPr algn="just">
              <a:buFont typeface="Wingdings" pitchFamily="2" charset="2"/>
              <a:buNone/>
              <a:defRPr/>
            </a:pPr>
            <a:endParaRPr lang="en-IN" sz="2400" dirty="0"/>
          </a:p>
          <a:p>
            <a:pPr algn="just">
              <a:defRPr/>
            </a:pPr>
            <a:r>
              <a:rPr lang="en-IN" sz="2400" dirty="0">
                <a:solidFill>
                  <a:schemeClr val="bg2">
                    <a:lumMod val="40000"/>
                    <a:lumOff val="60000"/>
                  </a:schemeClr>
                </a:solidFill>
              </a:rPr>
              <a:t>MOS circuits </a:t>
            </a:r>
            <a:r>
              <a:rPr lang="en-IN" sz="2400" dirty="0"/>
              <a:t>are particularly </a:t>
            </a:r>
            <a:r>
              <a:rPr lang="en-IN" sz="2400" dirty="0">
                <a:solidFill>
                  <a:srgbClr val="FF0000"/>
                </a:solidFill>
              </a:rPr>
              <a:t>sensitive to static discharge </a:t>
            </a:r>
            <a:r>
              <a:rPr lang="en-IN" sz="2400" dirty="0"/>
              <a:t>because they </a:t>
            </a:r>
            <a:r>
              <a:rPr lang="en-IN" sz="2400" dirty="0">
                <a:solidFill>
                  <a:srgbClr val="FF0000"/>
                </a:solidFill>
              </a:rPr>
              <a:t>use thin oxides.</a:t>
            </a:r>
            <a:r>
              <a:rPr lang="en-IN" sz="2400" dirty="0"/>
              <a:t> </a:t>
            </a: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57200"/>
            <a:ext cx="8229600" cy="5410200"/>
          </a:xfrm>
        </p:spPr>
        <p:txBody>
          <a:bodyPr/>
          <a:lstStyle/>
          <a:p>
            <a:pPr algn="just">
              <a:defRPr/>
            </a:pPr>
            <a:r>
              <a:rPr lang="en-IN" sz="2400" dirty="0">
                <a:solidFill>
                  <a:schemeClr val="bg2">
                    <a:lumMod val="60000"/>
                    <a:lumOff val="40000"/>
                  </a:schemeClr>
                </a:solidFill>
              </a:rPr>
              <a:t>The gate oxide</a:t>
            </a:r>
            <a:r>
              <a:rPr lang="en-IN" sz="2400" dirty="0"/>
              <a:t>, which may be </a:t>
            </a:r>
            <a:r>
              <a:rPr lang="en-IN" sz="2400" dirty="0">
                <a:solidFill>
                  <a:srgbClr val="FF0000"/>
                </a:solidFill>
              </a:rPr>
              <a:t>a few hundred Angstroms thick</a:t>
            </a:r>
            <a:r>
              <a:rPr lang="en-IN" sz="2400" dirty="0"/>
              <a:t>, can be totally destroyed by a single static jolt, shorting the transistor’s gate to its channel.</a:t>
            </a:r>
          </a:p>
          <a:p>
            <a:pPr algn="just">
              <a:buFont typeface="Wingdings" pitchFamily="2" charset="2"/>
              <a:buNone/>
              <a:defRPr/>
            </a:pPr>
            <a:endParaRPr lang="en-IN" sz="2400" dirty="0"/>
          </a:p>
          <a:p>
            <a:pPr algn="just">
              <a:defRPr/>
            </a:pPr>
            <a:r>
              <a:rPr lang="en-IN" sz="2400" dirty="0"/>
              <a:t>An </a:t>
            </a:r>
            <a:r>
              <a:rPr lang="en-IN" sz="2400" dirty="0">
                <a:solidFill>
                  <a:schemeClr val="bg2">
                    <a:lumMod val="60000"/>
                    <a:lumOff val="40000"/>
                  </a:schemeClr>
                </a:solidFill>
              </a:rPr>
              <a:t>input pad puts protective circuitry </a:t>
            </a:r>
            <a:r>
              <a:rPr lang="en-IN" sz="2400" dirty="0"/>
              <a:t>between the </a:t>
            </a:r>
            <a:r>
              <a:rPr lang="en-IN" sz="2400" dirty="0">
                <a:solidFill>
                  <a:srgbClr val="FF0000"/>
                </a:solidFill>
              </a:rPr>
              <a:t>pad itself and the transistor gates in the chip core.</a:t>
            </a:r>
          </a:p>
          <a:p>
            <a:pPr algn="just">
              <a:defRPr/>
            </a:pPr>
            <a:endParaRPr lang="en-IN" sz="2400" dirty="0">
              <a:solidFill>
                <a:srgbClr val="FF0000"/>
              </a:solidFill>
            </a:endParaRPr>
          </a:p>
          <a:p>
            <a:pPr algn="just">
              <a:defRPr/>
            </a:pPr>
            <a:r>
              <a:rPr lang="en-IN" sz="2400" dirty="0"/>
              <a:t>Electrostatic discharge </a:t>
            </a:r>
            <a:r>
              <a:rPr lang="en-IN" sz="2400" dirty="0">
                <a:solidFill>
                  <a:schemeClr val="bg2">
                    <a:lumMod val="60000"/>
                    <a:lumOff val="40000"/>
                  </a:schemeClr>
                </a:solidFill>
              </a:rPr>
              <a:t>(ESD) </a:t>
            </a:r>
            <a:r>
              <a:rPr lang="en-IN" sz="2400" dirty="0"/>
              <a:t>can cause two types of problems: </a:t>
            </a:r>
            <a:r>
              <a:rPr lang="en-IN" sz="2400" dirty="0">
                <a:solidFill>
                  <a:schemeClr val="bg2">
                    <a:lumMod val="60000"/>
                    <a:lumOff val="40000"/>
                  </a:schemeClr>
                </a:solidFill>
              </a:rPr>
              <a:t>dielectric rupture </a:t>
            </a:r>
            <a:r>
              <a:rPr lang="en-IN" sz="2400" dirty="0"/>
              <a:t>and</a:t>
            </a:r>
            <a:r>
              <a:rPr lang="en-IN" sz="2400" dirty="0">
                <a:solidFill>
                  <a:schemeClr val="bg2">
                    <a:lumMod val="60000"/>
                    <a:lumOff val="40000"/>
                  </a:schemeClr>
                </a:solidFill>
              </a:rPr>
              <a:t> charge injection</a:t>
            </a:r>
            <a:r>
              <a:rPr lang="en-IN" sz="2400" dirty="0"/>
              <a:t>.</a:t>
            </a:r>
          </a:p>
          <a:p>
            <a:pPr algn="just">
              <a:defRPr/>
            </a:pPr>
            <a:endParaRPr lang="en-IN" sz="2400" dirty="0"/>
          </a:p>
          <a:p>
            <a:pPr algn="just">
              <a:defRPr/>
            </a:pPr>
            <a:r>
              <a:rPr lang="en-IN" sz="2400" dirty="0"/>
              <a:t>When the dielectric ruptures, chip structures can short together. </a:t>
            </a:r>
          </a:p>
          <a:p>
            <a:pPr algn="just">
              <a:defRPr/>
            </a:pPr>
            <a:endParaRPr lang="en-IN" sz="2400" dirty="0"/>
          </a:p>
          <a:p>
            <a:pPr algn="just">
              <a:defRPr/>
            </a:pPr>
            <a:r>
              <a:rPr lang="en-IN" sz="2400" dirty="0"/>
              <a:t>The charge injected by an ESD event can be sufficient to damage the small on-chip devices.</a:t>
            </a: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Content Placeholder 2"/>
          <p:cNvSpPr>
            <a:spLocks noGrp="1"/>
          </p:cNvSpPr>
          <p:nvPr>
            <p:ph idx="1"/>
          </p:nvPr>
        </p:nvSpPr>
        <p:spPr>
          <a:xfrm>
            <a:off x="457200" y="1828800"/>
            <a:ext cx="8229600" cy="5257800"/>
          </a:xfrm>
        </p:spPr>
        <p:txBody>
          <a:bodyPr/>
          <a:lstStyle/>
          <a:p>
            <a:pPr algn="just"/>
            <a:r>
              <a:rPr lang="en-IN" sz="2800"/>
              <a:t>Electrostatic discharge protection is </a:t>
            </a:r>
            <a:r>
              <a:rPr lang="en-IN" sz="2800">
                <a:solidFill>
                  <a:srgbClr val="0070C0"/>
                </a:solidFill>
              </a:rPr>
              <a:t>not needed for an output pad</a:t>
            </a:r>
            <a:r>
              <a:rPr lang="en-IN" sz="2800"/>
              <a:t> because the pad is not </a:t>
            </a:r>
            <a:r>
              <a:rPr lang="en-IN" sz="2800">
                <a:solidFill>
                  <a:srgbClr val="FF0000"/>
                </a:solidFill>
              </a:rPr>
              <a:t>connected to any transistor gate</a:t>
            </a:r>
            <a:r>
              <a:rPr lang="en-IN" sz="2800"/>
              <a:t>. </a:t>
            </a:r>
          </a:p>
          <a:p>
            <a:pPr algn="just"/>
            <a:r>
              <a:rPr lang="en-IN" sz="2800"/>
              <a:t>The </a:t>
            </a:r>
            <a:r>
              <a:rPr lang="en-IN" sz="2800">
                <a:solidFill>
                  <a:srgbClr val="FF0000"/>
                </a:solidFill>
              </a:rPr>
              <a:t>main job of an output pad is to drive the large capacitances </a:t>
            </a:r>
            <a:r>
              <a:rPr lang="en-IN" sz="2800"/>
              <a:t>seen on the output pin.</a:t>
            </a:r>
          </a:p>
          <a:p>
            <a:pPr algn="just"/>
            <a:r>
              <a:rPr lang="en-IN" sz="2800"/>
              <a:t>Within the chip, </a:t>
            </a:r>
            <a:r>
              <a:rPr lang="el-GR" sz="2800">
                <a:solidFill>
                  <a:srgbClr val="FF0000"/>
                </a:solidFill>
              </a:rPr>
              <a:t>λ</a:t>
            </a:r>
            <a:r>
              <a:rPr lang="en-IN" sz="2800">
                <a:solidFill>
                  <a:srgbClr val="FF0000"/>
                </a:solidFill>
              </a:rPr>
              <a:t> scaling ensures </a:t>
            </a:r>
            <a:r>
              <a:rPr lang="en-IN" sz="2800"/>
              <a:t>that we can use smaller and smaller transistors, but the real </a:t>
            </a:r>
            <a:r>
              <a:rPr lang="en-IN" sz="2800">
                <a:solidFill>
                  <a:srgbClr val="FF0000"/>
                </a:solidFill>
              </a:rPr>
              <a:t>world doesn’t shrink along with our chip’s channel length. </a:t>
            </a:r>
          </a:p>
        </p:txBody>
      </p:sp>
      <p:sp>
        <p:nvSpPr>
          <p:cNvPr id="80899" name="Title 1"/>
          <p:cNvSpPr>
            <a:spLocks noGrp="1"/>
          </p:cNvSpPr>
          <p:nvPr>
            <p:ph type="title"/>
          </p:nvPr>
        </p:nvSpPr>
        <p:spPr/>
        <p:txBody>
          <a:bodyPr/>
          <a:lstStyle/>
          <a:p>
            <a:r>
              <a:rPr lang="en-IN" sz="3200">
                <a:solidFill>
                  <a:srgbClr val="0070C0"/>
                </a:solidFill>
              </a:rPr>
              <a:t>Output pads</a:t>
            </a:r>
            <a:br>
              <a:rPr lang="en-IN" sz="3200">
                <a:solidFill>
                  <a:srgbClr val="0070C0"/>
                </a:solidFill>
              </a:rPr>
            </a:br>
            <a:r>
              <a:rPr lang="en-IN" sz="3200">
                <a:solidFill>
                  <a:srgbClr val="0070C0"/>
                </a:solidFill>
              </a:rPr>
              <a:t>___________________________________</a:t>
            </a: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Title 1"/>
          <p:cNvSpPr>
            <a:spLocks noGrp="1"/>
          </p:cNvSpPr>
          <p:nvPr>
            <p:ph type="title"/>
          </p:nvPr>
        </p:nvSpPr>
        <p:spPr/>
        <p:txBody>
          <a:bodyPr/>
          <a:lstStyle/>
          <a:p>
            <a:pPr>
              <a:defRPr/>
            </a:pPr>
            <a:r>
              <a:rPr lang="en-IN" sz="3200" dirty="0">
                <a:solidFill>
                  <a:schemeClr val="bg2">
                    <a:lumMod val="60000"/>
                    <a:lumOff val="40000"/>
                  </a:schemeClr>
                </a:solidFill>
              </a:rPr>
              <a:t>Output pads</a:t>
            </a:r>
            <a:br>
              <a:rPr lang="en-IN" sz="3200" dirty="0">
                <a:solidFill>
                  <a:schemeClr val="bg2">
                    <a:lumMod val="60000"/>
                    <a:lumOff val="40000"/>
                  </a:schemeClr>
                </a:solidFill>
              </a:rPr>
            </a:br>
            <a:r>
              <a:rPr lang="en-IN" sz="3200" dirty="0">
                <a:solidFill>
                  <a:schemeClr val="bg2">
                    <a:lumMod val="60000"/>
                    <a:lumOff val="40000"/>
                  </a:schemeClr>
                </a:solidFill>
              </a:rPr>
              <a:t>___________________________________</a:t>
            </a:r>
          </a:p>
        </p:txBody>
      </p:sp>
      <p:sp>
        <p:nvSpPr>
          <p:cNvPr id="81923" name="Content Placeholder 2"/>
          <p:cNvSpPr>
            <a:spLocks noGrp="1"/>
          </p:cNvSpPr>
          <p:nvPr>
            <p:ph idx="1"/>
          </p:nvPr>
        </p:nvSpPr>
        <p:spPr/>
        <p:txBody>
          <a:bodyPr/>
          <a:lstStyle/>
          <a:p>
            <a:endParaRPr lang="en-IN"/>
          </a:p>
        </p:txBody>
      </p:sp>
      <p:pic>
        <p:nvPicPr>
          <p:cNvPr id="81924" name="Picture 2"/>
          <p:cNvPicPr>
            <a:picLocks noChangeAspect="1" noChangeArrowheads="1"/>
          </p:cNvPicPr>
          <p:nvPr/>
        </p:nvPicPr>
        <p:blipFill>
          <a:blip r:embed="rId2" cstate="print"/>
          <a:srcRect/>
          <a:stretch>
            <a:fillRect/>
          </a:stretch>
        </p:blipFill>
        <p:spPr bwMode="auto">
          <a:xfrm>
            <a:off x="1905000" y="2590800"/>
            <a:ext cx="3829050" cy="2276475"/>
          </a:xfrm>
          <a:prstGeom prst="rect">
            <a:avLst/>
          </a:prstGeom>
          <a:noFill/>
          <a:ln w="9525">
            <a:noFill/>
            <a:miter lim="800000"/>
            <a:headEnd/>
            <a:tailEnd/>
          </a:ln>
        </p:spPr>
      </p:pic>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Title 1"/>
          <p:cNvSpPr>
            <a:spLocks noGrp="1"/>
          </p:cNvSpPr>
          <p:nvPr>
            <p:ph type="title"/>
          </p:nvPr>
        </p:nvSpPr>
        <p:spPr/>
        <p:txBody>
          <a:bodyPr/>
          <a:lstStyle/>
          <a:p>
            <a:pPr>
              <a:defRPr/>
            </a:pPr>
            <a:r>
              <a:rPr lang="en-IN" sz="3200" dirty="0">
                <a:solidFill>
                  <a:schemeClr val="bg2">
                    <a:lumMod val="60000"/>
                    <a:lumOff val="40000"/>
                  </a:schemeClr>
                </a:solidFill>
              </a:rPr>
              <a:t>A three-state pad circuit</a:t>
            </a:r>
            <a:br>
              <a:rPr lang="en-IN" sz="3200" dirty="0">
                <a:solidFill>
                  <a:schemeClr val="bg2">
                    <a:lumMod val="60000"/>
                    <a:lumOff val="40000"/>
                  </a:schemeClr>
                </a:solidFill>
              </a:rPr>
            </a:br>
            <a:r>
              <a:rPr lang="en-IN" sz="3200" dirty="0">
                <a:solidFill>
                  <a:schemeClr val="bg2">
                    <a:lumMod val="60000"/>
                    <a:lumOff val="40000"/>
                  </a:schemeClr>
                </a:solidFill>
              </a:rPr>
              <a:t>___________________________________</a:t>
            </a:r>
          </a:p>
        </p:txBody>
      </p:sp>
      <p:sp>
        <p:nvSpPr>
          <p:cNvPr id="90115" name="Content Placeholder 2"/>
          <p:cNvSpPr>
            <a:spLocks noGrp="1"/>
          </p:cNvSpPr>
          <p:nvPr>
            <p:ph idx="1"/>
          </p:nvPr>
        </p:nvSpPr>
        <p:spPr>
          <a:xfrm>
            <a:off x="457200" y="1600200"/>
            <a:ext cx="8229600" cy="4267200"/>
          </a:xfrm>
        </p:spPr>
        <p:txBody>
          <a:bodyPr/>
          <a:lstStyle/>
          <a:p>
            <a:pPr algn="just">
              <a:defRPr/>
            </a:pPr>
            <a:r>
              <a:rPr lang="en-IN" sz="2400" dirty="0"/>
              <a:t>Three-state pads, used for </a:t>
            </a:r>
            <a:r>
              <a:rPr lang="en-IN" sz="2400" dirty="0">
                <a:solidFill>
                  <a:srgbClr val="FF0000"/>
                </a:solidFill>
              </a:rPr>
              <a:t>both input and output.</a:t>
            </a:r>
          </a:p>
          <a:p>
            <a:pPr algn="just">
              <a:defRPr/>
            </a:pPr>
            <a:r>
              <a:rPr lang="en-IN" sz="2400" dirty="0"/>
              <a:t>Pad can not, used as an input and output simultaneously.</a:t>
            </a:r>
          </a:p>
          <a:p>
            <a:pPr algn="just">
              <a:defRPr/>
            </a:pPr>
            <a:r>
              <a:rPr lang="en-IN" sz="2400" dirty="0">
                <a:solidFill>
                  <a:srgbClr val="FF0000"/>
                </a:solidFill>
              </a:rPr>
              <a:t>Chip core </a:t>
            </a:r>
            <a:r>
              <a:rPr lang="en-IN" sz="2400" dirty="0"/>
              <a:t>is responsible for switching between modes.</a:t>
            </a:r>
          </a:p>
          <a:p>
            <a:pPr algn="just">
              <a:defRPr/>
            </a:pPr>
            <a:r>
              <a:rPr lang="en-IN" sz="2400" dirty="0"/>
              <a:t>Pad requires </a:t>
            </a:r>
            <a:r>
              <a:rPr lang="en-IN" sz="2400" dirty="0">
                <a:solidFill>
                  <a:srgbClr val="FF0000"/>
                </a:solidFill>
              </a:rPr>
              <a:t>electrostatic discharge </a:t>
            </a:r>
            <a:r>
              <a:rPr lang="en-IN" sz="2400" dirty="0"/>
              <a:t>protection for when the pad is used as an </a:t>
            </a:r>
            <a:r>
              <a:rPr lang="en-IN" sz="2400" dirty="0">
                <a:solidFill>
                  <a:schemeClr val="bg2">
                    <a:lumMod val="60000"/>
                    <a:lumOff val="40000"/>
                  </a:schemeClr>
                </a:solidFill>
              </a:rPr>
              <a:t>input.</a:t>
            </a:r>
          </a:p>
          <a:p>
            <a:pPr algn="just">
              <a:defRPr/>
            </a:pPr>
            <a:r>
              <a:rPr lang="en-IN" sz="2400" dirty="0">
                <a:solidFill>
                  <a:schemeClr val="bg2">
                    <a:lumMod val="60000"/>
                    <a:lumOff val="40000"/>
                  </a:schemeClr>
                </a:solidFill>
              </a:rPr>
              <a:t>An output driver</a:t>
            </a:r>
            <a:r>
              <a:rPr lang="en-IN" sz="2400" dirty="0"/>
              <a:t> for when it is </a:t>
            </a:r>
            <a:r>
              <a:rPr lang="en-IN" sz="2400" dirty="0">
                <a:solidFill>
                  <a:srgbClr val="FF5050"/>
                </a:solidFill>
              </a:rPr>
              <a:t>used as an output</a:t>
            </a:r>
            <a:r>
              <a:rPr lang="en-IN" sz="2400" dirty="0"/>
              <a:t>, plus circuitry </a:t>
            </a:r>
            <a:r>
              <a:rPr lang="en-IN" sz="2400" dirty="0">
                <a:solidFill>
                  <a:srgbClr val="FF5050"/>
                </a:solidFill>
              </a:rPr>
              <a:t>to switch </a:t>
            </a:r>
            <a:r>
              <a:rPr lang="en-IN" sz="2400" dirty="0"/>
              <a:t>the pad between input and output modes.</a:t>
            </a:r>
          </a:p>
        </p:txBody>
      </p:sp>
      <p:pic>
        <p:nvPicPr>
          <p:cNvPr id="82948" name="Picture 2"/>
          <p:cNvPicPr>
            <a:picLocks noChangeAspect="1" noChangeArrowheads="1"/>
          </p:cNvPicPr>
          <p:nvPr/>
        </p:nvPicPr>
        <p:blipFill>
          <a:blip r:embed="rId2" cstate="print"/>
          <a:srcRect/>
          <a:stretch>
            <a:fillRect/>
          </a:stretch>
        </p:blipFill>
        <p:spPr bwMode="auto">
          <a:xfrm>
            <a:off x="4419600" y="5029200"/>
            <a:ext cx="4343400" cy="1828800"/>
          </a:xfrm>
          <a:prstGeom prst="rect">
            <a:avLst/>
          </a:prstGeom>
          <a:noFill/>
          <a:ln w="9525">
            <a:noFill/>
            <a:miter lim="800000"/>
            <a:headEnd/>
            <a:tailEnd/>
          </a:ln>
        </p:spPr>
      </p:pic>
      <p:sp>
        <p:nvSpPr>
          <p:cNvPr id="82949" name="Rectangle 4"/>
          <p:cNvSpPr>
            <a:spLocks noChangeArrowheads="1"/>
          </p:cNvSpPr>
          <p:nvPr/>
        </p:nvSpPr>
        <p:spPr bwMode="auto">
          <a:xfrm>
            <a:off x="2133600" y="6096000"/>
            <a:ext cx="1665288" cy="369888"/>
          </a:xfrm>
          <a:prstGeom prst="rect">
            <a:avLst/>
          </a:prstGeom>
          <a:noFill/>
          <a:ln w="9525">
            <a:noFill/>
            <a:miter lim="800000"/>
            <a:headEnd/>
            <a:tailEnd/>
          </a:ln>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IN" sz="1800" b="0" i="0" u="none" strike="noStrike" kern="1200" cap="none" spc="0" normalizeH="0" baseline="0" noProof="0">
                <a:ln>
                  <a:noFill/>
                </a:ln>
                <a:solidFill>
                  <a:srgbClr val="000000"/>
                </a:solidFill>
                <a:effectLst/>
                <a:uLnTx/>
                <a:uFillTx/>
                <a:latin typeface="Arial" pitchFamily="34" charset="0"/>
                <a:ea typeface="+mn-ea"/>
                <a:cs typeface="+mn-cs"/>
              </a:rPr>
              <a:t>Input_mode=1</a:t>
            </a:r>
            <a:endParaRPr kumimoji="0" lang="en-US" sz="1800" b="0" i="0" u="none" strike="noStrike" kern="1200" cap="none" spc="0" normalizeH="0" baseline="0" noProof="0">
              <a:ln>
                <a:noFill/>
              </a:ln>
              <a:solidFill>
                <a:srgbClr val="000000"/>
              </a:solidFill>
              <a:effectLst/>
              <a:uLnTx/>
              <a:uFillTx/>
              <a:latin typeface="Arial" pitchFamily="34" charset="0"/>
              <a:ea typeface="+mn-ea"/>
              <a:cs typeface="+mn-cs"/>
            </a:endParaRP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FF98293-D2E7-218F-972C-B0D6C53C8B07}"/>
              </a:ext>
            </a:extLst>
          </p:cNvPr>
          <p:cNvSpPr>
            <a:spLocks noGrp="1"/>
          </p:cNvSpPr>
          <p:nvPr>
            <p:ph type="title"/>
          </p:nvPr>
        </p:nvSpPr>
        <p:spPr>
          <a:xfrm>
            <a:off x="2590800" y="2514600"/>
            <a:ext cx="3124200" cy="1371600"/>
          </a:xfrm>
        </p:spPr>
        <p:txBody>
          <a:bodyPr/>
          <a:lstStyle/>
          <a:p>
            <a:r>
              <a:rPr lang="en-IN" dirty="0"/>
              <a:t>Thank you</a:t>
            </a:r>
          </a:p>
        </p:txBody>
      </p:sp>
    </p:spTree>
    <p:extLst>
      <p:ext uri="{BB962C8B-B14F-4D97-AF65-F5344CB8AC3E}">
        <p14:creationId xmlns:p14="http://schemas.microsoft.com/office/powerpoint/2010/main" xmlns="" val="324914585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Pixel">
  <a:themeElements>
    <a:clrScheme name="Pixel 12">
      <a:dk1>
        <a:srgbClr val="000000"/>
      </a:dk1>
      <a:lt1>
        <a:srgbClr val="FFFFFF"/>
      </a:lt1>
      <a:dk2>
        <a:srgbClr val="000000"/>
      </a:dk2>
      <a:lt2>
        <a:srgbClr val="00007D"/>
      </a:lt2>
      <a:accent1>
        <a:srgbClr val="9999FF"/>
      </a:accent1>
      <a:accent2>
        <a:srgbClr val="9999CC"/>
      </a:accent2>
      <a:accent3>
        <a:srgbClr val="FFFFFF"/>
      </a:accent3>
      <a:accent4>
        <a:srgbClr val="000000"/>
      </a:accent4>
      <a:accent5>
        <a:srgbClr val="CACAFF"/>
      </a:accent5>
      <a:accent6>
        <a:srgbClr val="8A8AB9"/>
      </a:accent6>
      <a:hlink>
        <a:srgbClr val="666699"/>
      </a:hlink>
      <a:folHlink>
        <a:srgbClr val="CCCCE6"/>
      </a:folHlink>
    </a:clrScheme>
    <a:fontScheme name="Pixel">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lnDef>
  </a:objectDefaults>
  <a:extraClrSchemeLst>
    <a:extraClrScheme>
      <a:clrScheme name="Pixel 1">
        <a:dk1>
          <a:srgbClr val="0066FF"/>
        </a:dk1>
        <a:lt1>
          <a:srgbClr val="FFFFFF"/>
        </a:lt1>
        <a:dk2>
          <a:srgbClr val="000066"/>
        </a:dk2>
        <a:lt2>
          <a:srgbClr val="FFFFFF"/>
        </a:lt2>
        <a:accent1>
          <a:srgbClr val="6699FF"/>
        </a:accent1>
        <a:accent2>
          <a:srgbClr val="3333FF"/>
        </a:accent2>
        <a:accent3>
          <a:srgbClr val="AAAAB8"/>
        </a:accent3>
        <a:accent4>
          <a:srgbClr val="DADADA"/>
        </a:accent4>
        <a:accent5>
          <a:srgbClr val="B8CAFF"/>
        </a:accent5>
        <a:accent6>
          <a:srgbClr val="2D2DE7"/>
        </a:accent6>
        <a:hlink>
          <a:srgbClr val="FFCC00"/>
        </a:hlink>
        <a:folHlink>
          <a:srgbClr val="0000CC"/>
        </a:folHlink>
      </a:clrScheme>
      <a:clrMap bg1="dk2" tx1="lt1" bg2="dk1" tx2="lt2" accent1="accent1" accent2="accent2" accent3="accent3" accent4="accent4" accent5="accent5" accent6="accent6" hlink="hlink" folHlink="folHlink"/>
    </a:extraClrScheme>
    <a:extraClrScheme>
      <a:clrScheme name="Pixel 2">
        <a:dk1>
          <a:srgbClr val="009999"/>
        </a:dk1>
        <a:lt1>
          <a:srgbClr val="FFFFFF"/>
        </a:lt1>
        <a:dk2>
          <a:srgbClr val="334B49"/>
        </a:dk2>
        <a:lt2>
          <a:srgbClr val="FFFFFF"/>
        </a:lt2>
        <a:accent1>
          <a:srgbClr val="33CCCC"/>
        </a:accent1>
        <a:accent2>
          <a:srgbClr val="008080"/>
        </a:accent2>
        <a:accent3>
          <a:srgbClr val="ADB1B1"/>
        </a:accent3>
        <a:accent4>
          <a:srgbClr val="DADADA"/>
        </a:accent4>
        <a:accent5>
          <a:srgbClr val="ADE2E2"/>
        </a:accent5>
        <a:accent6>
          <a:srgbClr val="007373"/>
        </a:accent6>
        <a:hlink>
          <a:srgbClr val="FFCC00"/>
        </a:hlink>
        <a:folHlink>
          <a:srgbClr val="006666"/>
        </a:folHlink>
      </a:clrScheme>
      <a:clrMap bg1="dk2" tx1="lt1" bg2="dk1" tx2="lt2" accent1="accent1" accent2="accent2" accent3="accent3" accent4="accent4" accent5="accent5" accent6="accent6" hlink="hlink" folHlink="folHlink"/>
    </a:extraClrScheme>
    <a:extraClrScheme>
      <a:clrScheme name="Pixel 3">
        <a:dk1>
          <a:srgbClr val="006699"/>
        </a:dk1>
        <a:lt1>
          <a:srgbClr val="FFFFFF"/>
        </a:lt1>
        <a:dk2>
          <a:srgbClr val="333399"/>
        </a:dk2>
        <a:lt2>
          <a:srgbClr val="FFFFFF"/>
        </a:lt2>
        <a:accent1>
          <a:srgbClr val="0099CC"/>
        </a:accent1>
        <a:accent2>
          <a:srgbClr val="0386AF"/>
        </a:accent2>
        <a:accent3>
          <a:srgbClr val="ADADCA"/>
        </a:accent3>
        <a:accent4>
          <a:srgbClr val="DADADA"/>
        </a:accent4>
        <a:accent5>
          <a:srgbClr val="AACAE2"/>
        </a:accent5>
        <a:accent6>
          <a:srgbClr val="02799E"/>
        </a:accent6>
        <a:hlink>
          <a:srgbClr val="FFCC00"/>
        </a:hlink>
        <a:folHlink>
          <a:srgbClr val="6699FF"/>
        </a:folHlink>
      </a:clrScheme>
      <a:clrMap bg1="dk2" tx1="lt1" bg2="dk1" tx2="lt2" accent1="accent1" accent2="accent2" accent3="accent3" accent4="accent4" accent5="accent5" accent6="accent6" hlink="hlink" folHlink="folHlink"/>
    </a:extraClrScheme>
    <a:extraClrScheme>
      <a:clrScheme name="Pixel 4">
        <a:dk1>
          <a:srgbClr val="008080"/>
        </a:dk1>
        <a:lt1>
          <a:srgbClr val="FFFFFF"/>
        </a:lt1>
        <a:dk2>
          <a:srgbClr val="2F978D"/>
        </a:dk2>
        <a:lt2>
          <a:srgbClr val="FFFFFF"/>
        </a:lt2>
        <a:accent1>
          <a:srgbClr val="0099FF"/>
        </a:accent1>
        <a:accent2>
          <a:srgbClr val="009999"/>
        </a:accent2>
        <a:accent3>
          <a:srgbClr val="ADC9C5"/>
        </a:accent3>
        <a:accent4>
          <a:srgbClr val="DADADA"/>
        </a:accent4>
        <a:accent5>
          <a:srgbClr val="AACAFF"/>
        </a:accent5>
        <a:accent6>
          <a:srgbClr val="008A8A"/>
        </a:accent6>
        <a:hlink>
          <a:srgbClr val="FFFFCC"/>
        </a:hlink>
        <a:folHlink>
          <a:srgbClr val="70CAC6"/>
        </a:folHlink>
      </a:clrScheme>
      <a:clrMap bg1="dk2" tx1="lt1" bg2="dk1" tx2="lt2" accent1="accent1" accent2="accent2" accent3="accent3" accent4="accent4" accent5="accent5" accent6="accent6" hlink="hlink" folHlink="folHlink"/>
    </a:extraClrScheme>
    <a:extraClrScheme>
      <a:clrScheme name="Pixel 5">
        <a:dk1>
          <a:srgbClr val="822504"/>
        </a:dk1>
        <a:lt1>
          <a:srgbClr val="FFFFFF"/>
        </a:lt1>
        <a:dk2>
          <a:srgbClr val="330000"/>
        </a:dk2>
        <a:lt2>
          <a:srgbClr val="FFFFFF"/>
        </a:lt2>
        <a:accent1>
          <a:srgbClr val="FF9900"/>
        </a:accent1>
        <a:accent2>
          <a:srgbClr val="9E2A06"/>
        </a:accent2>
        <a:accent3>
          <a:srgbClr val="ADAAAA"/>
        </a:accent3>
        <a:accent4>
          <a:srgbClr val="DADADA"/>
        </a:accent4>
        <a:accent5>
          <a:srgbClr val="FFCAAA"/>
        </a:accent5>
        <a:accent6>
          <a:srgbClr val="8F2505"/>
        </a:accent6>
        <a:hlink>
          <a:srgbClr val="FF3300"/>
        </a:hlink>
        <a:folHlink>
          <a:srgbClr val="7C0704"/>
        </a:folHlink>
      </a:clrScheme>
      <a:clrMap bg1="dk2" tx1="lt1" bg2="dk1" tx2="lt2" accent1="accent1" accent2="accent2" accent3="accent3" accent4="accent4" accent5="accent5" accent6="accent6" hlink="hlink" folHlink="folHlink"/>
    </a:extraClrScheme>
    <a:extraClrScheme>
      <a:clrScheme name="Pixel 6">
        <a:dk1>
          <a:srgbClr val="336600"/>
        </a:dk1>
        <a:lt1>
          <a:srgbClr val="FFFFFF"/>
        </a:lt1>
        <a:dk2>
          <a:srgbClr val="4A7911"/>
        </a:dk2>
        <a:lt2>
          <a:srgbClr val="FFFFFF"/>
        </a:lt2>
        <a:accent1>
          <a:srgbClr val="666633"/>
        </a:accent1>
        <a:accent2>
          <a:srgbClr val="669900"/>
        </a:accent2>
        <a:accent3>
          <a:srgbClr val="B1BEAA"/>
        </a:accent3>
        <a:accent4>
          <a:srgbClr val="DADADA"/>
        </a:accent4>
        <a:accent5>
          <a:srgbClr val="B8B8AD"/>
        </a:accent5>
        <a:accent6>
          <a:srgbClr val="5C8A00"/>
        </a:accent6>
        <a:hlink>
          <a:srgbClr val="FFCC00"/>
        </a:hlink>
        <a:folHlink>
          <a:srgbClr val="99CC00"/>
        </a:folHlink>
      </a:clrScheme>
      <a:clrMap bg1="dk2" tx1="lt1" bg2="dk1" tx2="lt2" accent1="accent1" accent2="accent2" accent3="accent3" accent4="accent4" accent5="accent5" accent6="accent6" hlink="hlink" folHlink="folHlink"/>
    </a:extraClrScheme>
    <a:extraClrScheme>
      <a:clrScheme name="Pixel 7">
        <a:dk1>
          <a:srgbClr val="000000"/>
        </a:dk1>
        <a:lt1>
          <a:srgbClr val="FFFFFF"/>
        </a:lt1>
        <a:dk2>
          <a:srgbClr val="000000"/>
        </a:dk2>
        <a:lt2>
          <a:srgbClr val="CC3300"/>
        </a:lt2>
        <a:accent1>
          <a:srgbClr val="FFCC00"/>
        </a:accent1>
        <a:accent2>
          <a:srgbClr val="CC6600"/>
        </a:accent2>
        <a:accent3>
          <a:srgbClr val="FFFFFF"/>
        </a:accent3>
        <a:accent4>
          <a:srgbClr val="000000"/>
        </a:accent4>
        <a:accent5>
          <a:srgbClr val="FFE2AA"/>
        </a:accent5>
        <a:accent6>
          <a:srgbClr val="B95C00"/>
        </a:accent6>
        <a:hlink>
          <a:srgbClr val="663300"/>
        </a:hlink>
        <a:folHlink>
          <a:srgbClr val="CC9900"/>
        </a:folHlink>
      </a:clrScheme>
      <a:clrMap bg1="lt1" tx1="dk1" bg2="lt2" tx2="dk2" accent1="accent1" accent2="accent2" accent3="accent3" accent4="accent4" accent5="accent5" accent6="accent6" hlink="hlink" folHlink="folHlink"/>
    </a:extraClrScheme>
    <a:extraClrScheme>
      <a:clrScheme name="Pixel 8">
        <a:dk1>
          <a:srgbClr val="003300"/>
        </a:dk1>
        <a:lt1>
          <a:srgbClr val="FFFFFF"/>
        </a:lt1>
        <a:dk2>
          <a:srgbClr val="000000"/>
        </a:dk2>
        <a:lt2>
          <a:srgbClr val="336600"/>
        </a:lt2>
        <a:accent1>
          <a:srgbClr val="CCCC00"/>
        </a:accent1>
        <a:accent2>
          <a:srgbClr val="669900"/>
        </a:accent2>
        <a:accent3>
          <a:srgbClr val="FFFFFF"/>
        </a:accent3>
        <a:accent4>
          <a:srgbClr val="002A00"/>
        </a:accent4>
        <a:accent5>
          <a:srgbClr val="E2E2AA"/>
        </a:accent5>
        <a:accent6>
          <a:srgbClr val="5C8A00"/>
        </a:accent6>
        <a:hlink>
          <a:srgbClr val="333300"/>
        </a:hlink>
        <a:folHlink>
          <a:srgbClr val="99CC00"/>
        </a:folHlink>
      </a:clrScheme>
      <a:clrMap bg1="lt1" tx1="dk1" bg2="lt2" tx2="dk2" accent1="accent1" accent2="accent2" accent3="accent3" accent4="accent4" accent5="accent5" accent6="accent6" hlink="hlink" folHlink="folHlink"/>
    </a:extraClrScheme>
    <a:extraClrScheme>
      <a:clrScheme name="Pixel 9">
        <a:dk1>
          <a:srgbClr val="000000"/>
        </a:dk1>
        <a:lt1>
          <a:srgbClr val="FFFFFF"/>
        </a:lt1>
        <a:dk2>
          <a:srgbClr val="000000"/>
        </a:dk2>
        <a:lt2>
          <a:srgbClr val="440044"/>
        </a:lt2>
        <a:accent1>
          <a:srgbClr val="FFCCCC"/>
        </a:accent1>
        <a:accent2>
          <a:srgbClr val="790571"/>
        </a:accent2>
        <a:accent3>
          <a:srgbClr val="FFFFFF"/>
        </a:accent3>
        <a:accent4>
          <a:srgbClr val="000000"/>
        </a:accent4>
        <a:accent5>
          <a:srgbClr val="FFE2E2"/>
        </a:accent5>
        <a:accent6>
          <a:srgbClr val="6D0466"/>
        </a:accent6>
        <a:hlink>
          <a:srgbClr val="993366"/>
        </a:hlink>
        <a:folHlink>
          <a:srgbClr val="9F839F"/>
        </a:folHlink>
      </a:clrScheme>
      <a:clrMap bg1="lt1" tx1="dk1" bg2="lt2" tx2="dk2" accent1="accent1" accent2="accent2" accent3="accent3" accent4="accent4" accent5="accent5" accent6="accent6" hlink="hlink" folHlink="folHlink"/>
    </a:extraClrScheme>
    <a:extraClrScheme>
      <a:clrScheme name="Pixel 10">
        <a:dk1>
          <a:srgbClr val="000000"/>
        </a:dk1>
        <a:lt1>
          <a:srgbClr val="FFFFFF"/>
        </a:lt1>
        <a:dk2>
          <a:srgbClr val="000000"/>
        </a:dk2>
        <a:lt2>
          <a:srgbClr val="FF9900"/>
        </a:lt2>
        <a:accent1>
          <a:srgbClr val="FFCC99"/>
        </a:accent1>
        <a:accent2>
          <a:srgbClr val="FBA313"/>
        </a:accent2>
        <a:accent3>
          <a:srgbClr val="FFFFFF"/>
        </a:accent3>
        <a:accent4>
          <a:srgbClr val="000000"/>
        </a:accent4>
        <a:accent5>
          <a:srgbClr val="FFE2CA"/>
        </a:accent5>
        <a:accent6>
          <a:srgbClr val="E39310"/>
        </a:accent6>
        <a:hlink>
          <a:srgbClr val="CC3300"/>
        </a:hlink>
        <a:folHlink>
          <a:srgbClr val="FCC66E"/>
        </a:folHlink>
      </a:clrScheme>
      <a:clrMap bg1="lt1" tx1="dk1" bg2="lt2" tx2="dk2" accent1="accent1" accent2="accent2" accent3="accent3" accent4="accent4" accent5="accent5" accent6="accent6" hlink="hlink" folHlink="folHlink"/>
    </a:extraClrScheme>
    <a:extraClrScheme>
      <a:clrScheme name="Pixel 11">
        <a:dk1>
          <a:srgbClr val="000000"/>
        </a:dk1>
        <a:lt1>
          <a:srgbClr val="FFFFFF"/>
        </a:lt1>
        <a:dk2>
          <a:srgbClr val="000000"/>
        </a:dk2>
        <a:lt2>
          <a:srgbClr val="779F92"/>
        </a:lt2>
        <a:accent1>
          <a:srgbClr val="33CCCC"/>
        </a:accent1>
        <a:accent2>
          <a:srgbClr val="9DC2D7"/>
        </a:accent2>
        <a:accent3>
          <a:srgbClr val="FFFFFF"/>
        </a:accent3>
        <a:accent4>
          <a:srgbClr val="000000"/>
        </a:accent4>
        <a:accent5>
          <a:srgbClr val="ADE2E2"/>
        </a:accent5>
        <a:accent6>
          <a:srgbClr val="8EB0C3"/>
        </a:accent6>
        <a:hlink>
          <a:srgbClr val="006666"/>
        </a:hlink>
        <a:folHlink>
          <a:srgbClr val="CCCCFF"/>
        </a:folHlink>
      </a:clrScheme>
      <a:clrMap bg1="lt1" tx1="dk1" bg2="lt2" tx2="dk2" accent1="accent1" accent2="accent2" accent3="accent3" accent4="accent4" accent5="accent5" accent6="accent6" hlink="hlink" folHlink="folHlink"/>
    </a:extraClrScheme>
    <a:extraClrScheme>
      <a:clrScheme name="Pixel 12">
        <a:dk1>
          <a:srgbClr val="000000"/>
        </a:dk1>
        <a:lt1>
          <a:srgbClr val="FFFFFF"/>
        </a:lt1>
        <a:dk2>
          <a:srgbClr val="000000"/>
        </a:dk2>
        <a:lt2>
          <a:srgbClr val="00007D"/>
        </a:lt2>
        <a:accent1>
          <a:srgbClr val="9999FF"/>
        </a:accent1>
        <a:accent2>
          <a:srgbClr val="9999CC"/>
        </a:accent2>
        <a:accent3>
          <a:srgbClr val="FFFFFF"/>
        </a:accent3>
        <a:accent4>
          <a:srgbClr val="000000"/>
        </a:accent4>
        <a:accent5>
          <a:srgbClr val="CACAFF"/>
        </a:accent5>
        <a:accent6>
          <a:srgbClr val="8A8AB9"/>
        </a:accent6>
        <a:hlink>
          <a:srgbClr val="666699"/>
        </a:hlink>
        <a:folHlink>
          <a:srgbClr val="CCCCE6"/>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3438</TotalTime>
  <Words>3934</Words>
  <Application>Microsoft Office PowerPoint</Application>
  <PresentationFormat>On-screen Show (4:3)</PresentationFormat>
  <Paragraphs>466</Paragraphs>
  <Slides>81</Slides>
  <Notes>1</Notes>
  <HiddenSlides>0</HiddenSlides>
  <MMClips>0</MMClips>
  <ScaleCrop>false</ScaleCrop>
  <HeadingPairs>
    <vt:vector size="4" baseType="variant">
      <vt:variant>
        <vt:lpstr>Theme</vt:lpstr>
      </vt:variant>
      <vt:variant>
        <vt:i4>2</vt:i4>
      </vt:variant>
      <vt:variant>
        <vt:lpstr>Slide Titles</vt:lpstr>
      </vt:variant>
      <vt:variant>
        <vt:i4>81</vt:i4>
      </vt:variant>
    </vt:vector>
  </HeadingPairs>
  <TitlesOfParts>
    <vt:vector size="83" baseType="lpstr">
      <vt:lpstr>Office Theme</vt:lpstr>
      <vt:lpstr>Pixel</vt:lpstr>
      <vt:lpstr> SPPU BE E&amp;TC FDP    </vt:lpstr>
      <vt:lpstr>Unit 2</vt:lpstr>
      <vt:lpstr>Need of State Machines</vt:lpstr>
      <vt:lpstr>State Diagram</vt:lpstr>
      <vt:lpstr>Finite State Machines  </vt:lpstr>
      <vt:lpstr>Moore and Mealy FSM </vt:lpstr>
      <vt:lpstr>Slide 7</vt:lpstr>
      <vt:lpstr>State table</vt:lpstr>
      <vt:lpstr>Slide 9</vt:lpstr>
      <vt:lpstr>Slide 10</vt:lpstr>
      <vt:lpstr>Slide 11</vt:lpstr>
      <vt:lpstr>Slide 12</vt:lpstr>
      <vt:lpstr>Slide 13</vt:lpstr>
      <vt:lpstr>VHDL Code for Moore FSM</vt:lpstr>
      <vt:lpstr>Slide 15</vt:lpstr>
      <vt:lpstr>Mealy FSM </vt:lpstr>
      <vt:lpstr>Slide 17</vt:lpstr>
      <vt:lpstr>Slide 18</vt:lpstr>
      <vt:lpstr>Mealy Machine</vt:lpstr>
      <vt:lpstr>Slide 20</vt:lpstr>
      <vt:lpstr>Meta-stability</vt:lpstr>
      <vt:lpstr>WHAT IS METASTABILITY? </vt:lpstr>
      <vt:lpstr>WHAT ARE THE CASES, WHEN METASTABILITY OCCURS? </vt:lpstr>
      <vt:lpstr>HOW TO MINIMIZE METASTABILITY? </vt:lpstr>
      <vt:lpstr>Noise margin</vt:lpstr>
      <vt:lpstr>Noise Margin</vt:lpstr>
      <vt:lpstr>Noise Margin------</vt:lpstr>
      <vt:lpstr>Slide 28</vt:lpstr>
      <vt:lpstr>Speed Performance</vt:lpstr>
      <vt:lpstr>Clock skew</vt:lpstr>
      <vt:lpstr>Clock Skew--</vt:lpstr>
      <vt:lpstr>Positive Clock Skew:-Clock and data flow in the same direction</vt:lpstr>
      <vt:lpstr>Negative Clock Skew-Clock and data flow in opposite directions</vt:lpstr>
      <vt:lpstr>Clock Jitter- Deviation of clock edge from its ideal location in time. Misalignment of significant edges of a digital signal from their ideal positions in time. Clock jitter is typically caused by clock generator circuitry, noise, power supply variations, interference from nearby circuitry etc.</vt:lpstr>
      <vt:lpstr>Clock distribution tree</vt:lpstr>
      <vt:lpstr>Clock distribution</vt:lpstr>
      <vt:lpstr>H Tree</vt:lpstr>
      <vt:lpstr>Slide 38</vt:lpstr>
      <vt:lpstr>Clock Jitter</vt:lpstr>
      <vt:lpstr>Types of Jitter</vt:lpstr>
      <vt:lpstr> Supply and Ground Bounce ___________________________________</vt:lpstr>
      <vt:lpstr>Slide 42</vt:lpstr>
      <vt:lpstr> Supply and Ground Bounce ___________________________________</vt:lpstr>
      <vt:lpstr>Power distribution Techniques</vt:lpstr>
      <vt:lpstr>  Power Distribution Techniques  ___________________________________</vt:lpstr>
      <vt:lpstr>Slide 46</vt:lpstr>
      <vt:lpstr> Power Distribution Techniques ___________________________________</vt:lpstr>
      <vt:lpstr>Interconnect Routing</vt:lpstr>
      <vt:lpstr> Interconnect Routing Techniques ___________________________________</vt:lpstr>
      <vt:lpstr> Interconnect Routing Techniques ___________________________________</vt:lpstr>
      <vt:lpstr> Power Optimization: Logic Gates ___________________________________</vt:lpstr>
      <vt:lpstr>Glitches and Power _______________________________________________</vt:lpstr>
      <vt:lpstr>Wire Parasitic</vt:lpstr>
      <vt:lpstr> Wire Parasitic ___________________________________</vt:lpstr>
      <vt:lpstr> Wire Parasitic ___________________________________</vt:lpstr>
      <vt:lpstr>Capacitive coupling between signals on the same and different layers ___________________________________.</vt:lpstr>
      <vt:lpstr>Signal Integrity Issues</vt:lpstr>
      <vt:lpstr> Signal Integrity ___________________________________</vt:lpstr>
      <vt:lpstr> Signal Integrity Issues ___________________________________</vt:lpstr>
      <vt:lpstr>Rise Time and SI ___________________________________</vt:lpstr>
      <vt:lpstr>Rise Time and SI ___________________________________</vt:lpstr>
      <vt:lpstr>Transmission Lines ___________________________________</vt:lpstr>
      <vt:lpstr>Reflection ___________________________________</vt:lpstr>
      <vt:lpstr>Reflection ___________________________________</vt:lpstr>
      <vt:lpstr>Crosstalk ___________________________________</vt:lpstr>
      <vt:lpstr>Slide 66</vt:lpstr>
      <vt:lpstr>Guidelines for reducing the crosstalk ___________________________________</vt:lpstr>
      <vt:lpstr>Signal Integrity Analysis</vt:lpstr>
      <vt:lpstr> I/O Architecture ___________________________________</vt:lpstr>
      <vt:lpstr>Slide 70</vt:lpstr>
      <vt:lpstr>Architecture of a pad frame ___________________________________</vt:lpstr>
      <vt:lpstr>Pad Frame ___________________________________</vt:lpstr>
      <vt:lpstr>Slide 73</vt:lpstr>
      <vt:lpstr>Slide 74</vt:lpstr>
      <vt:lpstr> Pad Design ___________________________________</vt:lpstr>
      <vt:lpstr>Input pads ___________________________________</vt:lpstr>
      <vt:lpstr>Slide 77</vt:lpstr>
      <vt:lpstr>Output pads ___________________________________</vt:lpstr>
      <vt:lpstr>Output pads ___________________________________</vt:lpstr>
      <vt:lpstr>A three-state pad circuit ___________________________________</vt:lpstr>
      <vt:lpstr>Thank you</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Finite State Machines</dc:title>
  <dc:creator>Rugved Futane</dc:creator>
  <cp:lastModifiedBy>Student</cp:lastModifiedBy>
  <cp:revision>89</cp:revision>
  <dcterms:created xsi:type="dcterms:W3CDTF">2018-07-09T14:56:19Z</dcterms:created>
  <dcterms:modified xsi:type="dcterms:W3CDTF">2023-01-18T05:31:23Z</dcterms:modified>
</cp:coreProperties>
</file>