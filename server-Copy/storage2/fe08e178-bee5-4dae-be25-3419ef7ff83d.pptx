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64" r:id="rId1"/>
  </p:sldMasterIdLst>
  <p:sldIdLst>
    <p:sldId id="256" r:id="rId2"/>
    <p:sldId id="257" r:id="rId3"/>
    <p:sldId id="258" r:id="rId4"/>
    <p:sldId id="259" r:id="rId5"/>
    <p:sldId id="265" r:id="rId6"/>
    <p:sldId id="260" r:id="rId7"/>
    <p:sldId id="261" r:id="rId8"/>
    <p:sldId id="262" r:id="rId9"/>
    <p:sldId id="263" r:id="rId10"/>
    <p:sldId id="264" r:id="rId11"/>
  </p:sldIdLst>
  <p:sldSz cx="18288000" cy="10287000"/>
  <p:notesSz cx="6858000" cy="9144000"/>
  <p:embeddedFontLst>
    <p:embeddedFont>
      <p:font typeface="Times New Roman Bold" panose="02020803070505020304" pitchFamily="18"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96865-F7CF-E4A6-CBA8-1D913EE95AC8}"/>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IN"/>
          </a:p>
        </p:txBody>
      </p:sp>
      <p:sp>
        <p:nvSpPr>
          <p:cNvPr id="3" name="Subtitle 2">
            <a:extLst>
              <a:ext uri="{FF2B5EF4-FFF2-40B4-BE49-F238E27FC236}">
                <a16:creationId xmlns:a16="http://schemas.microsoft.com/office/drawing/2014/main" id="{94087D42-3B10-BABF-9676-8C62463C3CA8}"/>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C77E744-3902-C512-0D3D-B21E8219EE59}"/>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a:extLst>
              <a:ext uri="{FF2B5EF4-FFF2-40B4-BE49-F238E27FC236}">
                <a16:creationId xmlns:a16="http://schemas.microsoft.com/office/drawing/2014/main" id="{5F4A5A08-DF2E-FBFA-0515-8659F9D253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0D8724-6A6B-3E72-61B6-1983AC006A9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98554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9E19C-6A93-B6FF-D46C-F050B7E983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040644-4993-4DF6-85AD-F24634C4E0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03831C-0243-C1FF-44CE-6C4425A9CE3B}"/>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a:extLst>
              <a:ext uri="{FF2B5EF4-FFF2-40B4-BE49-F238E27FC236}">
                <a16:creationId xmlns:a16="http://schemas.microsoft.com/office/drawing/2014/main" id="{C50AEA58-C67C-BAF5-AAE9-346E47B75A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1705FC-853E-6647-830A-3484376E5D9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5454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E660A-2B2C-3706-0DD6-10B0910EA9D4}"/>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181126-B02F-F451-5D94-D3CDE4B5C47A}"/>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D778DB-1AFF-DE06-D799-C6221E53CC26}"/>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a:extLst>
              <a:ext uri="{FF2B5EF4-FFF2-40B4-BE49-F238E27FC236}">
                <a16:creationId xmlns:a16="http://schemas.microsoft.com/office/drawing/2014/main" id="{0F2AEC21-2168-7696-2B00-ECDB989404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63E995-0BA8-01F3-EF0D-7219AEF771F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07811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571E7-F07F-DE67-9105-79CCFA3EC3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00420C-46A6-B0ED-357F-D2B94B740C33}"/>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22F6AA-FE22-73A3-E818-48140CC8B58B}"/>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B87678-42AD-1EB2-AF25-5AAE4A36247A}"/>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a:extLst>
              <a:ext uri="{FF2B5EF4-FFF2-40B4-BE49-F238E27FC236}">
                <a16:creationId xmlns:a16="http://schemas.microsoft.com/office/drawing/2014/main" id="{2475FCD3-6FC4-8E51-E8F3-5C7A8E78C5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8C667C-2C3A-CFD3-D45F-ECAAF84FA53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20043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E6E6A-E541-C83A-5A46-671DDF98F64E}"/>
              </a:ext>
            </a:extLst>
          </p:cNvPr>
          <p:cNvSpPr>
            <a:spLocks noGrp="1"/>
          </p:cNvSpPr>
          <p:nvPr>
            <p:ph type="title"/>
          </p:nvPr>
        </p:nvSpPr>
        <p:spPr>
          <a:xfrm>
            <a:off x="1259682" y="547688"/>
            <a:ext cx="15773400" cy="198834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EC196C-E1D9-8AD2-E767-BE197670E610}"/>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E04ED4F4-696D-B712-B118-669D2A2D1368}"/>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6919AB9-2C16-145A-AAA2-577A89EC1EB4}"/>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426CEE8D-25EF-7946-0AC3-D9B88C0FFE68}"/>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EE4D06-7DE5-76B6-7A2C-C2F06E038C15}"/>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8" name="Footer Placeholder 7">
            <a:extLst>
              <a:ext uri="{FF2B5EF4-FFF2-40B4-BE49-F238E27FC236}">
                <a16:creationId xmlns:a16="http://schemas.microsoft.com/office/drawing/2014/main" id="{2EC5F7F1-2B24-BD29-75EB-95447F891C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E802D1-0D0A-DA7B-9505-129D16DCC3A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87800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50D71-56B2-E083-62B7-E7200D2937E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B694BD-ED84-664E-0C19-AF593DA298A6}"/>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4" name="Footer Placeholder 3">
            <a:extLst>
              <a:ext uri="{FF2B5EF4-FFF2-40B4-BE49-F238E27FC236}">
                <a16:creationId xmlns:a16="http://schemas.microsoft.com/office/drawing/2014/main" id="{6FC98DA4-0ECF-98C3-387A-F0A4EFC659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73E31F-9AD8-B5C6-DF25-862EA953AD4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0265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934387-50A2-BD46-5E23-E2297D617875}"/>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3" name="Footer Placeholder 2">
            <a:extLst>
              <a:ext uri="{FF2B5EF4-FFF2-40B4-BE49-F238E27FC236}">
                <a16:creationId xmlns:a16="http://schemas.microsoft.com/office/drawing/2014/main" id="{BAF56772-35F3-F219-2AB5-4A2CC39D02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E54BD8-AA7D-83E8-5801-8C70D6DDA1D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1084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2966-1C59-F540-AEC5-7D0244F16752}"/>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B77BDB7-0B4D-85CF-E536-04122D47118A}"/>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567F5BD-FD49-691A-48F4-039AE1093811}"/>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B0EE8260-BC51-D93C-9985-840704E55724}"/>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a:extLst>
              <a:ext uri="{FF2B5EF4-FFF2-40B4-BE49-F238E27FC236}">
                <a16:creationId xmlns:a16="http://schemas.microsoft.com/office/drawing/2014/main" id="{8D66622E-6B0C-842C-6E41-1A16A94F32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C71954-3FD4-959B-156D-B30335A4D41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2550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63717-4055-E067-1217-C6C07D0D765F}"/>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62C1E5-6324-0DF5-044B-AB095DD9B36E}"/>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IN"/>
          </a:p>
        </p:txBody>
      </p:sp>
      <p:sp>
        <p:nvSpPr>
          <p:cNvPr id="4" name="Text Placeholder 3">
            <a:extLst>
              <a:ext uri="{FF2B5EF4-FFF2-40B4-BE49-F238E27FC236}">
                <a16:creationId xmlns:a16="http://schemas.microsoft.com/office/drawing/2014/main" id="{AB572E21-1CAE-BAFE-B435-205C3FC41A8F}"/>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490BE9DD-E37F-69AB-D93A-D06FE022664A}"/>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a:extLst>
              <a:ext uri="{FF2B5EF4-FFF2-40B4-BE49-F238E27FC236}">
                <a16:creationId xmlns:a16="http://schemas.microsoft.com/office/drawing/2014/main" id="{7D3C6315-5964-683F-7CBA-518FE085C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02E405-B044-9E1F-36BC-3C4D9C92F4F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6628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65038-1AEA-E0EF-39C8-43C05B9869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C5B0AF-17C1-92C8-7457-07777682A5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F9F6DC-90B0-3614-A42E-109884DD32CD}"/>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a:extLst>
              <a:ext uri="{FF2B5EF4-FFF2-40B4-BE49-F238E27FC236}">
                <a16:creationId xmlns:a16="http://schemas.microsoft.com/office/drawing/2014/main" id="{D8133B47-E74D-FEFE-DA71-DB82575984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5297F3-1309-33AE-85CF-BC96782B8CAC}"/>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53469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A0DFA8-1091-2EB8-727C-F27B24221F44}"/>
              </a:ext>
            </a:extLst>
          </p:cNvPr>
          <p:cNvSpPr>
            <a:spLocks noGrp="1"/>
          </p:cNvSpPr>
          <p:nvPr>
            <p:ph type="title" orient="vert"/>
          </p:nvPr>
        </p:nvSpPr>
        <p:spPr>
          <a:xfrm>
            <a:off x="13087350" y="547688"/>
            <a:ext cx="3943350" cy="871775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3C0349-9E9B-48DA-FC28-BC91D5CDB17C}"/>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64E2AF-6846-EAF5-A23A-896EF5DC97E6}"/>
              </a:ext>
            </a:extLst>
          </p:cNvPr>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a:extLst>
              <a:ext uri="{FF2B5EF4-FFF2-40B4-BE49-F238E27FC236}">
                <a16:creationId xmlns:a16="http://schemas.microsoft.com/office/drawing/2014/main" id="{2216949D-A7B0-A78A-F063-F4692CA2FF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EAD903-9959-CEC2-316E-72C73C711DE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7035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AB705B-952E-6998-5000-FC87FB5C7050}"/>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9FCAD0-41C9-9F08-8D79-CB49E607DFDC}"/>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A96B71-33EE-3988-96E4-5D0B8C3FADC9}"/>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pPr/>
              <a:t>10/20/2025</a:t>
            </a:fld>
            <a:endParaRPr lang="en-US"/>
          </a:p>
        </p:txBody>
      </p:sp>
      <p:sp>
        <p:nvSpPr>
          <p:cNvPr id="5" name="Footer Placeholder 4">
            <a:extLst>
              <a:ext uri="{FF2B5EF4-FFF2-40B4-BE49-F238E27FC236}">
                <a16:creationId xmlns:a16="http://schemas.microsoft.com/office/drawing/2014/main" id="{F2804E9F-9B56-2AA7-39DB-93C9B6D98D3B}"/>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5308357-214F-CCF5-A4F5-826BB01B0C33}"/>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571606456"/>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hyperlink" Target="https://www.elviserp.com/case-study/case-study-deploying-an-education-erp-system/" TargetMode="External"/><Relationship Id="rId3" Type="http://schemas.openxmlformats.org/officeDocument/2006/relationships/hyperlink" Target="https://ibef.org/blogs/digital-education-initiatives" TargetMode="External"/><Relationship Id="rId7" Type="http://schemas.openxmlformats.org/officeDocument/2006/relationships/hyperlink" Target="https://timesofindia.indiatimes.com/education/news/ugc-approves-101-universities-for-online-and-distance-learning-in-academic-session-2025-26-check-details-here/articleshow/124360410.cms"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aicte.gov.in/schemes/students-development-schemes" TargetMode="External"/><Relationship Id="rId5" Type="http://schemas.openxmlformats.org/officeDocument/2006/relationships/hyperlink" Target="https://www.ndear.gov.in/" TargetMode="External"/><Relationship Id="rId4" Type="http://schemas.openxmlformats.org/officeDocument/2006/relationships/hyperlink" Target="https://education.hp.gov.in/sites/default/files/guidelines.pdf" TargetMode="External"/><Relationship Id="rId9" Type="http://schemas.openxmlformats.org/officeDocument/2006/relationships/hyperlink" Target="https://scholarworks.waldenu.edu/cgi/viewcontent.cgi?article=10553&amp;context=disserta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12" name="TextBox 12"/>
          <p:cNvSpPr txBox="1"/>
          <p:nvPr/>
        </p:nvSpPr>
        <p:spPr>
          <a:xfrm>
            <a:off x="838200" y="1828116"/>
            <a:ext cx="12577760" cy="5453062"/>
          </a:xfrm>
          <a:prstGeom prst="rect">
            <a:avLst/>
          </a:prstGeom>
        </p:spPr>
        <p:txBody>
          <a:bodyPr vert="horz" lIns="91440" tIns="45720" rIns="91440" bIns="45720" rtlCol="0">
            <a:normAutofit fontScale="77500" lnSpcReduction="20000"/>
          </a:bodyPr>
          <a:lstStyle/>
          <a:p>
            <a:pPr defTabSz="914400">
              <a:lnSpc>
                <a:spcPct val="120000"/>
              </a:lnSpc>
              <a:spcAft>
                <a:spcPts val="600"/>
              </a:spcAft>
              <a:buSzPct val="125000"/>
            </a:pPr>
            <a:r>
              <a:rPr lang="en-US" sz="3600" b="1" dirty="0" err="1">
                <a:effectLst>
                  <a:outerShdw blurRad="50800" dist="38100" dir="2700000" algn="tl" rotWithShape="0">
                    <a:srgbClr val="000000">
                      <a:alpha val="48000"/>
                    </a:srgbClr>
                  </a:outerShdw>
                </a:effectLst>
                <a:sym typeface="Times New Roman Bold"/>
              </a:rPr>
              <a:t>Title:ERP</a:t>
            </a:r>
            <a:r>
              <a:rPr lang="en-US" sz="3600" b="1" dirty="0">
                <a:effectLst>
                  <a:outerShdw blurRad="50800" dist="38100" dir="2700000" algn="tl" rotWithShape="0">
                    <a:srgbClr val="000000">
                      <a:alpha val="48000"/>
                    </a:srgbClr>
                  </a:outerShdw>
                </a:effectLst>
                <a:sym typeface="Times New Roman Bold"/>
              </a:rPr>
              <a:t> for Student Management System</a:t>
            </a:r>
          </a:p>
          <a:p>
            <a:pPr defTabSz="914400">
              <a:lnSpc>
                <a:spcPct val="120000"/>
              </a:lnSpc>
              <a:spcAft>
                <a:spcPts val="600"/>
              </a:spcAft>
              <a:buSzPct val="125000"/>
            </a:pPr>
            <a:endParaRPr lang="en-US" sz="3600" b="1" dirty="0">
              <a:effectLst>
                <a:outerShdw blurRad="50800" dist="38100" dir="2700000" algn="tl" rotWithShape="0">
                  <a:srgbClr val="000000">
                    <a:alpha val="48000"/>
                  </a:srgbClr>
                </a:outerShdw>
              </a:effectLst>
              <a:sym typeface="Times New Roman Bold"/>
            </a:endParaRPr>
          </a:p>
          <a:p>
            <a:pPr defTabSz="914400">
              <a:lnSpc>
                <a:spcPct val="120000"/>
              </a:lnSpc>
              <a:spcAft>
                <a:spcPts val="600"/>
              </a:spcAft>
              <a:buSzPct val="125000"/>
            </a:pPr>
            <a:r>
              <a:rPr lang="en-US" sz="3600" b="1" dirty="0">
                <a:effectLst>
                  <a:outerShdw blurRad="50800" dist="38100" dir="2700000" algn="tl" rotWithShape="0">
                    <a:srgbClr val="000000">
                      <a:alpha val="48000"/>
                    </a:srgbClr>
                  </a:outerShdw>
                </a:effectLst>
                <a:sym typeface="Times New Roman Bold"/>
              </a:rPr>
              <a:t>Sector: Education</a:t>
            </a:r>
          </a:p>
          <a:p>
            <a:pPr defTabSz="914400">
              <a:lnSpc>
                <a:spcPct val="120000"/>
              </a:lnSpc>
              <a:spcAft>
                <a:spcPts val="600"/>
              </a:spcAft>
              <a:buSzPct val="125000"/>
            </a:pPr>
            <a:endParaRPr lang="en-US" sz="3600" b="1" dirty="0">
              <a:effectLst>
                <a:outerShdw blurRad="50800" dist="38100" dir="2700000" algn="tl" rotWithShape="0">
                  <a:srgbClr val="000000">
                    <a:alpha val="48000"/>
                  </a:srgbClr>
                </a:outerShdw>
              </a:effectLst>
              <a:sym typeface="Times New Roman Bold"/>
            </a:endParaRPr>
          </a:p>
          <a:p>
            <a:pPr defTabSz="914400">
              <a:lnSpc>
                <a:spcPct val="120000"/>
              </a:lnSpc>
              <a:spcAft>
                <a:spcPts val="600"/>
              </a:spcAft>
              <a:buSzPct val="125000"/>
            </a:pPr>
            <a:r>
              <a:rPr lang="en-US" sz="3600" b="1" dirty="0">
                <a:effectLst>
                  <a:outerShdw blurRad="50800" dist="38100" dir="2700000" algn="tl" rotWithShape="0">
                    <a:srgbClr val="000000">
                      <a:alpha val="48000"/>
                    </a:srgbClr>
                  </a:outerShdw>
                </a:effectLst>
                <a:sym typeface="Times New Roman Bold"/>
              </a:rPr>
              <a:t>Name of </a:t>
            </a:r>
            <a:r>
              <a:rPr lang="en-US" sz="3600" b="1" dirty="0" err="1">
                <a:effectLst>
                  <a:outerShdw blurRad="50800" dist="38100" dir="2700000" algn="tl" rotWithShape="0">
                    <a:srgbClr val="000000">
                      <a:alpha val="48000"/>
                    </a:srgbClr>
                  </a:outerShdw>
                </a:effectLst>
                <a:sym typeface="Times New Roman Bold"/>
              </a:rPr>
              <a:t>Institute:Government</a:t>
            </a:r>
            <a:r>
              <a:rPr lang="en-US" sz="3600" b="1" dirty="0">
                <a:effectLst>
                  <a:outerShdw blurRad="50800" dist="38100" dir="2700000" algn="tl" rotWithShape="0">
                    <a:srgbClr val="000000">
                      <a:alpha val="48000"/>
                    </a:srgbClr>
                  </a:outerShdw>
                </a:effectLst>
                <a:sym typeface="Times New Roman Bold"/>
              </a:rPr>
              <a:t> College Of Engineering And Research, </a:t>
            </a:r>
            <a:r>
              <a:rPr lang="en-US" sz="3600" b="1" dirty="0" err="1">
                <a:effectLst>
                  <a:outerShdw blurRad="50800" dist="38100" dir="2700000" algn="tl" rotWithShape="0">
                    <a:srgbClr val="000000">
                      <a:alpha val="48000"/>
                    </a:srgbClr>
                  </a:outerShdw>
                </a:effectLst>
                <a:sym typeface="Times New Roman Bold"/>
              </a:rPr>
              <a:t>Avasari</a:t>
            </a:r>
            <a:endParaRPr lang="en-US" sz="3600" b="1" dirty="0">
              <a:effectLst>
                <a:outerShdw blurRad="50800" dist="38100" dir="2700000" algn="tl" rotWithShape="0">
                  <a:srgbClr val="000000">
                    <a:alpha val="48000"/>
                  </a:srgbClr>
                </a:outerShdw>
              </a:effectLst>
              <a:sym typeface="Times New Roman Bold"/>
            </a:endParaRPr>
          </a:p>
          <a:p>
            <a:pPr defTabSz="914400">
              <a:lnSpc>
                <a:spcPct val="120000"/>
              </a:lnSpc>
              <a:spcAft>
                <a:spcPts val="600"/>
              </a:spcAft>
              <a:buSzPct val="125000"/>
            </a:pPr>
            <a:endParaRPr lang="en-US" sz="3600" b="1" dirty="0">
              <a:effectLst>
                <a:outerShdw blurRad="50800" dist="38100" dir="2700000" algn="tl" rotWithShape="0">
                  <a:srgbClr val="000000">
                    <a:alpha val="48000"/>
                  </a:srgbClr>
                </a:outerShdw>
              </a:effectLst>
              <a:sym typeface="Times New Roman Bold"/>
            </a:endParaRPr>
          </a:p>
          <a:p>
            <a:pPr defTabSz="914400">
              <a:lnSpc>
                <a:spcPct val="120000"/>
              </a:lnSpc>
              <a:spcAft>
                <a:spcPts val="600"/>
              </a:spcAft>
              <a:buSzPct val="125000"/>
            </a:pPr>
            <a:r>
              <a:rPr lang="en-US" sz="3600" b="1" dirty="0">
                <a:effectLst>
                  <a:outerShdw blurRad="50800" dist="38100" dir="2700000" algn="tl" rotWithShape="0">
                    <a:srgbClr val="000000">
                      <a:alpha val="48000"/>
                    </a:srgbClr>
                  </a:outerShdw>
                </a:effectLst>
                <a:sym typeface="Times New Roman Bold"/>
              </a:rPr>
              <a:t>Name of Participants: </a:t>
            </a:r>
          </a:p>
          <a:p>
            <a:pPr marL="285750" indent="-285750" defTabSz="914400">
              <a:lnSpc>
                <a:spcPct val="120000"/>
              </a:lnSpc>
              <a:spcAft>
                <a:spcPts val="600"/>
              </a:spcAft>
              <a:buSzPct val="125000"/>
              <a:buFont typeface="Arial" panose="020B0604020202020204" pitchFamily="34" charset="0"/>
              <a:buChar char="•"/>
            </a:pPr>
            <a:r>
              <a:rPr lang="en-US" sz="3600" b="1" dirty="0">
                <a:effectLst>
                  <a:outerShdw blurRad="50800" dist="38100" dir="2700000" algn="tl" rotWithShape="0">
                    <a:srgbClr val="000000">
                      <a:alpha val="48000"/>
                    </a:srgbClr>
                  </a:outerShdw>
                </a:effectLst>
                <a:sym typeface="Times New Roman Bold"/>
              </a:rPr>
              <a:t>  Prathamesh Sugriv Madane-BE E&amp;TC-Management</a:t>
            </a:r>
          </a:p>
          <a:p>
            <a:pPr marL="285750" indent="-285750" defTabSz="914400">
              <a:lnSpc>
                <a:spcPct val="120000"/>
              </a:lnSpc>
              <a:spcAft>
                <a:spcPts val="600"/>
              </a:spcAft>
              <a:buSzPct val="125000"/>
              <a:buFont typeface="Arial" panose="020B0604020202020204" pitchFamily="34" charset="0"/>
              <a:buChar char="•"/>
            </a:pPr>
            <a:r>
              <a:rPr lang="en-US" sz="3600" b="1" dirty="0">
                <a:effectLst>
                  <a:outerShdw blurRad="50800" dist="38100" dir="2700000" algn="tl" rotWithShape="0">
                    <a:srgbClr val="000000">
                      <a:alpha val="48000"/>
                    </a:srgbClr>
                  </a:outerShdw>
                </a:effectLst>
                <a:sym typeface="Times New Roman Bold"/>
              </a:rPr>
              <a:t>  Tushar Sunil Pawar-BE Computer-Marketing And Finance</a:t>
            </a:r>
          </a:p>
          <a:p>
            <a:pPr marL="285750" indent="-285750" defTabSz="914400">
              <a:lnSpc>
                <a:spcPct val="120000"/>
              </a:lnSpc>
              <a:spcAft>
                <a:spcPts val="600"/>
              </a:spcAft>
              <a:buSzPct val="125000"/>
              <a:buFont typeface="Arial" panose="020B0604020202020204" pitchFamily="34" charset="0"/>
              <a:buChar char="•"/>
            </a:pPr>
            <a:r>
              <a:rPr lang="en-US" sz="3600" b="1" dirty="0">
                <a:effectLst>
                  <a:outerShdw blurRad="50800" dist="38100" dir="2700000" algn="tl" rotWithShape="0">
                    <a:srgbClr val="000000">
                      <a:alpha val="48000"/>
                    </a:srgbClr>
                  </a:outerShdw>
                </a:effectLst>
                <a:sym typeface="Times New Roman Bold"/>
              </a:rPr>
              <a:t>  Prathamesh </a:t>
            </a:r>
            <a:r>
              <a:rPr lang="en-US" sz="3600" b="1" dirty="0" err="1">
                <a:effectLst>
                  <a:outerShdw blurRad="50800" dist="38100" dir="2700000" algn="tl" rotWithShape="0">
                    <a:srgbClr val="000000">
                      <a:alpha val="48000"/>
                    </a:srgbClr>
                  </a:outerShdw>
                </a:effectLst>
                <a:sym typeface="Times New Roman Bold"/>
              </a:rPr>
              <a:t>Appasaheb</a:t>
            </a:r>
            <a:r>
              <a:rPr lang="en-US" sz="3600" b="1" dirty="0">
                <a:effectLst>
                  <a:outerShdw blurRad="50800" dist="38100" dir="2700000" algn="tl" rotWithShape="0">
                    <a:srgbClr val="000000">
                      <a:alpha val="48000"/>
                    </a:srgbClr>
                  </a:outerShdw>
                </a:effectLst>
                <a:sym typeface="Times New Roman Bold"/>
              </a:rPr>
              <a:t> </a:t>
            </a:r>
            <a:r>
              <a:rPr lang="en-US" sz="3600" b="1" dirty="0" err="1">
                <a:effectLst>
                  <a:outerShdw blurRad="50800" dist="38100" dir="2700000" algn="tl" rotWithShape="0">
                    <a:srgbClr val="000000">
                      <a:alpha val="48000"/>
                    </a:srgbClr>
                  </a:outerShdw>
                </a:effectLst>
                <a:sym typeface="Times New Roman Bold"/>
              </a:rPr>
              <a:t>Gursal</a:t>
            </a:r>
            <a:r>
              <a:rPr lang="en-US" sz="3600" b="1" dirty="0">
                <a:effectLst>
                  <a:outerShdw blurRad="50800" dist="38100" dir="2700000" algn="tl" rotWithShape="0">
                    <a:srgbClr val="000000">
                      <a:alpha val="48000"/>
                    </a:srgbClr>
                  </a:outerShdw>
                </a:effectLst>
                <a:sym typeface="Times New Roman Bold"/>
              </a:rPr>
              <a:t>-BE Computer-Technical</a:t>
            </a:r>
          </a:p>
          <a:p>
            <a:pPr defTabSz="914400">
              <a:lnSpc>
                <a:spcPct val="120000"/>
              </a:lnSpc>
              <a:spcAft>
                <a:spcPts val="600"/>
              </a:spcAft>
              <a:buSzPct val="125000"/>
            </a:pPr>
            <a:endParaRPr lang="en-US" b="1" dirty="0">
              <a:effectLst>
                <a:outerShdw blurRad="50800" dist="38100" dir="2700000" algn="tl" rotWithShape="0">
                  <a:srgbClr val="000000">
                    <a:alpha val="48000"/>
                  </a:srgbClr>
                </a:outerShdw>
              </a:effectLst>
              <a:sym typeface="Times New Roman Bold"/>
            </a:endParaRPr>
          </a:p>
        </p:txBody>
      </p:sp>
      <p:grpSp>
        <p:nvGrpSpPr>
          <p:cNvPr id="10" name="Group 10"/>
          <p:cNvGrpSpPr/>
          <p:nvPr/>
        </p:nvGrpSpPr>
        <p:grpSpPr>
          <a:xfrm>
            <a:off x="16403932" y="8504212"/>
            <a:ext cx="1852611" cy="179707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en-IN"/>
            </a:p>
          </p:txBody>
        </p:sp>
      </p:grpSp>
      <p:grpSp>
        <p:nvGrpSpPr>
          <p:cNvPr id="2" name="Group 2"/>
          <p:cNvGrpSpPr/>
          <p:nvPr/>
        </p:nvGrpSpPr>
        <p:grpSpPr>
          <a:xfrm>
            <a:off x="6629401" y="93552"/>
            <a:ext cx="6477000" cy="1279745"/>
            <a:chOff x="0" y="-192881"/>
            <a:chExt cx="12168106" cy="4587939"/>
          </a:xfrm>
        </p:grpSpPr>
        <p:grpSp>
          <p:nvGrpSpPr>
            <p:cNvPr id="3" name="Group 3"/>
            <p:cNvGrpSpPr/>
            <p:nvPr/>
          </p:nvGrpSpPr>
          <p:grpSpPr>
            <a:xfrm>
              <a:off x="0" y="-192881"/>
              <a:ext cx="12168106" cy="4587939"/>
              <a:chOff x="0" y="-38100"/>
              <a:chExt cx="2403576" cy="906260"/>
            </a:xfrm>
          </p:grpSpPr>
          <p:sp>
            <p:nvSpPr>
              <p:cNvPr id="4" name="Freeform 4"/>
              <p:cNvSpPr/>
              <p:nvPr/>
            </p:nvSpPr>
            <p:spPr>
              <a:xfrm>
                <a:off x="0" y="0"/>
                <a:ext cx="2403576" cy="868160"/>
              </a:xfrm>
              <a:custGeom>
                <a:avLst/>
                <a:gdLst/>
                <a:ahLst/>
                <a:cxnLst/>
                <a:rect l="l" t="t" r="r" b="b"/>
                <a:pathLst>
                  <a:path w="2403576" h="868160">
                    <a:moveTo>
                      <a:pt x="67018" y="0"/>
                    </a:moveTo>
                    <a:lnTo>
                      <a:pt x="2336558" y="0"/>
                    </a:lnTo>
                    <a:cubicBezTo>
                      <a:pt x="2373571" y="0"/>
                      <a:pt x="2403576" y="30005"/>
                      <a:pt x="2403576" y="67018"/>
                    </a:cubicBezTo>
                    <a:lnTo>
                      <a:pt x="2403576" y="801142"/>
                    </a:lnTo>
                    <a:cubicBezTo>
                      <a:pt x="2403576" y="818916"/>
                      <a:pt x="2396515" y="835962"/>
                      <a:pt x="2383947" y="848531"/>
                    </a:cubicBezTo>
                    <a:cubicBezTo>
                      <a:pt x="2371378" y="861099"/>
                      <a:pt x="2354332" y="868160"/>
                      <a:pt x="2336558" y="868160"/>
                    </a:cubicBezTo>
                    <a:lnTo>
                      <a:pt x="67018" y="868160"/>
                    </a:lnTo>
                    <a:cubicBezTo>
                      <a:pt x="30005" y="868160"/>
                      <a:pt x="0" y="838155"/>
                      <a:pt x="0" y="801142"/>
                    </a:cubicBezTo>
                    <a:lnTo>
                      <a:pt x="0" y="67018"/>
                    </a:lnTo>
                    <a:cubicBezTo>
                      <a:pt x="0" y="49244"/>
                      <a:pt x="7061" y="32197"/>
                      <a:pt x="19629" y="19629"/>
                    </a:cubicBezTo>
                    <a:cubicBezTo>
                      <a:pt x="32197" y="7061"/>
                      <a:pt x="49244" y="0"/>
                      <a:pt x="67018" y="0"/>
                    </a:cubicBezTo>
                    <a:close/>
                  </a:path>
                </a:pathLst>
              </a:custGeom>
              <a:solidFill>
                <a:srgbClr val="231168"/>
              </a:solidFill>
            </p:spPr>
            <p:txBody>
              <a:bodyPr/>
              <a:lstStyle/>
              <a:p>
                <a:endParaRPr lang="en-IN"/>
              </a:p>
            </p:txBody>
          </p:sp>
          <p:sp>
            <p:nvSpPr>
              <p:cNvPr id="5" name="TextBox 5"/>
              <p:cNvSpPr txBox="1"/>
              <p:nvPr/>
            </p:nvSpPr>
            <p:spPr>
              <a:xfrm>
                <a:off x="0" y="-38100"/>
                <a:ext cx="2403575" cy="90626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15900" y="1883551"/>
              <a:ext cx="3913319" cy="1824274"/>
            </a:xfrm>
            <a:custGeom>
              <a:avLst/>
              <a:gdLst/>
              <a:ahLst/>
              <a:cxnLst/>
              <a:rect l="l" t="t" r="r" b="b"/>
              <a:pathLst>
                <a:path w="3913319" h="1824274">
                  <a:moveTo>
                    <a:pt x="0" y="0"/>
                  </a:moveTo>
                  <a:lnTo>
                    <a:pt x="3913319" y="0"/>
                  </a:lnTo>
                  <a:lnTo>
                    <a:pt x="3913319" y="1824274"/>
                  </a:lnTo>
                  <a:lnTo>
                    <a:pt x="0" y="1824274"/>
                  </a:lnTo>
                  <a:lnTo>
                    <a:pt x="0" y="0"/>
                  </a:lnTo>
                  <a:close/>
                </a:path>
              </a:pathLst>
            </a:custGeom>
            <a:blipFill>
              <a:blip r:embed="rId4"/>
              <a:stretch>
                <a:fillRect/>
              </a:stretch>
            </a:blipFill>
          </p:spPr>
          <p:txBody>
            <a:bodyPr/>
            <a:lstStyle/>
            <a:p>
              <a:endParaRPr lang="en-IN"/>
            </a:p>
          </p:txBody>
        </p:sp>
        <p:sp>
          <p:nvSpPr>
            <p:cNvPr id="7" name="Freeform 7"/>
            <p:cNvSpPr/>
            <p:nvPr/>
          </p:nvSpPr>
          <p:spPr>
            <a:xfrm>
              <a:off x="4040319" y="1445264"/>
              <a:ext cx="1466168" cy="2516061"/>
            </a:xfrm>
            <a:custGeom>
              <a:avLst/>
              <a:gdLst/>
              <a:ahLst/>
              <a:cxnLst/>
              <a:rect l="l" t="t" r="r" b="b"/>
              <a:pathLst>
                <a:path w="1466168" h="2516061">
                  <a:moveTo>
                    <a:pt x="0" y="0"/>
                  </a:moveTo>
                  <a:lnTo>
                    <a:pt x="1466169" y="0"/>
                  </a:lnTo>
                  <a:lnTo>
                    <a:pt x="1466169" y="2516061"/>
                  </a:lnTo>
                  <a:lnTo>
                    <a:pt x="0" y="2516061"/>
                  </a:lnTo>
                  <a:lnTo>
                    <a:pt x="0" y="0"/>
                  </a:lnTo>
                  <a:close/>
                </a:path>
              </a:pathLst>
            </a:custGeom>
            <a:blipFill>
              <a:blip r:embed="rId5"/>
              <a:stretch>
                <a:fillRect l="-102939" r="-101536" b="-20593"/>
              </a:stretch>
            </a:blipFill>
          </p:spPr>
          <p:txBody>
            <a:bodyPr/>
            <a:lstStyle/>
            <a:p>
              <a:endParaRPr lang="en-IN"/>
            </a:p>
          </p:txBody>
        </p:sp>
        <p:sp>
          <p:nvSpPr>
            <p:cNvPr id="8" name="Freeform 8"/>
            <p:cNvSpPr/>
            <p:nvPr/>
          </p:nvSpPr>
          <p:spPr>
            <a:xfrm>
              <a:off x="6352394" y="1883551"/>
              <a:ext cx="1854999" cy="1960821"/>
            </a:xfrm>
            <a:custGeom>
              <a:avLst/>
              <a:gdLst/>
              <a:ahLst/>
              <a:cxnLst/>
              <a:rect l="l" t="t" r="r" b="b"/>
              <a:pathLst>
                <a:path w="1854999" h="1960821">
                  <a:moveTo>
                    <a:pt x="0" y="0"/>
                  </a:moveTo>
                  <a:lnTo>
                    <a:pt x="1854999" y="0"/>
                  </a:lnTo>
                  <a:lnTo>
                    <a:pt x="1854999" y="1960821"/>
                  </a:lnTo>
                  <a:lnTo>
                    <a:pt x="0" y="1960821"/>
                  </a:lnTo>
                  <a:lnTo>
                    <a:pt x="0" y="0"/>
                  </a:lnTo>
                  <a:close/>
                </a:path>
              </a:pathLst>
            </a:custGeom>
            <a:blipFill>
              <a:blip r:embed="rId6"/>
              <a:stretch>
                <a:fillRect/>
              </a:stretch>
            </a:blipFill>
          </p:spPr>
          <p:txBody>
            <a:bodyPr/>
            <a:lstStyle/>
            <a:p>
              <a:endParaRPr lang="en-IN"/>
            </a:p>
          </p:txBody>
        </p:sp>
        <p:sp>
          <p:nvSpPr>
            <p:cNvPr id="9" name="Freeform 9"/>
            <p:cNvSpPr/>
            <p:nvPr/>
          </p:nvSpPr>
          <p:spPr>
            <a:xfrm>
              <a:off x="9299268" y="1763062"/>
              <a:ext cx="1935772" cy="2065252"/>
            </a:xfrm>
            <a:custGeom>
              <a:avLst/>
              <a:gdLst/>
              <a:ahLst/>
              <a:cxnLst/>
              <a:rect l="l" t="t" r="r" b="b"/>
              <a:pathLst>
                <a:path w="1935772" h="2065252">
                  <a:moveTo>
                    <a:pt x="0" y="0"/>
                  </a:moveTo>
                  <a:lnTo>
                    <a:pt x="1935772" y="0"/>
                  </a:lnTo>
                  <a:lnTo>
                    <a:pt x="1935772" y="2065252"/>
                  </a:lnTo>
                  <a:lnTo>
                    <a:pt x="0" y="2065252"/>
                  </a:lnTo>
                  <a:lnTo>
                    <a:pt x="0" y="0"/>
                  </a:lnTo>
                  <a:close/>
                </a:path>
              </a:pathLst>
            </a:custGeom>
            <a:blipFill>
              <a:blip r:embed="rId7"/>
              <a:stretch>
                <a:fillRect l="-3705" t="-4321" r="-106293"/>
              </a:stretch>
            </a:blipFill>
          </p:spPr>
          <p:txBody>
            <a:bodyPr/>
            <a:lstStyle/>
            <a:p>
              <a:endParaRPr lang="en-IN"/>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248573" y="342900"/>
            <a:ext cx="14278131" cy="8068876"/>
          </a:xfrm>
          <a:prstGeom prst="rect">
            <a:avLst/>
          </a:prstGeom>
        </p:spPr>
        <p:txBody>
          <a:bodyPr wrap="square" lIns="0" tIns="0" rIns="0" bIns="0" rtlCol="0" anchor="t">
            <a:spAutoFit/>
          </a:bodyPr>
          <a:lstStyle/>
          <a:p>
            <a:pPr algn="l">
              <a:lnSpc>
                <a:spcPts val="7000"/>
              </a:lnSpc>
            </a:pPr>
            <a:r>
              <a:rPr lang="en-US" sz="3200" b="1" dirty="0">
                <a:solidFill>
                  <a:srgbClr val="000000"/>
                </a:solidFill>
                <a:latin typeface="Times New Roman Bold"/>
                <a:ea typeface="Times New Roman Bold"/>
                <a:cs typeface="Times New Roman Bold"/>
                <a:sym typeface="Times New Roman Bold"/>
              </a:rPr>
              <a:t>Total funding required:</a:t>
            </a:r>
          </a:p>
          <a:p>
            <a:pPr algn="just"/>
            <a:r>
              <a:rPr lang="en-US" sz="3200" b="1" dirty="0">
                <a:latin typeface="Calibri" panose="020F0502020204030204" pitchFamily="34" charset="0"/>
                <a:cs typeface="Calibri" panose="020F0502020204030204" pitchFamily="34" charset="0"/>
              </a:rPr>
              <a:t>Current Status:</a:t>
            </a:r>
            <a:r>
              <a:rPr lang="en-US" sz="3200" dirty="0">
                <a:latin typeface="Calibri" panose="020F0502020204030204" pitchFamily="34" charset="0"/>
                <a:cs typeface="Calibri" panose="020F0502020204030204" pitchFamily="34" charset="0"/>
              </a:rPr>
              <a:t> </a:t>
            </a:r>
            <a:r>
              <a:rPr lang="en-US" sz="3200" i="1" dirty="0">
                <a:latin typeface="Calibri" panose="020F0502020204030204" pitchFamily="34" charset="0"/>
                <a:cs typeface="Calibri" panose="020F0502020204030204" pitchFamily="34" charset="0"/>
              </a:rPr>
              <a:t>Bootstrapped.</a:t>
            </a:r>
            <a:r>
              <a:rPr lang="en-US" sz="3200" dirty="0">
                <a:latin typeface="Calibri" panose="020F0502020204030204" pitchFamily="34" charset="0"/>
                <a:cs typeface="Calibri" panose="020F0502020204030204" pitchFamily="34" charset="0"/>
              </a:rPr>
              <a:t> The project has been self-funded so far, and we are now actively seeking investment to roll out operations across </a:t>
            </a:r>
            <a:r>
              <a:rPr lang="en-US" sz="3200" b="1" dirty="0">
                <a:latin typeface="Calibri" panose="020F0502020204030204" pitchFamily="34" charset="0"/>
                <a:cs typeface="Calibri" panose="020F0502020204030204" pitchFamily="34" charset="0"/>
              </a:rPr>
              <a:t>Maharashtra</a:t>
            </a:r>
            <a:r>
              <a:rPr lang="en-US" sz="3200" dirty="0">
                <a:latin typeface="Calibri" panose="020F0502020204030204" pitchFamily="34" charset="0"/>
                <a:cs typeface="Calibri" panose="020F0502020204030204" pitchFamily="34" charset="0"/>
              </a:rPr>
              <a:t>.</a:t>
            </a:r>
          </a:p>
          <a:p>
            <a:pPr algn="just"/>
            <a:endParaRPr lang="en-IN" sz="3200" dirty="0">
              <a:latin typeface="Calibri" panose="020F0502020204030204" pitchFamily="34" charset="0"/>
              <a:cs typeface="Calibri" panose="020F0502020204030204" pitchFamily="34" charset="0"/>
            </a:endParaRPr>
          </a:p>
          <a:p>
            <a:r>
              <a:rPr lang="en-IN" sz="3200" b="1" dirty="0">
                <a:latin typeface="Calibri" panose="020F0502020204030204" pitchFamily="34" charset="0"/>
                <a:cs typeface="Calibri" panose="020F0502020204030204" pitchFamily="34" charset="0"/>
              </a:rPr>
              <a:t>Funding Breakdown: ₹83000</a:t>
            </a:r>
          </a:p>
          <a:p>
            <a:pPr marL="514350" indent="-514350">
              <a:buAutoNum type="arabicPeriod"/>
            </a:pPr>
            <a:r>
              <a:rPr lang="en-IN" sz="3200" dirty="0"/>
              <a:t>Cloud Hosting &amp; Infrastructure: ₹15,000 </a:t>
            </a:r>
          </a:p>
          <a:p>
            <a:pPr marL="514350" indent="-514350">
              <a:buAutoNum type="arabicPeriod"/>
            </a:pPr>
            <a:r>
              <a:rPr lang="en-IN" sz="3200" dirty="0"/>
              <a:t>Website Domain &amp; SSL: ₹3,000</a:t>
            </a:r>
          </a:p>
          <a:p>
            <a:pPr marL="514350" indent="-514350">
              <a:buFontTx/>
              <a:buAutoNum type="arabicPeriod"/>
            </a:pPr>
            <a:r>
              <a:rPr lang="en-US" sz="3200" dirty="0"/>
              <a:t>Third-Party APIs &amp; Integrations: ₹15,000 </a:t>
            </a:r>
          </a:p>
          <a:p>
            <a:pPr marL="514350" indent="-514350">
              <a:buFontTx/>
              <a:buAutoNum type="arabicPeriod"/>
            </a:pPr>
            <a:r>
              <a:rPr lang="en-IN" sz="3200" dirty="0"/>
              <a:t>Payment Gateway:15,000</a:t>
            </a:r>
          </a:p>
          <a:p>
            <a:r>
              <a:rPr lang="en-IN" sz="3200" dirty="0"/>
              <a:t>5. Marketing &amp; College Partnerships: ₹10,000 </a:t>
            </a:r>
          </a:p>
          <a:p>
            <a:r>
              <a:rPr lang="en-IN" sz="3200" dirty="0"/>
              <a:t>6. Testing &amp; QA: ₹7,000 </a:t>
            </a:r>
          </a:p>
          <a:p>
            <a:r>
              <a:rPr lang="en-US" sz="3200" dirty="0"/>
              <a:t>7. Marketing &amp; Pilot Rollout: ₹10,000</a:t>
            </a:r>
            <a:endParaRPr lang="en-IN" sz="3200" dirty="0"/>
          </a:p>
          <a:p>
            <a:r>
              <a:rPr lang="en-IN" sz="3200" dirty="0"/>
              <a:t>8. Miscellaneous: ₹8,000</a:t>
            </a:r>
          </a:p>
          <a:p>
            <a:endParaRPr lang="en-IN" sz="3200" dirty="0">
              <a:latin typeface="Calibri" panose="020F0502020204030204" pitchFamily="34" charset="0"/>
              <a:cs typeface="Calibri" panose="020F0502020204030204" pitchFamily="34" charset="0"/>
            </a:endParaRPr>
          </a:p>
          <a:p>
            <a:pPr algn="l">
              <a:lnSpc>
                <a:spcPts val="7000"/>
              </a:lnSpc>
            </a:pPr>
            <a:r>
              <a:rPr lang="en-US" sz="3200" b="1" dirty="0">
                <a:solidFill>
                  <a:srgbClr val="000000"/>
                </a:solidFill>
                <a:latin typeface="Times New Roman Bold"/>
                <a:ea typeface="Times New Roman Bold"/>
                <a:cs typeface="Times New Roman Bold"/>
                <a:sym typeface="Times New Roman Bold"/>
              </a:rPr>
              <a:t> </a:t>
            </a:r>
          </a:p>
        </p:txBody>
      </p:sp>
      <p:sp>
        <p:nvSpPr>
          <p:cNvPr id="3" name="TextBox 3"/>
          <p:cNvSpPr txBox="1"/>
          <p:nvPr/>
        </p:nvSpPr>
        <p:spPr>
          <a:xfrm>
            <a:off x="248572" y="6819900"/>
            <a:ext cx="14278131" cy="3857659"/>
          </a:xfrm>
          <a:prstGeom prst="rect">
            <a:avLst/>
          </a:prstGeom>
        </p:spPr>
        <p:txBody>
          <a:bodyPr lIns="0" tIns="0" rIns="0" bIns="0" rtlCol="0" anchor="t">
            <a:spAutoFit/>
          </a:bodyPr>
          <a:lstStyle/>
          <a:p>
            <a:pPr algn="l">
              <a:lnSpc>
                <a:spcPts val="7000"/>
              </a:lnSpc>
            </a:pPr>
            <a:r>
              <a:rPr lang="en-US" sz="4400" b="1" dirty="0">
                <a:solidFill>
                  <a:srgbClr val="000000"/>
                </a:solidFill>
                <a:latin typeface="Times New Roman Bold"/>
                <a:ea typeface="Times New Roman Bold"/>
                <a:cs typeface="Times New Roman Bold"/>
                <a:sym typeface="Times New Roman Bold"/>
              </a:rPr>
              <a:t>Do you need mentorship ?</a:t>
            </a:r>
          </a:p>
          <a:p>
            <a:r>
              <a:rPr lang="en-US" sz="2800" b="1" dirty="0"/>
              <a:t>Yes</a:t>
            </a:r>
            <a:r>
              <a:rPr lang="en-US" sz="2800" dirty="0"/>
              <a:t>, We are seeking valuable guidance and mentorship in the areas of market strategy, scaling, partnership development, and effective rollout execution. Expert insights into revenue generation models, college partnership strategies, and technical architecture optimization will be highly valuable to ensure sustainable growth and smooth expansion across Maharashtra's educational institutions</a:t>
            </a:r>
            <a:endParaRPr lang="en-IN" sz="2800" dirty="0">
              <a:effectLst/>
            </a:endParaRPr>
          </a:p>
          <a:p>
            <a:pPr algn="l">
              <a:lnSpc>
                <a:spcPts val="7000"/>
              </a:lnSpc>
            </a:pPr>
            <a:endParaRPr lang="en-US" sz="4400" b="1" dirty="0">
              <a:solidFill>
                <a:srgbClr val="000000"/>
              </a:solidFill>
              <a:latin typeface="Times New Roman Bold"/>
              <a:ea typeface="Times New Roman Bold"/>
              <a:cs typeface="Times New Roman Bold"/>
              <a:sym typeface="Times New Roman Bold"/>
            </a:endParaRPr>
          </a:p>
        </p:txBody>
      </p:sp>
      <p:grpSp>
        <p:nvGrpSpPr>
          <p:cNvPr id="4" name="Group 4"/>
          <p:cNvGrpSpPr/>
          <p:nvPr/>
        </p:nvGrpSpPr>
        <p:grpSpPr>
          <a:xfrm>
            <a:off x="16666366" y="8665366"/>
            <a:ext cx="1574009" cy="157400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txBody>
            <a:bodyPr/>
            <a:lstStyle/>
            <a:p>
              <a:endParaRPr lang="en-IN"/>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27296" y="199520"/>
            <a:ext cx="14278131" cy="958850"/>
          </a:xfrm>
          <a:prstGeom prst="rect">
            <a:avLst/>
          </a:prstGeom>
        </p:spPr>
        <p:txBody>
          <a:bodyPr lIns="0" tIns="0" rIns="0" bIns="0" rtlCol="0" anchor="t">
            <a:spAutoFit/>
          </a:bodyPr>
          <a:lstStyle/>
          <a:p>
            <a:pPr algn="l">
              <a:lnSpc>
                <a:spcPts val="7000"/>
              </a:lnSpc>
            </a:pPr>
            <a:r>
              <a:rPr lang="en-US" sz="5000" b="1" dirty="0">
                <a:solidFill>
                  <a:srgbClr val="000000"/>
                </a:solidFill>
                <a:latin typeface="Times New Roman Bold"/>
                <a:ea typeface="Times New Roman Bold"/>
                <a:cs typeface="Times New Roman Bold"/>
                <a:sym typeface="Times New Roman Bold"/>
              </a:rPr>
              <a:t>Problem Statement &amp; Social Need :</a:t>
            </a:r>
          </a:p>
        </p:txBody>
      </p:sp>
      <p:grpSp>
        <p:nvGrpSpPr>
          <p:cNvPr id="3" name="Group 3"/>
          <p:cNvGrpSpPr/>
          <p:nvPr/>
        </p:nvGrpSpPr>
        <p:grpSpPr>
          <a:xfrm>
            <a:off x="16666366" y="8665366"/>
            <a:ext cx="1574009" cy="157400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txBody>
            <a:bodyPr/>
            <a:lstStyle/>
            <a:p>
              <a:endParaRPr lang="en-IN"/>
            </a:p>
          </p:txBody>
        </p:sp>
      </p:grpSp>
      <p:sp>
        <p:nvSpPr>
          <p:cNvPr id="5" name="TextBox 4">
            <a:extLst>
              <a:ext uri="{FF2B5EF4-FFF2-40B4-BE49-F238E27FC236}">
                <a16:creationId xmlns:a16="http://schemas.microsoft.com/office/drawing/2014/main" id="{155C9BF7-8D09-CB78-CEE0-0813EEAC9B56}"/>
              </a:ext>
            </a:extLst>
          </p:cNvPr>
          <p:cNvSpPr txBox="1"/>
          <p:nvPr/>
        </p:nvSpPr>
        <p:spPr>
          <a:xfrm>
            <a:off x="1752600" y="4648200"/>
            <a:ext cx="9448800" cy="2514600"/>
          </a:xfrm>
          <a:prstGeom prst="rect">
            <a:avLst/>
          </a:prstGeom>
          <a:noFill/>
        </p:spPr>
        <p:txBody>
          <a:bodyPr wrap="square" rtlCol="0">
            <a:spAutoFit/>
          </a:bodyPr>
          <a:lstStyle/>
          <a:p>
            <a:endParaRPr lang="en-IN" dirty="0"/>
          </a:p>
        </p:txBody>
      </p:sp>
      <p:sp>
        <p:nvSpPr>
          <p:cNvPr id="8" name="Rectangle 3">
            <a:extLst>
              <a:ext uri="{FF2B5EF4-FFF2-40B4-BE49-F238E27FC236}">
                <a16:creationId xmlns:a16="http://schemas.microsoft.com/office/drawing/2014/main" id="{A679FF75-48E3-7246-6A45-5CDF0BC584C0}"/>
              </a:ext>
            </a:extLst>
          </p:cNvPr>
          <p:cNvSpPr>
            <a:spLocks noChangeArrowheads="1"/>
          </p:cNvSpPr>
          <p:nvPr/>
        </p:nvSpPr>
        <p:spPr bwMode="auto">
          <a:xfrm>
            <a:off x="152400" y="1150977"/>
            <a:ext cx="16916400" cy="5278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514350" marR="0" lvl="0" indent="-514350" algn="l" defTabSz="914400" rtl="0" eaLnBrk="0" fontAlgn="base" latinLnBrk="0" hangingPunct="0">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Google Sans Text"/>
              </a:rPr>
              <a:t>Faculty Time Drain:</a:t>
            </a:r>
            <a:r>
              <a:rPr kumimoji="0" lang="en-US" altLang="en-US" sz="2800" b="0" i="0" u="none" strike="noStrike" cap="none" normalizeH="0" baseline="0" dirty="0">
                <a:ln>
                  <a:noFill/>
                </a:ln>
                <a:solidFill>
                  <a:schemeClr val="tx1"/>
                </a:solidFill>
                <a:effectLst/>
              </a:rPr>
              <a:t> Manual administrative tasks consume </a:t>
            </a:r>
            <a:r>
              <a:rPr lang="en-US" altLang="en-US" sz="2800" b="1" dirty="0">
                <a:latin typeface="Google Sans Text"/>
              </a:rPr>
              <a:t>40% </a:t>
            </a:r>
            <a:r>
              <a:rPr kumimoji="0" lang="en-US" altLang="en-US" sz="2800" b="1" i="0" u="none" strike="noStrike" cap="none" normalizeH="0" baseline="0" dirty="0">
                <a:ln>
                  <a:noFill/>
                </a:ln>
                <a:solidFill>
                  <a:schemeClr val="tx1"/>
                </a:solidFill>
                <a:effectLst/>
                <a:latin typeface="Google Sans Text"/>
              </a:rPr>
              <a:t>of faculty and staff time</a:t>
            </a:r>
            <a:r>
              <a:rPr kumimoji="0" lang="en-US" altLang="en-US" sz="2800" b="0" i="0" u="none" strike="noStrike" cap="none" normalizeH="0" baseline="0" dirty="0">
                <a:ln>
                  <a:noFill/>
                </a:ln>
                <a:solidFill>
                  <a:schemeClr val="tx1"/>
                </a:solidFill>
                <a:effectLst/>
              </a:rPr>
              <a:t>, severely impacting teaching quality and output.</a:t>
            </a:r>
          </a:p>
          <a:p>
            <a:pPr marL="514350" marR="0" lvl="0" indent="-514350" algn="l" defTabSz="914400" rtl="0" eaLnBrk="0" fontAlgn="base" latinLnBrk="0" hangingPunct="0">
              <a:spcBef>
                <a:spcPct val="0"/>
              </a:spcBef>
              <a:spcAft>
                <a:spcPct val="0"/>
              </a:spcAft>
              <a:buClrTx/>
              <a:buSzTx/>
              <a:buFont typeface="+mj-lt"/>
              <a:buAutoNum type="arabicPeriod"/>
              <a:tabLst/>
            </a:pPr>
            <a:endParaRPr lang="en-US" altLang="en-US" sz="2800" dirty="0">
              <a:latin typeface="Arial" panose="020B0604020202020204" pitchFamily="34" charset="0"/>
            </a:endParaRPr>
          </a:p>
          <a:p>
            <a:pPr marL="514350" lvl="0" indent="-514350" eaLnBrk="0" fontAlgn="base" hangingPunct="0">
              <a:spcBef>
                <a:spcPct val="0"/>
              </a:spcBef>
              <a:spcAft>
                <a:spcPct val="0"/>
              </a:spcAft>
              <a:buFont typeface="+mj-lt"/>
              <a:buAutoNum type="arabicPeriod"/>
            </a:pPr>
            <a:r>
              <a:rPr lang="en-US" sz="2800" b="1" dirty="0"/>
              <a:t>Fragmented Operations:</a:t>
            </a:r>
            <a:r>
              <a:rPr lang="en-US" sz="2800" dirty="0"/>
              <a:t> Institutions use </a:t>
            </a:r>
            <a:r>
              <a:rPr lang="en-US" sz="2800" b="1" dirty="0"/>
              <a:t>disconnected paper and digital systems</a:t>
            </a:r>
            <a:r>
              <a:rPr lang="en-US" sz="2800" dirty="0"/>
              <a:t> (post-admission), preventing unified management and real-time tracking of operations.</a:t>
            </a:r>
          </a:p>
          <a:p>
            <a:pPr marL="514350" lvl="0" indent="-514350" eaLnBrk="0" fontAlgn="base" hangingPunct="0">
              <a:spcBef>
                <a:spcPct val="0"/>
              </a:spcBef>
              <a:spcAft>
                <a:spcPct val="0"/>
              </a:spcAft>
              <a:buFont typeface="+mj-lt"/>
              <a:buAutoNum type="arabicPeriod"/>
            </a:pPr>
            <a:r>
              <a:rPr lang="en-US" sz="2800" b="1" dirty="0"/>
              <a:t>Inefficient Fee Collection:</a:t>
            </a:r>
            <a:r>
              <a:rPr lang="en-US" sz="2800" dirty="0"/>
              <a:t> The fee collection process is characterized by </a:t>
            </a:r>
            <a:r>
              <a:rPr lang="en-US" sz="2800" b="1" dirty="0"/>
              <a:t>long student queues and manual receipting</a:t>
            </a:r>
            <a:r>
              <a:rPr lang="en-US" sz="2800" dirty="0"/>
              <a:t>, causing major accounting inefficiencies and bottlenecks.</a:t>
            </a:r>
          </a:p>
          <a:p>
            <a:pPr marL="514350" lvl="0" indent="-514350" eaLnBrk="0" fontAlgn="base" hangingPunct="0">
              <a:spcBef>
                <a:spcPct val="0"/>
              </a:spcBef>
              <a:spcAft>
                <a:spcPct val="0"/>
              </a:spcAft>
              <a:buFont typeface="+mj-lt"/>
              <a:buAutoNum type="arabicPeriod"/>
            </a:pPr>
            <a:r>
              <a:rPr lang="en-US" sz="2800" b="1" dirty="0"/>
              <a:t>Scattered Student Resources:</a:t>
            </a:r>
            <a:r>
              <a:rPr lang="en-US" sz="2800" dirty="0"/>
              <a:t> Critical study materials are </a:t>
            </a:r>
            <a:r>
              <a:rPr lang="en-US" sz="2800" b="1" dirty="0"/>
              <a:t>dispersed across various communication apps and emails</a:t>
            </a:r>
            <a:r>
              <a:rPr lang="en-US" sz="2800" dirty="0"/>
              <a:t>, making resource access difficult and hindering student success.</a:t>
            </a:r>
          </a:p>
          <a:p>
            <a:pPr marL="514350" lvl="0" indent="-514350" eaLnBrk="0" fontAlgn="base" hangingPunct="0">
              <a:spcBef>
                <a:spcPct val="0"/>
              </a:spcBef>
              <a:spcAft>
                <a:spcPct val="0"/>
              </a:spcAft>
              <a:buFont typeface="+mj-lt"/>
              <a:buAutoNum type="arabicPeriod"/>
            </a:pPr>
            <a:r>
              <a:rPr lang="en-US" sz="2800" b="1" dirty="0"/>
              <a:t>Hostel &amp; Mess Chaos:</a:t>
            </a:r>
            <a:r>
              <a:rPr lang="en-US" sz="2800" dirty="0"/>
              <a:t> Paper-based room allocation, manual attendance logs, and offline meal tracking lead to </a:t>
            </a:r>
            <a:r>
              <a:rPr lang="en-US" sz="2800" b="1" dirty="0"/>
              <a:t>operational chaos, poor security, and waste</a:t>
            </a:r>
            <a:r>
              <a:rPr lang="en-US" sz="2800" dirty="0"/>
              <a:t> in student housing.</a:t>
            </a:r>
          </a:p>
          <a:p>
            <a:pPr marL="514350" lvl="0" indent="-514350" eaLnBrk="0" fontAlgn="base" hangingPunct="0">
              <a:spcBef>
                <a:spcPct val="0"/>
              </a:spcBef>
              <a:spcAft>
                <a:spcPct val="0"/>
              </a:spcAft>
              <a:buFont typeface="+mj-lt"/>
              <a:buAutoNum type="arabicPeriod"/>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E171108-2C31-A2A2-DF92-FC6AAA842AFB}"/>
              </a:ext>
            </a:extLst>
          </p:cNvPr>
          <p:cNvSpPr txBox="1"/>
          <p:nvPr/>
        </p:nvSpPr>
        <p:spPr>
          <a:xfrm>
            <a:off x="304800" y="6591300"/>
            <a:ext cx="9220200" cy="3046988"/>
          </a:xfrm>
          <a:prstGeom prst="rect">
            <a:avLst/>
          </a:prstGeom>
          <a:noFill/>
        </p:spPr>
        <p:txBody>
          <a:bodyPr wrap="square" rtlCol="0">
            <a:spAutoFit/>
          </a:bodyPr>
          <a:lstStyle/>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95% of educational institutions identify technology as primary facilitator but struggle with implementation </a:t>
            </a:r>
          </a:p>
          <a:p>
            <a:pPr marL="457200" indent="-457200">
              <a:buFont typeface="Arial" panose="020B0604020202020204" pitchFamily="34" charset="0"/>
              <a:buChar char="•"/>
            </a:pPr>
            <a:r>
              <a:rPr lang="en-US" sz="3200" dirty="0"/>
              <a:t>Only 20% of Indian colleges have fully integrated ERP systems - massive opportunity gap</a:t>
            </a:r>
            <a:endParaRPr lang="en-IN" sz="3200" dirty="0"/>
          </a:p>
        </p:txBody>
      </p:sp>
      <p:sp>
        <p:nvSpPr>
          <p:cNvPr id="7" name="TextBox 6">
            <a:extLst>
              <a:ext uri="{FF2B5EF4-FFF2-40B4-BE49-F238E27FC236}">
                <a16:creationId xmlns:a16="http://schemas.microsoft.com/office/drawing/2014/main" id="{2EBA205D-193A-89A9-0664-4D18AECEF7AF}"/>
              </a:ext>
            </a:extLst>
          </p:cNvPr>
          <p:cNvSpPr txBox="1"/>
          <p:nvPr/>
        </p:nvSpPr>
        <p:spPr>
          <a:xfrm>
            <a:off x="304800" y="6591300"/>
            <a:ext cx="5715000" cy="646331"/>
          </a:xfrm>
          <a:prstGeom prst="rect">
            <a:avLst/>
          </a:prstGeom>
          <a:noFill/>
        </p:spPr>
        <p:txBody>
          <a:bodyPr wrap="square" rtlCol="0">
            <a:spAutoFit/>
          </a:bodyPr>
          <a:lstStyle/>
          <a:p>
            <a:r>
              <a:rPr lang="en-IN" sz="3600" b="1" dirty="0"/>
              <a:t>Social Need:</a:t>
            </a:r>
          </a:p>
        </p:txBody>
      </p:sp>
      <p:sp>
        <p:nvSpPr>
          <p:cNvPr id="9" name="TextBox 8">
            <a:extLst>
              <a:ext uri="{FF2B5EF4-FFF2-40B4-BE49-F238E27FC236}">
                <a16:creationId xmlns:a16="http://schemas.microsoft.com/office/drawing/2014/main" id="{E22CF2A2-6024-ADB8-080F-2767A48B499C}"/>
              </a:ext>
            </a:extLst>
          </p:cNvPr>
          <p:cNvSpPr txBox="1"/>
          <p:nvPr/>
        </p:nvSpPr>
        <p:spPr>
          <a:xfrm>
            <a:off x="9669198" y="6429345"/>
            <a:ext cx="6923483" cy="3600986"/>
          </a:xfrm>
          <a:prstGeom prst="rect">
            <a:avLst/>
          </a:prstGeom>
          <a:noFill/>
        </p:spPr>
        <p:txBody>
          <a:bodyPr wrap="square" rtlCol="0">
            <a:spAutoFit/>
          </a:bodyPr>
          <a:lstStyle/>
          <a:p>
            <a:r>
              <a:rPr lang="en-US" sz="3600" b="1" dirty="0"/>
              <a:t>Impact:</a:t>
            </a:r>
            <a:endParaRPr lang="en-US" dirty="0"/>
          </a:p>
          <a:p>
            <a:pPr marL="285750" indent="-285750">
              <a:buFont typeface="Arial" panose="020B0604020202020204" pitchFamily="34" charset="0"/>
              <a:buChar char="•"/>
            </a:pPr>
            <a:r>
              <a:rPr lang="en-US" sz="3200" dirty="0"/>
              <a:t> Administrative staff overload with paperwork and manual processes</a:t>
            </a:r>
          </a:p>
          <a:p>
            <a:pPr marL="285750" indent="-285750">
              <a:buFont typeface="Arial" panose="020B0604020202020204" pitchFamily="34" charset="0"/>
              <a:buChar char="•"/>
            </a:pPr>
            <a:r>
              <a:rPr lang="en-US" sz="3200" dirty="0"/>
              <a:t>Delayed results and fee processing affecting student satisfaction</a:t>
            </a:r>
          </a:p>
          <a:p>
            <a:pPr marL="285750" indent="-285750">
              <a:buFont typeface="Arial" panose="020B0604020202020204" pitchFamily="34" charset="0"/>
              <a:buChar char="•"/>
            </a:pPr>
            <a:r>
              <a:rPr lang="en-US" sz="3200" dirty="0"/>
              <a:t>Inefficient resource utilization across hostels, classrooms, and facilities </a:t>
            </a:r>
            <a:endParaRPr lang="en-IN"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0" y="122925"/>
            <a:ext cx="9500566" cy="823559"/>
          </a:xfrm>
          <a:prstGeom prst="rect">
            <a:avLst/>
          </a:prstGeom>
        </p:spPr>
        <p:txBody>
          <a:bodyPr lIns="0" tIns="0" rIns="0" bIns="0" rtlCol="0" anchor="t">
            <a:spAutoFit/>
          </a:bodyPr>
          <a:lstStyle/>
          <a:p>
            <a:pPr algn="l">
              <a:lnSpc>
                <a:spcPts val="7000"/>
              </a:lnSpc>
            </a:pPr>
            <a:r>
              <a:rPr lang="en-US" sz="5000" b="1" dirty="0">
                <a:solidFill>
                  <a:srgbClr val="000000"/>
                </a:solidFill>
                <a:latin typeface="Times New Roman Bold"/>
                <a:ea typeface="Times New Roman Bold"/>
                <a:cs typeface="Times New Roman Bold"/>
                <a:sym typeface="Times New Roman Bold"/>
              </a:rPr>
              <a:t>  Solution :</a:t>
            </a:r>
          </a:p>
        </p:txBody>
      </p:sp>
      <p:grpSp>
        <p:nvGrpSpPr>
          <p:cNvPr id="3" name="Group 3"/>
          <p:cNvGrpSpPr/>
          <p:nvPr/>
        </p:nvGrpSpPr>
        <p:grpSpPr>
          <a:xfrm>
            <a:off x="16666366" y="8665366"/>
            <a:ext cx="1574009" cy="157400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txBody>
            <a:bodyPr/>
            <a:lstStyle/>
            <a:p>
              <a:endParaRPr lang="en-IN"/>
            </a:p>
          </p:txBody>
        </p:sp>
      </p:grpSp>
      <p:sp>
        <p:nvSpPr>
          <p:cNvPr id="9" name="TextBox 8">
            <a:extLst>
              <a:ext uri="{FF2B5EF4-FFF2-40B4-BE49-F238E27FC236}">
                <a16:creationId xmlns:a16="http://schemas.microsoft.com/office/drawing/2014/main" id="{412308FC-219D-E2D3-19E7-9D8C761AE768}"/>
              </a:ext>
            </a:extLst>
          </p:cNvPr>
          <p:cNvSpPr txBox="1"/>
          <p:nvPr/>
        </p:nvSpPr>
        <p:spPr>
          <a:xfrm>
            <a:off x="0" y="1081775"/>
            <a:ext cx="11506200" cy="8956298"/>
          </a:xfrm>
          <a:prstGeom prst="rect">
            <a:avLst/>
          </a:prstGeom>
          <a:noFill/>
        </p:spPr>
        <p:txBody>
          <a:bodyPr wrap="square" rtlCol="0">
            <a:spAutoFit/>
          </a:bodyPr>
          <a:lstStyle/>
          <a:p>
            <a:pPr marL="514350" indent="-514350" algn="just">
              <a:buFont typeface="+mj-lt"/>
              <a:buAutoNum type="arabicPeriod"/>
            </a:pPr>
            <a:r>
              <a:rPr lang="en-IN" sz="3200" b="1" dirty="0"/>
              <a:t>Admission &amp; </a:t>
            </a:r>
            <a:r>
              <a:rPr lang="en-IN" sz="3200" b="1" dirty="0" err="1"/>
              <a:t>Enrollment</a:t>
            </a:r>
            <a:r>
              <a:rPr lang="en-IN" sz="3200" b="1" dirty="0"/>
              <a:t>:</a:t>
            </a:r>
            <a:r>
              <a:rPr lang="en-IN" sz="3200" dirty="0"/>
              <a:t> Online applications, document upload, digital admission, fee payment &amp; student ID generation</a:t>
            </a:r>
          </a:p>
          <a:p>
            <a:pPr marL="514350" indent="-514350" algn="just">
              <a:buFont typeface="+mj-lt"/>
              <a:buAutoNum type="arabicPeriod"/>
            </a:pPr>
            <a:r>
              <a:rPr lang="en-US" sz="3200" b="1" dirty="0"/>
              <a:t>Student Information System (SIS):</a:t>
            </a:r>
            <a:r>
              <a:rPr lang="en-US" sz="3200" dirty="0"/>
              <a:t> Centralized student database with real-time updates &amp; secure access for admin, faculty, and parents</a:t>
            </a:r>
          </a:p>
          <a:p>
            <a:pPr marL="514350" indent="-514350" algn="just">
              <a:buFont typeface="+mj-lt"/>
              <a:buAutoNum type="arabicPeriod"/>
            </a:pPr>
            <a:r>
              <a:rPr lang="en-US" sz="3200" b="1" dirty="0"/>
              <a:t>Attendance Management:</a:t>
            </a:r>
            <a:r>
              <a:rPr lang="en-US" sz="3200" dirty="0"/>
              <a:t> Biometric/RFID/Face/QR-based tracking, shortage alerts, leave requests &amp; parent notifications</a:t>
            </a:r>
          </a:p>
          <a:p>
            <a:pPr marL="514350" indent="-514350" algn="just">
              <a:buFont typeface="+mj-lt"/>
              <a:buAutoNum type="arabicPeriod"/>
            </a:pPr>
            <a:r>
              <a:rPr lang="en-US" sz="3200" b="1" dirty="0"/>
              <a:t>Hostel Management:</a:t>
            </a:r>
            <a:r>
              <a:rPr lang="en-US" sz="3200" dirty="0"/>
              <a:t> Digital room allocation, RFID entry-exit logs, mess billing, visitor tracking &amp; maintenance requests</a:t>
            </a:r>
          </a:p>
          <a:p>
            <a:pPr marL="514350" indent="-514350" algn="just">
              <a:buFont typeface="+mj-lt"/>
              <a:buAutoNum type="arabicPeriod"/>
            </a:pPr>
            <a:r>
              <a:rPr lang="en-US" sz="3200" b="1" dirty="0"/>
              <a:t>Fee &amp; Finance Management:</a:t>
            </a:r>
            <a:r>
              <a:rPr lang="en-US" sz="3200" dirty="0"/>
              <a:t> Online payments (UPI/cards/net banking), receipts, installment tracking, scholarships &amp; defaulter alerts</a:t>
            </a:r>
          </a:p>
          <a:p>
            <a:pPr marL="514350" indent="-514350" algn="just">
              <a:buFont typeface="+mj-lt"/>
              <a:buAutoNum type="arabicPeriod"/>
            </a:pPr>
            <a:r>
              <a:rPr lang="en-US" sz="3200" b="1" dirty="0"/>
              <a:t>Learning Resource Hub:</a:t>
            </a:r>
            <a:r>
              <a:rPr lang="en-US" sz="3200" dirty="0"/>
              <a:t> Centralized notes, assignments, previous papers, submissions &amp; faculty–student interaction</a:t>
            </a:r>
          </a:p>
          <a:p>
            <a:pPr marL="514350" indent="-514350" algn="just">
              <a:buFont typeface="+mj-lt"/>
              <a:buAutoNum type="arabicPeriod"/>
            </a:pPr>
            <a:r>
              <a:rPr lang="en-US" sz="3200" b="1" dirty="0"/>
              <a:t>Communication System:</a:t>
            </a:r>
            <a:r>
              <a:rPr lang="en-US" sz="3200" dirty="0"/>
              <a:t> SMS/Email/App alerts for attendance, results, fees, circulars &amp; announcements</a:t>
            </a:r>
          </a:p>
          <a:p>
            <a:pPr marL="514350" indent="-514350" algn="just">
              <a:buFont typeface="+mj-lt"/>
              <a:buAutoNum type="arabicPeriod"/>
            </a:pPr>
            <a:r>
              <a:rPr lang="en-US" sz="3200" b="1" dirty="0"/>
              <a:t>Placement &amp; Alumni:</a:t>
            </a:r>
            <a:r>
              <a:rPr lang="en-US" sz="3200" dirty="0"/>
              <a:t> Job/internship postings, resume builder, alumni networking &amp; success tracking</a:t>
            </a:r>
            <a:endParaRPr lang="en-IN" sz="3200" dirty="0"/>
          </a:p>
        </p:txBody>
      </p:sp>
      <p:sp>
        <p:nvSpPr>
          <p:cNvPr id="12" name="TextBox 11">
            <a:extLst>
              <a:ext uri="{FF2B5EF4-FFF2-40B4-BE49-F238E27FC236}">
                <a16:creationId xmlns:a16="http://schemas.microsoft.com/office/drawing/2014/main" id="{5F789546-F68A-AC4D-EC0A-5E03673DB5AC}"/>
              </a:ext>
            </a:extLst>
          </p:cNvPr>
          <p:cNvSpPr txBox="1"/>
          <p:nvPr/>
        </p:nvSpPr>
        <p:spPr>
          <a:xfrm>
            <a:off x="11734800" y="539822"/>
            <a:ext cx="6400800" cy="6494085"/>
          </a:xfrm>
          <a:prstGeom prst="rect">
            <a:avLst/>
          </a:prstGeom>
          <a:noFill/>
        </p:spPr>
        <p:txBody>
          <a:bodyPr wrap="square" rtlCol="0">
            <a:spAutoFit/>
          </a:bodyPr>
          <a:lstStyle/>
          <a:p>
            <a:r>
              <a:rPr lang="en-IN" sz="3600" b="1" dirty="0"/>
              <a:t>Social Impact:</a:t>
            </a:r>
          </a:p>
          <a:p>
            <a:pPr marL="742950" indent="-742950">
              <a:buFont typeface="+mj-lt"/>
              <a:buAutoNum type="arabicPeriod"/>
            </a:pPr>
            <a:r>
              <a:rPr lang="en-US" sz="3200" b="1" dirty="0"/>
              <a:t>Reduces 40% manual workload</a:t>
            </a:r>
            <a:r>
              <a:rPr lang="en-US" sz="3200" dirty="0"/>
              <a:t>, freeing staff for academics</a:t>
            </a:r>
          </a:p>
          <a:p>
            <a:pPr marL="742950" indent="-742950">
              <a:buFont typeface="+mj-lt"/>
              <a:buAutoNum type="arabicPeriod"/>
            </a:pPr>
            <a:r>
              <a:rPr lang="fr-FR" sz="3200" b="1" dirty="0" err="1"/>
              <a:t>Enhances</a:t>
            </a:r>
            <a:r>
              <a:rPr lang="fr-FR" sz="3200" b="1" dirty="0"/>
              <a:t> </a:t>
            </a:r>
            <a:r>
              <a:rPr lang="fr-FR" sz="3200" b="1" dirty="0" err="1"/>
              <a:t>student</a:t>
            </a:r>
            <a:r>
              <a:rPr lang="fr-FR" sz="3200" b="1" dirty="0"/>
              <a:t> </a:t>
            </a:r>
            <a:r>
              <a:rPr lang="fr-FR" sz="3200" dirty="0"/>
              <a:t>satisfaction &amp; parent engagement</a:t>
            </a:r>
          </a:p>
          <a:p>
            <a:pPr marL="742950" indent="-742950">
              <a:buFont typeface="+mj-lt"/>
              <a:buAutoNum type="arabicPeriod"/>
            </a:pPr>
            <a:r>
              <a:rPr lang="en-US" sz="3200" b="1" dirty="0"/>
              <a:t>Saves</a:t>
            </a:r>
            <a:r>
              <a:rPr lang="en-US" sz="3200" dirty="0"/>
              <a:t> </a:t>
            </a:r>
            <a:r>
              <a:rPr lang="en-US" sz="3200" b="1" dirty="0"/>
              <a:t>time</a:t>
            </a:r>
            <a:r>
              <a:rPr lang="en-US" sz="3200" dirty="0"/>
              <a:t>, </a:t>
            </a:r>
            <a:r>
              <a:rPr lang="en-US" sz="3200" b="1" dirty="0"/>
              <a:t>cost</a:t>
            </a:r>
            <a:r>
              <a:rPr lang="en-US" sz="3200" dirty="0"/>
              <a:t> &amp; promotes </a:t>
            </a:r>
            <a:r>
              <a:rPr lang="en-US" sz="3200" b="1" dirty="0"/>
              <a:t>eco-friendly</a:t>
            </a:r>
            <a:r>
              <a:rPr lang="en-US" sz="3200" dirty="0"/>
              <a:t> paperless operations</a:t>
            </a:r>
          </a:p>
          <a:p>
            <a:pPr marL="742950" indent="-742950">
              <a:buFont typeface="+mj-lt"/>
              <a:buAutoNum type="arabicPeriod"/>
            </a:pPr>
            <a:r>
              <a:rPr lang="en-US" sz="3200" b="1" dirty="0"/>
              <a:t>Optimizes</a:t>
            </a:r>
            <a:r>
              <a:rPr lang="en-US" sz="3200" dirty="0"/>
              <a:t> hostel, classroom &amp; </a:t>
            </a:r>
            <a:r>
              <a:rPr lang="en-US" sz="3200" b="1" dirty="0"/>
              <a:t>resource</a:t>
            </a:r>
            <a:r>
              <a:rPr lang="en-US" sz="3200" dirty="0"/>
              <a:t> utilization</a:t>
            </a:r>
          </a:p>
          <a:p>
            <a:pPr marL="742950" indent="-742950">
              <a:buFont typeface="+mj-lt"/>
              <a:buAutoNum type="arabicPeriod"/>
            </a:pPr>
            <a:r>
              <a:rPr lang="en-US" sz="3200" b="1" dirty="0"/>
              <a:t>Strengthens</a:t>
            </a:r>
            <a:r>
              <a:rPr lang="en-US" sz="3200" dirty="0"/>
              <a:t> </a:t>
            </a:r>
            <a:r>
              <a:rPr lang="en-US" sz="3200" b="1" dirty="0"/>
              <a:t>institutional growth </a:t>
            </a:r>
            <a:r>
              <a:rPr lang="en-US" sz="3200" dirty="0"/>
              <a:t>through data-driven insights</a:t>
            </a:r>
            <a:endParaRPr lang="en-IN" sz="32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0B91F9-43BF-E65E-B739-34DE766FB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1485900"/>
            <a:ext cx="16430625" cy="10020300"/>
          </a:xfrm>
          <a:prstGeom prst="rect">
            <a:avLst/>
          </a:prstGeom>
        </p:spPr>
      </p:pic>
      <p:sp>
        <p:nvSpPr>
          <p:cNvPr id="4" name="TextBox 3">
            <a:extLst>
              <a:ext uri="{FF2B5EF4-FFF2-40B4-BE49-F238E27FC236}">
                <a16:creationId xmlns:a16="http://schemas.microsoft.com/office/drawing/2014/main" id="{3DBE22ED-28C7-BE02-1868-5BAD0D108CD6}"/>
              </a:ext>
            </a:extLst>
          </p:cNvPr>
          <p:cNvSpPr txBox="1"/>
          <p:nvPr/>
        </p:nvSpPr>
        <p:spPr>
          <a:xfrm>
            <a:off x="7772400" y="0"/>
            <a:ext cx="5257800" cy="646331"/>
          </a:xfrm>
          <a:prstGeom prst="rect">
            <a:avLst/>
          </a:prstGeom>
          <a:noFill/>
        </p:spPr>
        <p:txBody>
          <a:bodyPr wrap="square" rtlCol="0">
            <a:spAutoFit/>
          </a:bodyPr>
          <a:lstStyle/>
          <a:p>
            <a:r>
              <a:rPr lang="en-IN" sz="3600" b="1" dirty="0"/>
              <a:t>TECHNICAL APPROACH </a:t>
            </a:r>
          </a:p>
        </p:txBody>
      </p:sp>
    </p:spTree>
    <p:extLst>
      <p:ext uri="{BB962C8B-B14F-4D97-AF65-F5344CB8AC3E}">
        <p14:creationId xmlns:p14="http://schemas.microsoft.com/office/powerpoint/2010/main" val="789240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1066800" y="434361"/>
            <a:ext cx="17830667" cy="823559"/>
          </a:xfrm>
          <a:prstGeom prst="rect">
            <a:avLst/>
          </a:prstGeom>
        </p:spPr>
        <p:txBody>
          <a:bodyPr wrap="square" lIns="0" tIns="0" rIns="0" bIns="0" rtlCol="0" anchor="t">
            <a:spAutoFit/>
          </a:bodyPr>
          <a:lstStyle/>
          <a:p>
            <a:pPr algn="l">
              <a:lnSpc>
                <a:spcPts val="7000"/>
              </a:lnSpc>
            </a:pPr>
            <a:r>
              <a:rPr lang="en-US" sz="5000" b="1" dirty="0">
                <a:solidFill>
                  <a:srgbClr val="000000"/>
                </a:solidFill>
                <a:latin typeface="Times New Roman Bold"/>
                <a:ea typeface="Times New Roman Bold"/>
                <a:cs typeface="Times New Roman Bold"/>
                <a:sym typeface="Times New Roman Bold"/>
              </a:rPr>
              <a:t>Innovation                                    Differentiation</a:t>
            </a:r>
          </a:p>
        </p:txBody>
      </p:sp>
      <p:grpSp>
        <p:nvGrpSpPr>
          <p:cNvPr id="3" name="Group 3"/>
          <p:cNvGrpSpPr/>
          <p:nvPr/>
        </p:nvGrpSpPr>
        <p:grpSpPr>
          <a:xfrm>
            <a:off x="16666366" y="8665366"/>
            <a:ext cx="1574009" cy="157400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txBody>
            <a:bodyPr/>
            <a:lstStyle/>
            <a:p>
              <a:endParaRPr lang="en-IN"/>
            </a:p>
          </p:txBody>
        </p:sp>
      </p:grpSp>
      <p:sp>
        <p:nvSpPr>
          <p:cNvPr id="5" name="TextBox 4">
            <a:extLst>
              <a:ext uri="{FF2B5EF4-FFF2-40B4-BE49-F238E27FC236}">
                <a16:creationId xmlns:a16="http://schemas.microsoft.com/office/drawing/2014/main" id="{4900C85E-7254-DFEE-36C6-3957A206FF89}"/>
              </a:ext>
            </a:extLst>
          </p:cNvPr>
          <p:cNvSpPr txBox="1"/>
          <p:nvPr/>
        </p:nvSpPr>
        <p:spPr>
          <a:xfrm>
            <a:off x="381000" y="1942643"/>
            <a:ext cx="8153400" cy="6124754"/>
          </a:xfrm>
          <a:prstGeom prst="rect">
            <a:avLst/>
          </a:prstGeom>
          <a:noFill/>
        </p:spPr>
        <p:txBody>
          <a:bodyPr wrap="square" rtlCol="0">
            <a:spAutoFit/>
          </a:bodyPr>
          <a:lstStyle/>
          <a:p>
            <a:pPr marL="514350" indent="-514350">
              <a:buFont typeface="+mj-lt"/>
              <a:buAutoNum type="arabicPeriod"/>
            </a:pPr>
            <a:r>
              <a:rPr lang="en-US" sz="2800" b="1" dirty="0"/>
              <a:t>Real-time dashboards</a:t>
            </a:r>
            <a:r>
              <a:rPr lang="en-US" sz="2800" dirty="0"/>
              <a:t>: live KPIs (attendance, fees, performance) for instant decisions.</a:t>
            </a:r>
          </a:p>
          <a:p>
            <a:pPr marL="514350" indent="-514350">
              <a:buFont typeface="+mj-lt"/>
              <a:buAutoNum type="arabicPeriod"/>
            </a:pPr>
            <a:r>
              <a:rPr lang="en-US" sz="2800" b="1" dirty="0"/>
              <a:t>AI-powered capabilities</a:t>
            </a:r>
            <a:r>
              <a:rPr lang="en-US" sz="2800" dirty="0"/>
              <a:t>: AI proctoring, predictive student-risk models, automated grading/analytics.</a:t>
            </a:r>
          </a:p>
          <a:p>
            <a:pPr marL="514350" indent="-514350">
              <a:buFont typeface="+mj-lt"/>
              <a:buAutoNum type="arabicPeriod"/>
            </a:pPr>
            <a:r>
              <a:rPr lang="en-US" sz="2800" b="1" dirty="0"/>
              <a:t>End-to-end lifecycle automation: admission → academics → hostel → exams → fees → alumni on one platform.</a:t>
            </a:r>
          </a:p>
          <a:p>
            <a:pPr marL="514350" indent="-514350">
              <a:buFont typeface="+mj-lt"/>
              <a:buAutoNum type="arabicPeriod"/>
            </a:pPr>
            <a:r>
              <a:rPr lang="en-US" sz="2800" b="1" dirty="0"/>
              <a:t>Unified campus workflows</a:t>
            </a:r>
            <a:r>
              <a:rPr lang="en-US" sz="2800" dirty="0"/>
              <a:t>: integrated hostel, mess, visitor, maintenance and finance processes.</a:t>
            </a:r>
          </a:p>
          <a:p>
            <a:pPr marL="514350" indent="-514350">
              <a:buFont typeface="+mj-lt"/>
              <a:buAutoNum type="arabicPeriod"/>
            </a:pPr>
            <a:r>
              <a:rPr lang="en-US" sz="2800" b="1" dirty="0"/>
              <a:t>Learning Hub with offline sync</a:t>
            </a:r>
            <a:r>
              <a:rPr lang="en-US" sz="2800" dirty="0"/>
              <a:t>: centralized resources, submissions, and offline access for low-connectivity users</a:t>
            </a:r>
          </a:p>
          <a:p>
            <a:pPr marL="514350" indent="-514350">
              <a:buFont typeface="+mj-lt"/>
              <a:buAutoNum type="arabicPeriod"/>
            </a:pPr>
            <a:r>
              <a:rPr lang="en-US" sz="2800" b="1" dirty="0"/>
              <a:t>Modular APIs &amp; plug-ins</a:t>
            </a:r>
            <a:r>
              <a:rPr lang="en-US" sz="2800" dirty="0"/>
              <a:t>: easy third-party integrations (payments, SIS, accounting, LMS).</a:t>
            </a:r>
            <a:endParaRPr lang="en-IN" sz="2800" dirty="0"/>
          </a:p>
        </p:txBody>
      </p:sp>
      <p:sp>
        <p:nvSpPr>
          <p:cNvPr id="9" name="Rectangle 3">
            <a:extLst>
              <a:ext uri="{FF2B5EF4-FFF2-40B4-BE49-F238E27FC236}">
                <a16:creationId xmlns:a16="http://schemas.microsoft.com/office/drawing/2014/main" id="{9CF21AC7-07EF-053A-D860-59D9AB5B03F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Native AI + automation (built-in) vs add-on tools: intelligence is part of the core product.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982B5CB8-822B-2567-66CC-691B4678F00D}"/>
              </a:ext>
            </a:extLst>
          </p:cNvPr>
          <p:cNvSpPr txBox="1"/>
          <p:nvPr/>
        </p:nvSpPr>
        <p:spPr>
          <a:xfrm>
            <a:off x="8867775" y="1942643"/>
            <a:ext cx="9372600" cy="5693866"/>
          </a:xfrm>
          <a:prstGeom prst="rect">
            <a:avLst/>
          </a:prstGeom>
          <a:noFill/>
        </p:spPr>
        <p:txBody>
          <a:bodyPr wrap="square" rtlCol="0">
            <a:spAutoFit/>
          </a:bodyPr>
          <a:lstStyle/>
          <a:p>
            <a:pPr marL="514350" indent="-514350">
              <a:buFont typeface="+mj-lt"/>
              <a:buAutoNum type="arabicPeriod"/>
            </a:pPr>
            <a:r>
              <a:rPr lang="en-US" sz="2800" b="1" dirty="0"/>
              <a:t>Single source of truth vs fragmented systems:</a:t>
            </a:r>
            <a:r>
              <a:rPr lang="en-US" sz="2800" dirty="0"/>
              <a:t> one unified database across departments.</a:t>
            </a:r>
          </a:p>
          <a:p>
            <a:pPr marL="514350" indent="-514350">
              <a:buFont typeface="+mj-lt"/>
              <a:buAutoNum type="arabicPeriod"/>
            </a:pPr>
            <a:r>
              <a:rPr lang="en-US" sz="2800" b="1" dirty="0"/>
              <a:t>Native AI + automation (built-in) vs add-on tools: </a:t>
            </a:r>
            <a:r>
              <a:rPr lang="en-US" sz="2800" dirty="0"/>
              <a:t>intelligence is part of the core product.</a:t>
            </a:r>
          </a:p>
          <a:p>
            <a:pPr marL="514350" indent="-514350">
              <a:buFont typeface="+mj-lt"/>
              <a:buAutoNum type="arabicPeriod"/>
            </a:pPr>
            <a:r>
              <a:rPr lang="en-US" sz="2800" b="1" dirty="0"/>
              <a:t>Real-time, proactive insights </a:t>
            </a:r>
            <a:r>
              <a:rPr lang="en-US" sz="2800" dirty="0"/>
              <a:t>vs periodic/batch reports.</a:t>
            </a:r>
          </a:p>
          <a:p>
            <a:pPr marL="514350" indent="-514350">
              <a:buFont typeface="+mj-lt"/>
              <a:buAutoNum type="arabicPeriod"/>
            </a:pPr>
            <a:r>
              <a:rPr lang="en-US" sz="2800" b="1" dirty="0"/>
              <a:t>Cloud-native SaaS: </a:t>
            </a:r>
            <a:r>
              <a:rPr lang="en-US" sz="2800" dirty="0"/>
              <a:t>fast deployment, scalability, lower IT overhead</a:t>
            </a:r>
          </a:p>
          <a:p>
            <a:pPr marL="514350" indent="-514350">
              <a:buFont typeface="+mj-lt"/>
              <a:buAutoNum type="arabicPeriod"/>
            </a:pPr>
            <a:r>
              <a:rPr lang="en-US" sz="2800" b="1" dirty="0"/>
              <a:t>Higher operational efficiency: </a:t>
            </a:r>
            <a:r>
              <a:rPr lang="en-US" sz="2800" dirty="0"/>
              <a:t>significant reduction in manual work and errors (staff time reclaimed).</a:t>
            </a:r>
          </a:p>
          <a:p>
            <a:pPr marL="514350" indent="-514350">
              <a:buFont typeface="+mj-lt"/>
              <a:buAutoNum type="arabicPeriod"/>
            </a:pPr>
            <a:r>
              <a:rPr lang="en-IN" sz="2800" b="1" dirty="0"/>
              <a:t>Mobile-first + parent/student portals: </a:t>
            </a:r>
            <a:r>
              <a:rPr lang="en-IN" sz="2800" dirty="0"/>
              <a:t>strong UX for all stakeholders, better engagement.</a:t>
            </a:r>
          </a:p>
          <a:p>
            <a:pPr marL="514350" indent="-514350">
              <a:buFont typeface="+mj-lt"/>
              <a:buAutoNum type="arabicPeriod"/>
            </a:pPr>
            <a:r>
              <a:rPr lang="en-US" sz="2800" b="1" dirty="0"/>
              <a:t>Affordability &amp; modularity: </a:t>
            </a:r>
            <a:r>
              <a:rPr lang="en-US" sz="2800" dirty="0"/>
              <a:t>pay-for-needed modules → suits small colleges to large campuses.</a:t>
            </a:r>
            <a:endParaRPr lang="en-IN"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2133600" y="190500"/>
            <a:ext cx="13639667" cy="823559"/>
          </a:xfrm>
          <a:prstGeom prst="rect">
            <a:avLst/>
          </a:prstGeom>
        </p:spPr>
        <p:txBody>
          <a:bodyPr lIns="0" tIns="0" rIns="0" bIns="0" rtlCol="0" anchor="t">
            <a:spAutoFit/>
          </a:bodyPr>
          <a:lstStyle/>
          <a:p>
            <a:pPr algn="l">
              <a:lnSpc>
                <a:spcPts val="7000"/>
              </a:lnSpc>
            </a:pPr>
            <a:r>
              <a:rPr lang="en-US" sz="5000" b="1" dirty="0">
                <a:solidFill>
                  <a:srgbClr val="000000"/>
                </a:solidFill>
                <a:latin typeface="Times New Roman Bold"/>
                <a:ea typeface="Times New Roman Bold"/>
                <a:cs typeface="Times New Roman Bold"/>
                <a:sym typeface="Times New Roman Bold"/>
              </a:rPr>
              <a:t>Target Beneficiaries                              Market</a:t>
            </a:r>
          </a:p>
        </p:txBody>
      </p:sp>
      <p:grpSp>
        <p:nvGrpSpPr>
          <p:cNvPr id="3" name="Group 3"/>
          <p:cNvGrpSpPr/>
          <p:nvPr/>
        </p:nvGrpSpPr>
        <p:grpSpPr>
          <a:xfrm>
            <a:off x="16656841" y="8665366"/>
            <a:ext cx="1574009" cy="157400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txBody>
            <a:bodyPr/>
            <a:lstStyle/>
            <a:p>
              <a:endParaRPr lang="en-IN"/>
            </a:p>
          </p:txBody>
        </p:sp>
      </p:grpSp>
      <p:sp>
        <p:nvSpPr>
          <p:cNvPr id="5" name="TextBox 4">
            <a:extLst>
              <a:ext uri="{FF2B5EF4-FFF2-40B4-BE49-F238E27FC236}">
                <a16:creationId xmlns:a16="http://schemas.microsoft.com/office/drawing/2014/main" id="{84C4F3F9-2066-7BB7-0AB6-F06C403F5FDA}"/>
              </a:ext>
            </a:extLst>
          </p:cNvPr>
          <p:cNvSpPr txBox="1"/>
          <p:nvPr/>
        </p:nvSpPr>
        <p:spPr>
          <a:xfrm>
            <a:off x="609600" y="1562100"/>
            <a:ext cx="8763000" cy="8556188"/>
          </a:xfrm>
          <a:prstGeom prst="rect">
            <a:avLst/>
          </a:prstGeom>
          <a:noFill/>
        </p:spPr>
        <p:txBody>
          <a:bodyPr wrap="square" rtlCol="0">
            <a:spAutoFit/>
          </a:bodyPr>
          <a:lstStyle/>
          <a:p>
            <a:r>
              <a:rPr lang="en-US" sz="2800" b="1" dirty="0"/>
              <a:t>Students:</a:t>
            </a:r>
            <a:endParaRPr lang="en-US" sz="2800" dirty="0"/>
          </a:p>
          <a:p>
            <a:pPr marL="457200" indent="-457200">
              <a:buFont typeface="Arial" panose="020B0604020202020204" pitchFamily="34" charset="0"/>
              <a:buChar char="•"/>
            </a:pPr>
            <a:r>
              <a:rPr lang="en-US" sz="2800" dirty="0"/>
              <a:t>Easy access to attendance, results, study materials &amp; fee records</a:t>
            </a:r>
          </a:p>
          <a:p>
            <a:pPr marL="457200" indent="-457200">
              <a:buFont typeface="Arial" panose="020B0604020202020204" pitchFamily="34" charset="0"/>
              <a:buChar char="•"/>
            </a:pPr>
            <a:r>
              <a:rPr lang="en-US" sz="2800" dirty="0"/>
              <a:t>Real-time updates and transparent academic progress</a:t>
            </a:r>
          </a:p>
          <a:p>
            <a:r>
              <a:rPr lang="en-US" sz="2800" b="1" dirty="0"/>
              <a:t>Faculty:</a:t>
            </a:r>
            <a:endParaRPr lang="en-US" sz="2800" dirty="0"/>
          </a:p>
          <a:p>
            <a:pPr marL="457200" indent="-457200">
              <a:buFont typeface="Arial" panose="020B0604020202020204" pitchFamily="34" charset="0"/>
              <a:buChar char="•"/>
            </a:pPr>
            <a:r>
              <a:rPr lang="en-US" sz="2800" dirty="0"/>
              <a:t>Automated attendance, marks entry &amp; result generation</a:t>
            </a:r>
          </a:p>
          <a:p>
            <a:pPr marL="457200" indent="-457200">
              <a:buFont typeface="Arial" panose="020B0604020202020204" pitchFamily="34" charset="0"/>
              <a:buChar char="•"/>
            </a:pPr>
            <a:r>
              <a:rPr lang="en-US" sz="2800" dirty="0"/>
              <a:t>Reduced paperwork and improved academic focus</a:t>
            </a:r>
          </a:p>
          <a:p>
            <a:r>
              <a:rPr lang="en-US" sz="2800" b="1" dirty="0"/>
              <a:t>Administrative Staff:</a:t>
            </a:r>
            <a:endParaRPr lang="en-US" sz="2800" dirty="0"/>
          </a:p>
          <a:p>
            <a:pPr marL="457200" indent="-457200">
              <a:buFont typeface="Arial" panose="020B0604020202020204" pitchFamily="34" charset="0"/>
              <a:buChar char="•"/>
            </a:pPr>
            <a:r>
              <a:rPr lang="en-US" sz="2800" dirty="0"/>
              <a:t>Streamlined admission, hostel, and fee processes</a:t>
            </a:r>
          </a:p>
          <a:p>
            <a:pPr marL="457200" indent="-457200">
              <a:buFont typeface="Arial" panose="020B0604020202020204" pitchFamily="34" charset="0"/>
              <a:buChar char="•"/>
            </a:pPr>
            <a:r>
              <a:rPr lang="en-US" sz="2800" dirty="0"/>
              <a:t>Reduced manual workload and faster operations</a:t>
            </a:r>
          </a:p>
          <a:p>
            <a:r>
              <a:rPr lang="en-US" sz="2800" b="1" dirty="0"/>
              <a:t>College Management:</a:t>
            </a:r>
            <a:endParaRPr lang="en-US" sz="2800" dirty="0"/>
          </a:p>
          <a:p>
            <a:pPr marL="457200" indent="-457200">
              <a:buFont typeface="Arial" panose="020B0604020202020204" pitchFamily="34" charset="0"/>
              <a:buChar char="•"/>
            </a:pPr>
            <a:r>
              <a:rPr lang="en-US" sz="2800" dirty="0"/>
              <a:t>Centralized data and real-time analytics for better decisions</a:t>
            </a:r>
          </a:p>
          <a:p>
            <a:pPr marL="457200" indent="-457200">
              <a:buFont typeface="Arial" panose="020B0604020202020204" pitchFamily="34" charset="0"/>
              <a:buChar char="•"/>
            </a:pPr>
            <a:r>
              <a:rPr lang="en-US" sz="2800" dirty="0"/>
              <a:t>Improved resource utilization and institutional efficiency</a:t>
            </a:r>
          </a:p>
          <a:p>
            <a:r>
              <a:rPr lang="en-US" sz="2800" b="1" dirty="0"/>
              <a:t>Government &amp; Accreditation Bodies (Indirect):</a:t>
            </a:r>
            <a:endParaRPr lang="en-US" sz="2800" dirty="0"/>
          </a:p>
          <a:p>
            <a:pPr marL="457200" indent="-457200">
              <a:buFont typeface="Arial" panose="020B0604020202020204" pitchFamily="34" charset="0"/>
              <a:buChar char="•"/>
            </a:pPr>
            <a:r>
              <a:rPr lang="en-US" sz="2800" dirty="0"/>
              <a:t>Accurate digital records for audits, compliance &amp; reporting</a:t>
            </a:r>
          </a:p>
          <a:p>
            <a:endParaRPr lang="en-US" sz="2800" dirty="0"/>
          </a:p>
          <a:p>
            <a:endParaRPr lang="en-IN" dirty="0"/>
          </a:p>
        </p:txBody>
      </p:sp>
      <p:sp>
        <p:nvSpPr>
          <p:cNvPr id="7" name="TextBox 6">
            <a:extLst>
              <a:ext uri="{FF2B5EF4-FFF2-40B4-BE49-F238E27FC236}">
                <a16:creationId xmlns:a16="http://schemas.microsoft.com/office/drawing/2014/main" id="{EB704C1A-6CB0-9382-DF21-2BF0B6226D80}"/>
              </a:ext>
            </a:extLst>
          </p:cNvPr>
          <p:cNvSpPr txBox="1"/>
          <p:nvPr/>
        </p:nvSpPr>
        <p:spPr>
          <a:xfrm>
            <a:off x="10204845" y="1562100"/>
            <a:ext cx="7239000" cy="7848302"/>
          </a:xfrm>
          <a:prstGeom prst="rect">
            <a:avLst/>
          </a:prstGeom>
          <a:noFill/>
        </p:spPr>
        <p:txBody>
          <a:bodyPr wrap="square" rtlCol="0">
            <a:spAutoFit/>
          </a:bodyPr>
          <a:lstStyle/>
          <a:p>
            <a:pPr marL="457200" indent="-457200">
              <a:buFont typeface="Arial" panose="020B0604020202020204" pitchFamily="34" charset="0"/>
              <a:buChar char="•"/>
            </a:pPr>
            <a:r>
              <a:rPr lang="en-US" sz="2800" dirty="0"/>
              <a:t>India’s EdTech ERP market projected to reach </a:t>
            </a:r>
            <a:r>
              <a:rPr lang="en-US" sz="2800" b="1" dirty="0"/>
              <a:t>$1.5–2B by 2030</a:t>
            </a:r>
            <a:r>
              <a:rPr lang="en-US" sz="2800" dirty="0"/>
              <a:t> with rising digitization in education</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Targeting </a:t>
            </a:r>
            <a:r>
              <a:rPr lang="en-US" sz="2800" b="1" dirty="0"/>
              <a:t>colleges, universities, and technical institutes</a:t>
            </a:r>
            <a:r>
              <a:rPr lang="en-US" sz="2800" dirty="0"/>
              <a:t>, especially in Tier-2 &amp; Tier-3 cities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Existing systems are </a:t>
            </a:r>
            <a:r>
              <a:rPr lang="en-US" sz="2800" b="1" dirty="0"/>
              <a:t>fragmented and manual</a:t>
            </a:r>
            <a:r>
              <a:rPr lang="en-US" sz="2800" dirty="0"/>
              <a:t>, lacking unified lifecycle automation</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Existing systems are </a:t>
            </a:r>
            <a:r>
              <a:rPr lang="en-US" sz="2800" b="1" dirty="0"/>
              <a:t>fragmented and manual</a:t>
            </a:r>
            <a:r>
              <a:rPr lang="en-US" sz="2800" dirty="0"/>
              <a:t>, lacking unified lifecycle automation</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Growth driven by </a:t>
            </a:r>
            <a:r>
              <a:rPr lang="en-US" sz="2800" b="1" dirty="0"/>
              <a:t>Digital India</a:t>
            </a:r>
            <a:r>
              <a:rPr lang="en-US" sz="2800" dirty="0"/>
              <a:t> and </a:t>
            </a:r>
            <a:r>
              <a:rPr lang="en-US" sz="2800" b="1" dirty="0"/>
              <a:t>NEP 2020</a:t>
            </a:r>
            <a:r>
              <a:rPr lang="en-US" sz="2800" dirty="0"/>
              <a:t> promoting paperless, data-driven campuses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High demand for </a:t>
            </a:r>
            <a:r>
              <a:rPr lang="en-US" sz="2800" b="1" dirty="0"/>
              <a:t>AI-based analytics, online exams, and cashless fee systems</a:t>
            </a:r>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35257" y="0"/>
            <a:ext cx="18217486" cy="823559"/>
          </a:xfrm>
          <a:prstGeom prst="rect">
            <a:avLst/>
          </a:prstGeom>
        </p:spPr>
        <p:txBody>
          <a:bodyPr wrap="square" lIns="0" tIns="0" rIns="0" bIns="0" rtlCol="0" anchor="t">
            <a:spAutoFit/>
          </a:bodyPr>
          <a:lstStyle/>
          <a:p>
            <a:pPr algn="l">
              <a:lnSpc>
                <a:spcPts val="7000"/>
              </a:lnSpc>
            </a:pPr>
            <a:r>
              <a:rPr lang="en-US" sz="5000" b="1" dirty="0">
                <a:solidFill>
                  <a:srgbClr val="000000"/>
                </a:solidFill>
                <a:latin typeface="Times New Roman Bold"/>
                <a:ea typeface="Times New Roman Bold"/>
                <a:cs typeface="Times New Roman Bold"/>
                <a:sym typeface="Times New Roman Bold"/>
              </a:rPr>
              <a:t>Business Model                                                     Sustainability</a:t>
            </a:r>
          </a:p>
        </p:txBody>
      </p:sp>
      <p:grpSp>
        <p:nvGrpSpPr>
          <p:cNvPr id="3" name="Group 3"/>
          <p:cNvGrpSpPr/>
          <p:nvPr/>
        </p:nvGrpSpPr>
        <p:grpSpPr>
          <a:xfrm>
            <a:off x="16666366" y="8665366"/>
            <a:ext cx="1574009" cy="157400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txBody>
            <a:bodyPr/>
            <a:lstStyle/>
            <a:p>
              <a:endParaRPr lang="en-IN"/>
            </a:p>
          </p:txBody>
        </p:sp>
      </p:grpSp>
      <p:sp>
        <p:nvSpPr>
          <p:cNvPr id="7" name="TextBox 6">
            <a:extLst>
              <a:ext uri="{FF2B5EF4-FFF2-40B4-BE49-F238E27FC236}">
                <a16:creationId xmlns:a16="http://schemas.microsoft.com/office/drawing/2014/main" id="{4604E94D-46E3-E319-51E1-6A650C1166BD}"/>
              </a:ext>
            </a:extLst>
          </p:cNvPr>
          <p:cNvSpPr txBox="1"/>
          <p:nvPr/>
        </p:nvSpPr>
        <p:spPr>
          <a:xfrm>
            <a:off x="35257" y="958850"/>
            <a:ext cx="11928143" cy="8956298"/>
          </a:xfrm>
          <a:prstGeom prst="rect">
            <a:avLst/>
          </a:prstGeom>
          <a:noFill/>
        </p:spPr>
        <p:txBody>
          <a:bodyPr wrap="square" rtlCol="0">
            <a:spAutoFit/>
          </a:bodyPr>
          <a:lstStyle/>
          <a:p>
            <a:pPr marL="342900" indent="-342900">
              <a:buFont typeface="+mj-lt"/>
              <a:buAutoNum type="arabicPeriod"/>
            </a:pPr>
            <a:r>
              <a:rPr lang="en-US" sz="3200" b="1" dirty="0"/>
              <a:t>Revenue Streams:</a:t>
            </a:r>
            <a:r>
              <a:rPr lang="en-US" sz="3200" dirty="0"/>
              <a:t> Tiered SaaS subscriptions (per-institution or per-student), implementation &amp; onboarding fees, transaction fees on payments, paid add-on modules, customization &amp; integration contracts, and paid support/training.</a:t>
            </a:r>
          </a:p>
          <a:p>
            <a:pPr marL="342900" indent="-342900">
              <a:buFont typeface="+mj-lt"/>
              <a:buAutoNum type="arabicPeriod"/>
            </a:pPr>
            <a:r>
              <a:rPr lang="en-US" sz="3200" b="1" dirty="0"/>
              <a:t>Pricing Strategy:</a:t>
            </a:r>
            <a:r>
              <a:rPr lang="en-US" sz="3200" dirty="0"/>
              <a:t> Multi-tier pricing (Basic / Pro / Enterprise) + per-student-per-year or campus-seat licensing; usage-based billing for heavy services (AI proctoring, storage).</a:t>
            </a:r>
          </a:p>
          <a:p>
            <a:pPr marL="342900" indent="-342900">
              <a:buFont typeface="+mj-lt"/>
              <a:buAutoNum type="arabicPeriod"/>
            </a:pPr>
            <a:r>
              <a:rPr lang="en-US" sz="3200" b="1" dirty="0"/>
              <a:t>Recurring Services:</a:t>
            </a:r>
            <a:r>
              <a:rPr lang="en-US" sz="3200" dirty="0"/>
              <a:t> Annual support &amp; maintenance contracts, premium analytics reports, and SLA-backed uptime plans.</a:t>
            </a:r>
          </a:p>
          <a:p>
            <a:pPr marL="342900" indent="-342900">
              <a:buFont typeface="+mj-lt"/>
              <a:buAutoNum type="arabicPeriod"/>
            </a:pPr>
            <a:r>
              <a:rPr lang="en-US" sz="3200" b="1" dirty="0"/>
              <a:t>Unit Economics Focus:</a:t>
            </a:r>
            <a:r>
              <a:rPr lang="en-US" sz="3200" dirty="0"/>
              <a:t> Target high gross margins (SaaS), optimize CAC vs LTV.</a:t>
            </a:r>
          </a:p>
          <a:p>
            <a:pPr marL="342900" indent="-342900">
              <a:buFont typeface="+mj-lt"/>
              <a:buAutoNum type="arabicPeriod"/>
            </a:pPr>
            <a:r>
              <a:rPr lang="en-US" sz="3200" b="1" dirty="0"/>
              <a:t>Go-to-Market:</a:t>
            </a:r>
            <a:r>
              <a:rPr lang="en-US" sz="3200" dirty="0"/>
              <a:t> Direct sales to colleges, regional resellers for Tier-2/3, government tenders, and pilot-first approach for adoption.</a:t>
            </a:r>
          </a:p>
          <a:p>
            <a:pPr marL="342900" indent="-342900">
              <a:buFont typeface="+mj-lt"/>
              <a:buAutoNum type="arabicPeriod"/>
            </a:pPr>
            <a:r>
              <a:rPr lang="en-US" sz="3200" b="1" dirty="0"/>
              <a:t>Customer Acquisition Tactics:</a:t>
            </a:r>
            <a:r>
              <a:rPr lang="en-US" sz="3200" dirty="0"/>
              <a:t> Free pilots, case studies, campus ambassadors, education conferences, and referral discounts.</a:t>
            </a:r>
          </a:p>
          <a:p>
            <a:pPr marL="342900" indent="-342900">
              <a:buFont typeface="+mj-lt"/>
              <a:buAutoNum type="arabicPeriod"/>
            </a:pPr>
            <a:r>
              <a:rPr lang="en-US" sz="3200" b="1" dirty="0"/>
              <a:t>Scalability Plan:</a:t>
            </a:r>
            <a:r>
              <a:rPr lang="en-US" sz="3200" dirty="0"/>
              <a:t> Cloud-native multi-tenant architecture, microservices, horizontal scaling for proctoring and analytics, and robust APIs.</a:t>
            </a:r>
            <a:endParaRPr lang="en-IN" sz="3200" dirty="0"/>
          </a:p>
        </p:txBody>
      </p:sp>
      <p:sp>
        <p:nvSpPr>
          <p:cNvPr id="9" name="TextBox 8">
            <a:extLst>
              <a:ext uri="{FF2B5EF4-FFF2-40B4-BE49-F238E27FC236}">
                <a16:creationId xmlns:a16="http://schemas.microsoft.com/office/drawing/2014/main" id="{3F2D399D-C0E2-CA0F-2A15-F8310795FC8C}"/>
              </a:ext>
            </a:extLst>
          </p:cNvPr>
          <p:cNvSpPr txBox="1"/>
          <p:nvPr/>
        </p:nvSpPr>
        <p:spPr>
          <a:xfrm>
            <a:off x="12344400" y="1028700"/>
            <a:ext cx="5895975" cy="5016758"/>
          </a:xfrm>
          <a:prstGeom prst="rect">
            <a:avLst/>
          </a:prstGeom>
          <a:noFill/>
        </p:spPr>
        <p:txBody>
          <a:bodyPr wrap="square" rtlCol="0">
            <a:spAutoFit/>
          </a:bodyPr>
          <a:lstStyle/>
          <a:p>
            <a:pPr marL="514350" indent="-514350">
              <a:buFont typeface="+mj-lt"/>
              <a:buAutoNum type="arabicPeriod"/>
            </a:pPr>
            <a:r>
              <a:rPr lang="en-US" sz="3200" b="1" dirty="0"/>
              <a:t>Financial:</a:t>
            </a:r>
            <a:r>
              <a:rPr lang="en-US" sz="3200" dirty="0"/>
              <a:t> SaaS subscriptions, add-ons, and partnerships ensure recurring revenue.</a:t>
            </a:r>
          </a:p>
          <a:p>
            <a:pPr marL="514350" indent="-514350">
              <a:buFont typeface="+mj-lt"/>
              <a:buAutoNum type="arabicPeriod"/>
            </a:pPr>
            <a:r>
              <a:rPr lang="en-US" sz="3200" b="1" dirty="0"/>
              <a:t>Social:</a:t>
            </a:r>
            <a:r>
              <a:rPr lang="en-US" sz="3200" dirty="0"/>
              <a:t> Affordable plans and offline access promote inclusivity.</a:t>
            </a:r>
          </a:p>
          <a:p>
            <a:pPr marL="514350" indent="-514350">
              <a:buFont typeface="+mj-lt"/>
              <a:buAutoNum type="arabicPeriod"/>
            </a:pPr>
            <a:r>
              <a:rPr lang="en-US" sz="3200" b="1" dirty="0"/>
              <a:t>Environmental:</a:t>
            </a:r>
            <a:r>
              <a:rPr lang="en-US" sz="3200" dirty="0"/>
              <a:t> Paperless operations and green cloud hosting reduce carbon footprint.</a:t>
            </a:r>
            <a:endParaRPr lang="en-IN"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248572" y="24943"/>
            <a:ext cx="13639667" cy="958850"/>
          </a:xfrm>
          <a:prstGeom prst="rect">
            <a:avLst/>
          </a:prstGeom>
        </p:spPr>
        <p:txBody>
          <a:bodyPr lIns="0" tIns="0" rIns="0" bIns="0" rtlCol="0" anchor="t">
            <a:spAutoFit/>
          </a:bodyPr>
          <a:lstStyle/>
          <a:p>
            <a:pPr algn="l">
              <a:lnSpc>
                <a:spcPts val="7000"/>
              </a:lnSpc>
            </a:pPr>
            <a:r>
              <a:rPr lang="en-US" sz="5000" b="1" dirty="0">
                <a:solidFill>
                  <a:srgbClr val="000000"/>
                </a:solidFill>
                <a:latin typeface="Times New Roman Bold"/>
                <a:ea typeface="Times New Roman Bold"/>
                <a:cs typeface="Times New Roman Bold"/>
                <a:sym typeface="Times New Roman Bold"/>
              </a:rPr>
              <a:t>Progress &amp; Roadmap :</a:t>
            </a:r>
          </a:p>
        </p:txBody>
      </p:sp>
      <p:grpSp>
        <p:nvGrpSpPr>
          <p:cNvPr id="3" name="Group 3"/>
          <p:cNvGrpSpPr/>
          <p:nvPr/>
        </p:nvGrpSpPr>
        <p:grpSpPr>
          <a:xfrm>
            <a:off x="16666366" y="8665366"/>
            <a:ext cx="1574009" cy="157400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txBody>
            <a:bodyPr/>
            <a:lstStyle/>
            <a:p>
              <a:endParaRPr lang="en-IN"/>
            </a:p>
          </p:txBody>
        </p:sp>
      </p:grpSp>
      <p:sp>
        <p:nvSpPr>
          <p:cNvPr id="5" name="TextBox 4">
            <a:extLst>
              <a:ext uri="{FF2B5EF4-FFF2-40B4-BE49-F238E27FC236}">
                <a16:creationId xmlns:a16="http://schemas.microsoft.com/office/drawing/2014/main" id="{BEACA324-9545-11A8-D6E8-B7766C110A50}"/>
              </a:ext>
            </a:extLst>
          </p:cNvPr>
          <p:cNvSpPr txBox="1"/>
          <p:nvPr/>
        </p:nvSpPr>
        <p:spPr>
          <a:xfrm>
            <a:off x="261082" y="1181100"/>
            <a:ext cx="8382000" cy="2092881"/>
          </a:xfrm>
          <a:prstGeom prst="rect">
            <a:avLst/>
          </a:prstGeom>
          <a:noFill/>
        </p:spPr>
        <p:txBody>
          <a:bodyPr wrap="square" rtlCol="0">
            <a:spAutoFit/>
          </a:bodyPr>
          <a:lstStyle/>
          <a:p>
            <a:r>
              <a:rPr lang="en-US" sz="2800" b="1" dirty="0"/>
              <a:t>Current progress :</a:t>
            </a:r>
          </a:p>
          <a:p>
            <a:r>
              <a:rPr lang="en-US" sz="2800" b="1" dirty="0"/>
              <a:t>Status:</a:t>
            </a:r>
            <a:r>
              <a:rPr lang="en-US" sz="2800" dirty="0"/>
              <a:t> Concept, module list and requirements done; wireframes &amp; tech-stack selected; prototype is Under development.</a:t>
            </a:r>
          </a:p>
          <a:p>
            <a:endParaRPr lang="en-IN" dirty="0"/>
          </a:p>
        </p:txBody>
      </p:sp>
      <p:sp>
        <p:nvSpPr>
          <p:cNvPr id="6" name="TextBox 5">
            <a:extLst>
              <a:ext uri="{FF2B5EF4-FFF2-40B4-BE49-F238E27FC236}">
                <a16:creationId xmlns:a16="http://schemas.microsoft.com/office/drawing/2014/main" id="{2243A1D2-1E63-50D6-ACC1-9C624765E7E2}"/>
              </a:ext>
            </a:extLst>
          </p:cNvPr>
          <p:cNvSpPr txBox="1"/>
          <p:nvPr/>
        </p:nvSpPr>
        <p:spPr>
          <a:xfrm>
            <a:off x="457200" y="3467100"/>
            <a:ext cx="9982200" cy="6186309"/>
          </a:xfrm>
          <a:prstGeom prst="rect">
            <a:avLst/>
          </a:prstGeom>
          <a:noFill/>
        </p:spPr>
        <p:txBody>
          <a:bodyPr wrap="square" rtlCol="0">
            <a:spAutoFit/>
          </a:bodyPr>
          <a:lstStyle/>
          <a:p>
            <a:r>
              <a:rPr lang="en-IN" sz="3200" b="1" dirty="0"/>
              <a:t>Next Steps :</a:t>
            </a:r>
          </a:p>
          <a:p>
            <a:endParaRPr lang="en-IN" sz="2800" b="1" dirty="0"/>
          </a:p>
          <a:p>
            <a:r>
              <a:rPr lang="en-IN" sz="2800" b="1" dirty="0"/>
              <a:t>Phase 1 — Months 0–2: MVP &amp; Live Demo</a:t>
            </a:r>
            <a:endParaRPr lang="en-IN" sz="2800" dirty="0"/>
          </a:p>
          <a:p>
            <a:r>
              <a:rPr lang="en-IN" sz="2800" dirty="0"/>
              <a:t>Deliver a polished MVP of </a:t>
            </a:r>
            <a:r>
              <a:rPr lang="en-IN" sz="2800" b="1" dirty="0"/>
              <a:t>3 demo flows</a:t>
            </a:r>
            <a:r>
              <a:rPr lang="en-IN" sz="2800" dirty="0"/>
              <a:t> (Attendance via QR, Fee payment sandbox, Unified Dashboard) with backend APIs, seeded data and responsive UI — </a:t>
            </a:r>
            <a:r>
              <a:rPr lang="en-IN" sz="2800" b="1" dirty="0"/>
              <a:t>demo-ready</a:t>
            </a:r>
            <a:r>
              <a:rPr lang="en-IN" sz="2800" dirty="0"/>
              <a:t>.(ongoing)</a:t>
            </a:r>
          </a:p>
          <a:p>
            <a:endParaRPr lang="en-IN" sz="2800" dirty="0"/>
          </a:p>
          <a:p>
            <a:r>
              <a:rPr lang="en-IN" sz="2800" b="1" dirty="0"/>
              <a:t>Phase 2 — Months 3–4: Integrations &amp; AI Prototype</a:t>
            </a:r>
            <a:endParaRPr lang="en-IN" sz="2800" dirty="0"/>
          </a:p>
          <a:p>
            <a:r>
              <a:rPr lang="en-IN" sz="2800" dirty="0"/>
              <a:t>Add payment gateway sandbox, hostel allocation mock, and a lightweight </a:t>
            </a:r>
            <a:r>
              <a:rPr lang="en-IN" sz="2800" b="1" dirty="0"/>
              <a:t>AI demo</a:t>
            </a:r>
            <a:r>
              <a:rPr lang="en-IN" sz="2800" dirty="0"/>
              <a:t> (attendance-risk alert + short proctoring prototype using 3rd-party or recorded session).</a:t>
            </a:r>
          </a:p>
          <a:p>
            <a:endParaRPr lang="en-IN" sz="2800" dirty="0"/>
          </a:p>
          <a:p>
            <a:r>
              <a:rPr lang="en-IN" sz="2800" b="1" dirty="0"/>
              <a:t>Phase 3 — Months 5–6: Polish, Pilot &amp; Pitch</a:t>
            </a:r>
            <a:endParaRPr lang="en-IN" sz="2800" dirty="0"/>
          </a:p>
          <a:p>
            <a:r>
              <a:rPr lang="en-IN" sz="2800" dirty="0"/>
              <a:t>Polish UX, QA, deploy cloud demo.</a:t>
            </a:r>
          </a:p>
        </p:txBody>
      </p:sp>
      <p:sp>
        <p:nvSpPr>
          <p:cNvPr id="7" name="TextBox 6">
            <a:extLst>
              <a:ext uri="{FF2B5EF4-FFF2-40B4-BE49-F238E27FC236}">
                <a16:creationId xmlns:a16="http://schemas.microsoft.com/office/drawing/2014/main" id="{E0AEE78A-3836-C622-94C3-1F4D7BB284A5}"/>
              </a:ext>
            </a:extLst>
          </p:cNvPr>
          <p:cNvSpPr txBox="1"/>
          <p:nvPr/>
        </p:nvSpPr>
        <p:spPr>
          <a:xfrm>
            <a:off x="11125200" y="983793"/>
            <a:ext cx="6400800" cy="584775"/>
          </a:xfrm>
          <a:prstGeom prst="rect">
            <a:avLst/>
          </a:prstGeom>
          <a:noFill/>
        </p:spPr>
        <p:txBody>
          <a:bodyPr wrap="square" rtlCol="0">
            <a:spAutoFit/>
          </a:bodyPr>
          <a:lstStyle/>
          <a:p>
            <a:r>
              <a:rPr lang="en-IN" sz="3200" b="1" dirty="0"/>
              <a:t>Challenges &amp; Strategies</a:t>
            </a:r>
          </a:p>
        </p:txBody>
      </p:sp>
      <p:sp>
        <p:nvSpPr>
          <p:cNvPr id="8" name="TextBox 7">
            <a:extLst>
              <a:ext uri="{FF2B5EF4-FFF2-40B4-BE49-F238E27FC236}">
                <a16:creationId xmlns:a16="http://schemas.microsoft.com/office/drawing/2014/main" id="{5377FD85-F303-9D38-77D3-948C33579280}"/>
              </a:ext>
            </a:extLst>
          </p:cNvPr>
          <p:cNvSpPr txBox="1"/>
          <p:nvPr/>
        </p:nvSpPr>
        <p:spPr>
          <a:xfrm>
            <a:off x="11125200" y="1714500"/>
            <a:ext cx="6705600" cy="6001643"/>
          </a:xfrm>
          <a:prstGeom prst="rect">
            <a:avLst/>
          </a:prstGeom>
          <a:noFill/>
        </p:spPr>
        <p:txBody>
          <a:bodyPr wrap="square" rtlCol="0">
            <a:spAutoFit/>
          </a:bodyPr>
          <a:lstStyle/>
          <a:p>
            <a:pPr marL="514350" indent="-514350">
              <a:buFont typeface="+mj-lt"/>
              <a:buAutoNum type="arabicPeriod"/>
            </a:pPr>
            <a:r>
              <a:rPr lang="en-US" sz="3200" b="1" dirty="0"/>
              <a:t>Demo reliability:</a:t>
            </a:r>
            <a:r>
              <a:rPr lang="en-US" sz="3200" dirty="0"/>
              <a:t> Use recorded fallback + pre-seeded demo data for live demo.</a:t>
            </a:r>
          </a:p>
          <a:p>
            <a:pPr marL="514350" indent="-514350">
              <a:buFont typeface="+mj-lt"/>
              <a:buAutoNum type="arabicPeriod"/>
            </a:pPr>
            <a:r>
              <a:rPr lang="en-US" sz="3200" b="1" dirty="0"/>
              <a:t>Real-time scalability: </a:t>
            </a:r>
            <a:r>
              <a:rPr lang="en-US" sz="3200" dirty="0"/>
              <a:t>Cloud </a:t>
            </a:r>
            <a:r>
              <a:rPr lang="en-US" sz="3200" dirty="0" err="1"/>
              <a:t>autoscale</a:t>
            </a:r>
            <a:r>
              <a:rPr lang="en-US" sz="3200" dirty="0"/>
              <a:t>, caching, and event-driven streams.</a:t>
            </a:r>
          </a:p>
          <a:p>
            <a:pPr marL="514350" indent="-514350">
              <a:buFont typeface="+mj-lt"/>
              <a:buAutoNum type="arabicPeriod"/>
            </a:pPr>
            <a:r>
              <a:rPr lang="en-US" sz="3200" b="1" dirty="0"/>
              <a:t>AI reliability &amp; bias:</a:t>
            </a:r>
            <a:r>
              <a:rPr lang="en-US" sz="3200" dirty="0"/>
              <a:t> Simple explainable model + human review loop for flagged cases.</a:t>
            </a:r>
          </a:p>
          <a:p>
            <a:pPr marL="514350" indent="-514350">
              <a:buFont typeface="+mj-lt"/>
              <a:buAutoNum type="arabicPeriod"/>
            </a:pPr>
            <a:r>
              <a:rPr lang="en-US" sz="3200" b="1" dirty="0"/>
              <a:t>User adoption:</a:t>
            </a:r>
            <a:r>
              <a:rPr lang="en-US" sz="3200" dirty="0"/>
              <a:t> Run short training, simple UI, and pilot champion to drive uptake.</a:t>
            </a:r>
            <a:endParaRPr lang="en-IN"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248573" y="983793"/>
            <a:ext cx="13639667" cy="958850"/>
          </a:xfrm>
          <a:prstGeom prst="rect">
            <a:avLst/>
          </a:prstGeom>
        </p:spPr>
        <p:txBody>
          <a:bodyPr lIns="0" tIns="0" rIns="0" bIns="0" rtlCol="0" anchor="t">
            <a:spAutoFit/>
          </a:bodyPr>
          <a:lstStyle/>
          <a:p>
            <a:pPr algn="l">
              <a:lnSpc>
                <a:spcPts val="7000"/>
              </a:lnSpc>
            </a:pPr>
            <a:r>
              <a:rPr lang="en-US" sz="5000" b="1">
                <a:solidFill>
                  <a:srgbClr val="000000"/>
                </a:solidFill>
                <a:latin typeface="Times New Roman Bold"/>
                <a:ea typeface="Times New Roman Bold"/>
                <a:cs typeface="Times New Roman Bold"/>
                <a:sym typeface="Times New Roman Bold"/>
              </a:rPr>
              <a:t>References :</a:t>
            </a:r>
          </a:p>
        </p:txBody>
      </p:sp>
      <p:grpSp>
        <p:nvGrpSpPr>
          <p:cNvPr id="3" name="Group 3"/>
          <p:cNvGrpSpPr/>
          <p:nvPr/>
        </p:nvGrpSpPr>
        <p:grpSpPr>
          <a:xfrm>
            <a:off x="16666366" y="8665366"/>
            <a:ext cx="1574009" cy="157400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txBody>
            <a:bodyPr/>
            <a:lstStyle/>
            <a:p>
              <a:endParaRPr lang="en-IN"/>
            </a:p>
          </p:txBody>
        </p:sp>
      </p:grpSp>
      <p:sp>
        <p:nvSpPr>
          <p:cNvPr id="5" name="TextBox 4">
            <a:extLst>
              <a:ext uri="{FF2B5EF4-FFF2-40B4-BE49-F238E27FC236}">
                <a16:creationId xmlns:a16="http://schemas.microsoft.com/office/drawing/2014/main" id="{0AF67AF9-973E-534B-03C6-17B585BD4EC6}"/>
              </a:ext>
            </a:extLst>
          </p:cNvPr>
          <p:cNvSpPr txBox="1"/>
          <p:nvPr/>
        </p:nvSpPr>
        <p:spPr>
          <a:xfrm>
            <a:off x="609600" y="2095500"/>
            <a:ext cx="16916400" cy="3970318"/>
          </a:xfrm>
          <a:prstGeom prst="rect">
            <a:avLst/>
          </a:prstGeom>
          <a:noFill/>
        </p:spPr>
        <p:txBody>
          <a:bodyPr wrap="square" rtlCol="0">
            <a:spAutoFit/>
          </a:bodyPr>
          <a:lstStyle/>
          <a:p>
            <a:pPr marL="742950" indent="-742950">
              <a:buFont typeface="+mj-lt"/>
              <a:buAutoNum type="arabicPeriod"/>
            </a:pPr>
            <a:r>
              <a:rPr lang="en-US" sz="3600" dirty="0">
                <a:hlinkClick r:id="rId3"/>
              </a:rPr>
              <a:t>National Education Policy (NEP) 2020</a:t>
            </a:r>
            <a:endParaRPr lang="en-US" sz="3600" dirty="0"/>
          </a:p>
          <a:p>
            <a:pPr marL="742950" indent="-742950">
              <a:buFont typeface="+mj-lt"/>
              <a:buAutoNum type="arabicPeriod"/>
            </a:pPr>
            <a:r>
              <a:rPr lang="en-US" sz="3600" dirty="0">
                <a:hlinkClick r:id="rId4"/>
              </a:rPr>
              <a:t>PRAGYATA Guidelines for Digital Education (MHRD/</a:t>
            </a:r>
            <a:r>
              <a:rPr lang="en-US" sz="3600" dirty="0" err="1">
                <a:hlinkClick r:id="rId4"/>
              </a:rPr>
              <a:t>MoE</a:t>
            </a:r>
            <a:r>
              <a:rPr lang="en-US" sz="3600" dirty="0">
                <a:hlinkClick r:id="rId4"/>
              </a:rPr>
              <a:t> 2020)</a:t>
            </a:r>
            <a:endParaRPr lang="en-US" sz="3600" dirty="0"/>
          </a:p>
          <a:p>
            <a:pPr marL="742950" indent="-742950">
              <a:buFont typeface="+mj-lt"/>
              <a:buAutoNum type="arabicPeriod"/>
            </a:pPr>
            <a:r>
              <a:rPr lang="en-IN" sz="3600" dirty="0">
                <a:hlinkClick r:id="rId5"/>
              </a:rPr>
              <a:t> National Digital Educational Architecture (NDEAR)</a:t>
            </a:r>
            <a:endParaRPr lang="en-IN" sz="3600" dirty="0"/>
          </a:p>
          <a:p>
            <a:pPr marL="742950" indent="-742950">
              <a:buFont typeface="+mj-lt"/>
              <a:buAutoNum type="arabicPeriod"/>
            </a:pPr>
            <a:r>
              <a:rPr lang="en-US" sz="3600" dirty="0">
                <a:hlinkClick r:id="rId6"/>
              </a:rPr>
              <a:t>AICTE (All India Council for Technical Education) Guidelines</a:t>
            </a:r>
            <a:endParaRPr lang="en-US" sz="3600" dirty="0"/>
          </a:p>
          <a:p>
            <a:pPr marL="742950" indent="-742950">
              <a:buFont typeface="+mj-lt"/>
              <a:buAutoNum type="arabicPeriod"/>
            </a:pPr>
            <a:r>
              <a:rPr lang="en-IN" sz="3600" dirty="0">
                <a:hlinkClick r:id="rId7"/>
              </a:rPr>
              <a:t>UGC (University Grants Commission) Digital Education Policy</a:t>
            </a:r>
            <a:endParaRPr lang="en-IN" sz="3600" dirty="0"/>
          </a:p>
          <a:p>
            <a:pPr marL="742950" indent="-742950">
              <a:buFont typeface="+mj-lt"/>
              <a:buAutoNum type="arabicPeriod"/>
            </a:pPr>
            <a:r>
              <a:rPr lang="en-US" sz="3600" dirty="0">
                <a:hlinkClick r:id="rId8"/>
              </a:rPr>
              <a:t>Case Study: Deploying an Education ERP System (2025)</a:t>
            </a:r>
            <a:endParaRPr lang="en-US" sz="3600" dirty="0"/>
          </a:p>
          <a:p>
            <a:pPr marL="742950" indent="-742950">
              <a:buFont typeface="+mj-lt"/>
              <a:buAutoNum type="arabicPeriod"/>
            </a:pPr>
            <a:r>
              <a:rPr lang="en-US" sz="3600" dirty="0">
                <a:hlinkClick r:id="rId9"/>
              </a:rPr>
              <a:t>Enterprise Resource Planning in Higher Education: Implementation and Benefits</a:t>
            </a:r>
            <a:endParaRPr lang="en-IN" sz="3600" dirty="0"/>
          </a:p>
        </p:txBody>
      </p:sp>
    </p:spTree>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339</TotalTime>
  <Words>1445</Words>
  <Application>Microsoft Office PowerPoint</Application>
  <PresentationFormat>Custom</PresentationFormat>
  <Paragraphs>135</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Times New Roman Bold</vt:lpstr>
      <vt:lpstr>Calibri</vt:lpstr>
      <vt:lpstr>Calibri Light</vt:lpstr>
      <vt:lpstr>Arial</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I2I_Template</dc:title>
  <dc:creator>Prathamesh Madane</dc:creator>
  <cp:lastModifiedBy>Prathamesh Madane</cp:lastModifiedBy>
  <cp:revision>3</cp:revision>
  <dcterms:created xsi:type="dcterms:W3CDTF">2006-08-16T00:00:00Z</dcterms:created>
  <dcterms:modified xsi:type="dcterms:W3CDTF">2025-10-20T17:06:28Z</dcterms:modified>
  <dc:identifier>DAGvQ9VR4hY</dc:identifier>
</cp:coreProperties>
</file>